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1" r:id="rId2"/>
  </p:sldMasterIdLst>
  <p:notesMasterIdLst>
    <p:notesMasterId r:id="rId41"/>
  </p:notesMasterIdLst>
  <p:sldIdLst>
    <p:sldId id="418" r:id="rId3"/>
    <p:sldId id="266" r:id="rId4"/>
    <p:sldId id="336" r:id="rId5"/>
    <p:sldId id="473" r:id="rId6"/>
    <p:sldId id="420" r:id="rId7"/>
    <p:sldId id="331" r:id="rId8"/>
    <p:sldId id="260" r:id="rId9"/>
    <p:sldId id="428" r:id="rId10"/>
    <p:sldId id="451" r:id="rId11"/>
    <p:sldId id="493" r:id="rId12"/>
    <p:sldId id="494" r:id="rId13"/>
    <p:sldId id="485" r:id="rId14"/>
    <p:sldId id="427" r:id="rId15"/>
    <p:sldId id="488" r:id="rId16"/>
    <p:sldId id="489" r:id="rId17"/>
    <p:sldId id="490" r:id="rId18"/>
    <p:sldId id="487" r:id="rId19"/>
    <p:sldId id="496" r:id="rId20"/>
    <p:sldId id="495" r:id="rId21"/>
    <p:sldId id="486" r:id="rId22"/>
    <p:sldId id="434" r:id="rId23"/>
    <p:sldId id="491" r:id="rId24"/>
    <p:sldId id="346" r:id="rId25"/>
    <p:sldId id="348" r:id="rId26"/>
    <p:sldId id="474" r:id="rId27"/>
    <p:sldId id="492" r:id="rId28"/>
    <p:sldId id="476" r:id="rId29"/>
    <p:sldId id="475" r:id="rId30"/>
    <p:sldId id="477" r:id="rId31"/>
    <p:sldId id="480" r:id="rId32"/>
    <p:sldId id="481" r:id="rId33"/>
    <p:sldId id="482" r:id="rId34"/>
    <p:sldId id="483" r:id="rId35"/>
    <p:sldId id="484" r:id="rId36"/>
    <p:sldId id="497" r:id="rId37"/>
    <p:sldId id="498" r:id="rId38"/>
    <p:sldId id="478" r:id="rId39"/>
    <p:sldId id="322" r:id="rId40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2851"/>
    <a:srgbClr val="385D8A"/>
    <a:srgbClr val="0C445E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267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108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presProps" Target="pres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20" Type="http://schemas.openxmlformats.org/officeDocument/2006/relationships/slide" Target="slides/slide18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D8916C-F655-4529-BF2A-6D927AA40832}" type="datetimeFigureOut">
              <a:rPr lang="hu-HU" smtClean="0"/>
              <a:t>2026. 09. 21.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80677A-BC7F-42FB-87D4-46C0EB55CAB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763652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669B00-00D8-159D-1CB7-9B2BA8FA5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075DECA2-7713-71EB-7757-C501547A55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9AB47610-9A37-00F5-B2D2-DB3EE1851C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626CEB19-CC9F-BF79-FED4-8C64EB29C5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297D4-0F05-4FAE-B458-521A0171D9EF}" type="slidenum">
              <a:rPr lang="hu-HU" smtClean="0"/>
              <a:t>1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474766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g39e241d86dd_2_1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0" name="Google Shape;760;g39e241d86dd_2_1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80677A-BC7F-42FB-87D4-46C0EB55CABF}" type="slidenum">
              <a:rPr lang="hu-HU" smtClean="0"/>
              <a:t>20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566947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8">
          <a:extLst>
            <a:ext uri="{FF2B5EF4-FFF2-40B4-BE49-F238E27FC236}">
              <a16:creationId xmlns:a16="http://schemas.microsoft.com/office/drawing/2014/main" id="{D4B5B449-0FBC-46AD-8D92-7DFB636D13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g39e241d86dd_2_177:notes">
            <a:extLst>
              <a:ext uri="{FF2B5EF4-FFF2-40B4-BE49-F238E27FC236}">
                <a16:creationId xmlns:a16="http://schemas.microsoft.com/office/drawing/2014/main" id="{C4A6530D-B1A6-C87C-40CE-3450252EC8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0" name="Google Shape;760;g39e241d86dd_2_177:notes">
            <a:extLst>
              <a:ext uri="{FF2B5EF4-FFF2-40B4-BE49-F238E27FC236}">
                <a16:creationId xmlns:a16="http://schemas.microsoft.com/office/drawing/2014/main" id="{2C4EA26C-0DC9-5A76-7D77-16242211B32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706535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9E7FEF5-D075-897E-F505-AB3A642747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60B0DEE2-7CA7-81F5-6FDE-1C0D00AAA3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7B83C08B-033F-D493-FA51-BD849595C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2976D-0F56-42D5-A08C-8A69F79ACF79}" type="datetimeFigureOut">
              <a:rPr lang="hu-HU" smtClean="0"/>
              <a:t>2026. 09. 21.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9DB3CC77-4F2B-21D3-833E-4D5143D28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BB75982C-B5A1-68F7-84B6-722301DE3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1E02C-0BF0-4453-A2D0-DABC6AC4895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929552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7DE1784-99E8-17B6-8F7B-0D7CE2F9A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C2935CB-BA56-354A-E587-7DB13B4FED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5DF9536F-09EA-6361-54E5-1F52471D3D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2976D-0F56-42D5-A08C-8A69F79ACF79}" type="datetimeFigureOut">
              <a:rPr lang="hu-HU" smtClean="0"/>
              <a:t>2026. 09. 21.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89425CE9-FE7A-2D17-B026-41DD243ED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9E908747-A6BA-B85D-8448-41CFD14B5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1E02C-0BF0-4453-A2D0-DABC6AC4895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383887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611F56F-4F01-6668-4E4F-527534C42C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48BBE535-A29B-E290-BD7B-DEAEEA711C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AB6A1228-C677-9B19-5749-630C9F144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2976D-0F56-42D5-A08C-8A69F79ACF79}" type="datetimeFigureOut">
              <a:rPr lang="hu-HU" smtClean="0"/>
              <a:t>2026. 09. 21.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73D88FFC-6E6B-2616-8201-B3B4748687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F19E68F7-48D4-7DB7-91B2-55CA54BA5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1E02C-0BF0-4453-A2D0-DABC6AC4895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041097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78AF781-AD0C-0EFE-FD2D-DD8BC0994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9410A7F-9DD0-FB7D-FC79-03FD607CB9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09977266-0E62-FFC5-F987-C61C34F075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E3107F0A-9B21-FB22-1D0D-226FBE8D6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2976D-0F56-42D5-A08C-8A69F79ACF79}" type="datetimeFigureOut">
              <a:rPr lang="hu-HU" smtClean="0"/>
              <a:t>2026. 09. 21.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58462937-1975-22E2-2D66-3202FC0C6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FDD799E4-4F91-833B-D67C-E363D025D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1E02C-0BF0-4453-A2D0-DABC6AC4895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81810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3BD3ACE-3D6F-9511-B32B-3A200EE5F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B26E33DE-D8D0-ACA4-30AF-8FA4029F78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A25039F1-EAF9-F6EE-FDA8-6DCBBEBB53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292018DE-0D71-9901-DE4C-B41396D4A9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9B8E9834-7138-83DB-A6E5-E4016C5DA2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8961BDC5-9D40-FFEC-C293-8C7FBF1B3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2976D-0F56-42D5-A08C-8A69F79ACF79}" type="datetimeFigureOut">
              <a:rPr lang="hu-HU" smtClean="0"/>
              <a:t>2026. 09. 21.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7496E151-E8A3-1A2B-1952-8CF046B68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E9B74C8B-1F8A-794B-1985-B4D72C513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1E02C-0BF0-4453-A2D0-DABC6AC4895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09194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2B19813-CBAE-CCA9-30E2-489488BC1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85C7DD82-550A-89A7-2989-4AD86C66B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2976D-0F56-42D5-A08C-8A69F79ACF79}" type="datetimeFigureOut">
              <a:rPr lang="hu-HU" smtClean="0"/>
              <a:t>2026. 09. 21.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A4B896DB-1BEF-62BE-3BA1-A618887EB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F247748A-CFD4-965C-FA87-5627281D7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1E02C-0BF0-4453-A2D0-DABC6AC4895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60854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FEA634EC-ADA2-70D1-905A-9FCCF88DF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2976D-0F56-42D5-A08C-8A69F79ACF79}" type="datetimeFigureOut">
              <a:rPr lang="hu-HU" smtClean="0"/>
              <a:t>2026. 09. 21.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FD39F86A-B001-84DF-C131-6532773B3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43067357-1265-5398-944B-628FD5606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1E02C-0BF0-4453-A2D0-DABC6AC4895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174608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CA9208A-4470-10E4-2075-4D15320C25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EA9035A-ACBF-3783-B169-86C3D81B8C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8242F586-EDE3-90B2-7281-13093A9A20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4A8F9567-52C8-582B-8462-8BCE5F03BE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2976D-0F56-42D5-A08C-8A69F79ACF79}" type="datetimeFigureOut">
              <a:rPr lang="hu-HU" smtClean="0"/>
              <a:t>2026. 09. 21.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0D63C7CE-4BD8-15A7-6671-0A90BBEF4D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23713FAF-1D09-FBFB-67EF-F149937E7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1E02C-0BF0-4453-A2D0-DABC6AC4895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199085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1DEB55C-7EB4-D197-EC16-C227BB0B6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81421F7B-C9A4-22B8-7126-13F824A68E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E46CE6BB-29E2-39F3-27DE-5A9B5DF21F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13AFF16A-BDCF-54EE-5318-B650B3AD4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2976D-0F56-42D5-A08C-8A69F79ACF79}" type="datetimeFigureOut">
              <a:rPr lang="hu-HU" smtClean="0"/>
              <a:t>2026. 09. 21.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EF5698B8-5992-A62E-4F6B-4D1D055E4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033D55A9-0E0A-ED00-BC1D-0DA128F58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1E02C-0BF0-4453-A2D0-DABC6AC4895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96085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F32651B-4A3A-66EC-1000-2AB92DEC8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FC4A7998-584E-5D38-CBA6-35200D8904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B281A0B9-20EA-5A0D-2DCB-C5BF77DAD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2976D-0F56-42D5-A08C-8A69F79ACF79}" type="datetimeFigureOut">
              <a:rPr lang="hu-HU" smtClean="0"/>
              <a:t>2026. 09. 21.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F7AF082B-EA16-3455-0A5C-D11497446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73A04DD2-D5F5-CFE3-740E-73ED40BFC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1E02C-0BF0-4453-A2D0-DABC6AC4895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319752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111BE306-24E9-A9F4-2617-210FFEFB7E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C756BBB9-852D-03D5-A975-3E6E77966D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B0EB55ED-CD76-7E57-88E9-B68322DD57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2976D-0F56-42D5-A08C-8A69F79ACF79}" type="datetimeFigureOut">
              <a:rPr lang="hu-HU" smtClean="0"/>
              <a:t>2026. 09. 21.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7AD715AB-51FB-0A30-AF75-9C4936A70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A40E64DD-2A8C-1ED7-A53B-5833C12A6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1E02C-0BF0-4453-A2D0-DABC6AC4895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17088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Ubuntu"/>
              <a:buNone/>
              <a:defRPr>
                <a:latin typeface="Ubuntu"/>
                <a:ea typeface="Ubuntu"/>
                <a:cs typeface="Ubuntu"/>
                <a:sym typeface="Ubuntu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Font typeface="Ubuntu Light"/>
              <a:buChar char="●"/>
              <a:defRPr>
                <a:latin typeface="Ubuntu Light"/>
                <a:ea typeface="Ubuntu Light"/>
                <a:cs typeface="Ubuntu Light"/>
                <a:sym typeface="Ubuntu Light"/>
              </a:defRPr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Font typeface="Ubuntu Light"/>
              <a:buChar char="○"/>
              <a:defRPr>
                <a:latin typeface="Ubuntu Light"/>
                <a:ea typeface="Ubuntu Light"/>
                <a:cs typeface="Ubuntu Light"/>
                <a:sym typeface="Ubuntu Light"/>
              </a:defRPr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Font typeface="Ubuntu Light"/>
              <a:buChar char="■"/>
              <a:defRPr>
                <a:latin typeface="Ubuntu Light"/>
                <a:ea typeface="Ubuntu Light"/>
                <a:cs typeface="Ubuntu Light"/>
                <a:sym typeface="Ubuntu Light"/>
              </a:defRPr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Font typeface="Ubuntu Light"/>
              <a:buChar char="●"/>
              <a:defRPr>
                <a:latin typeface="Ubuntu Light"/>
                <a:ea typeface="Ubuntu Light"/>
                <a:cs typeface="Ubuntu Light"/>
                <a:sym typeface="Ubuntu Light"/>
              </a:defRPr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Font typeface="Ubuntu Light"/>
              <a:buChar char="○"/>
              <a:defRPr>
                <a:latin typeface="Ubuntu Light"/>
                <a:ea typeface="Ubuntu Light"/>
                <a:cs typeface="Ubuntu Light"/>
                <a:sym typeface="Ubuntu Light"/>
              </a:defRPr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Font typeface="Ubuntu Light"/>
              <a:buChar char="■"/>
              <a:defRPr>
                <a:latin typeface="Ubuntu Light"/>
                <a:ea typeface="Ubuntu Light"/>
                <a:cs typeface="Ubuntu Light"/>
                <a:sym typeface="Ubuntu Light"/>
              </a:defRPr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Font typeface="Ubuntu Light"/>
              <a:buChar char="●"/>
              <a:defRPr>
                <a:latin typeface="Ubuntu Light"/>
                <a:ea typeface="Ubuntu Light"/>
                <a:cs typeface="Ubuntu Light"/>
                <a:sym typeface="Ubuntu Light"/>
              </a:defRPr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Font typeface="Ubuntu Light"/>
              <a:buChar char="○"/>
              <a:defRPr>
                <a:latin typeface="Ubuntu Light"/>
                <a:ea typeface="Ubuntu Light"/>
                <a:cs typeface="Ubuntu Light"/>
                <a:sym typeface="Ubuntu Light"/>
              </a:defRPr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Font typeface="Ubuntu Light"/>
              <a:buChar char="■"/>
              <a:defRPr>
                <a:latin typeface="Ubuntu Light"/>
                <a:ea typeface="Ubuntu Light"/>
                <a:cs typeface="Ubuntu Light"/>
                <a:sym typeface="Ubuntu Light"/>
              </a:defRPr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hu" smtClean="0"/>
              <a:pPr/>
              <a:t>‹#›</a:t>
            </a:fld>
            <a:endParaRPr lang="hu"/>
          </a:p>
        </p:txBody>
      </p:sp>
    </p:spTree>
    <p:extLst>
      <p:ext uri="{BB962C8B-B14F-4D97-AF65-F5344CB8AC3E}">
        <p14:creationId xmlns:p14="http://schemas.microsoft.com/office/powerpoint/2010/main" val="11998625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B7E45EC-E857-984F-8379-10CA33E709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92B867FF-3DD2-3745-B706-AC701B7DF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77AE546B-4E7E-E547-9D80-07E655B0E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98268-C1E1-5C45-A952-D7B95B0AE97A}" type="datetimeFigureOut">
              <a:rPr lang="hu-HU" smtClean="0"/>
              <a:t>2026. 09. 21.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375290C3-6C58-2E4A-8424-D73D86FA86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DA29E28C-056B-A645-B058-2EE956BAB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EAA7F-C62B-F246-A793-9ED832A9CCA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939696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3FE9060-7EEE-4A44-8102-3682CBE96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04336AF-62CC-C443-B562-71A31CC0F3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/>
              <a:t>Mintaszöveg szerkesztése
Második szint
Harmadik szint
Negyedik szint
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88537EEE-B4E7-5E4E-87BA-CF4C0F2DF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98268-C1E1-5C45-A952-D7B95B0AE97A}" type="datetimeFigureOut">
              <a:rPr lang="hu-HU" smtClean="0"/>
              <a:t>2026. 09. 21.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6023910D-698C-364E-AE93-62930A6D1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DF666EDC-A796-E049-AD2B-7E0CC39FD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EAA7F-C62B-F246-A793-9ED832A9CCA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897549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82E0768-69DD-F748-9589-AFBF48F6E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B509AE6D-5FCA-024A-8930-77A63BB936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/>
              <a:t>Mintaszöveg szerkesztése
Második szint
Harmadik szint
Negyedik szint
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C320CDD8-8E72-0D49-8265-1819EBC450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98268-C1E1-5C45-A952-D7B95B0AE97A}" type="datetimeFigureOut">
              <a:rPr lang="hu-HU" smtClean="0"/>
              <a:t>2026. 09. 21.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CEB66E96-9F74-C842-879A-7FAC5A724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EA509121-0443-5546-8EB3-FC0433F98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EAA7F-C62B-F246-A793-9ED832A9CCA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903253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C8D64E7-9DF5-7849-B50B-F4CFDF41F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382EC89-DE48-4B49-8494-8EF55975D5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r>
              <a:rPr lang="hu-HU"/>
              <a:t>Mintaszöveg szerkesztése
Második szint
Harmadik szint
Negyedik szint
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1AAC62C9-535D-674C-BAB1-9FFC0069C8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rPr lang="hu-HU"/>
              <a:t>Mintaszöveg szerkesztése
Második szint
Harmadik szint
Negyedik szint
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B3E2C7C6-B91C-7545-89A2-4D87534A1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98268-C1E1-5C45-A952-D7B95B0AE97A}" type="datetimeFigureOut">
              <a:rPr lang="hu-HU" smtClean="0"/>
              <a:t>2026. 09. 21.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67F536E3-9EC2-7C42-A5A6-DD946AAE1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A9239D36-2F9D-5E47-A91D-CB4ECF4DF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EAA7F-C62B-F246-A793-9ED832A9CCA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98602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76E212D-EFC9-E843-AEF9-4697F4354F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C0F4C0F8-A495-6242-8F9E-34A6AEED99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hu-HU"/>
              <a:t>Mintaszöveg szerkesztése
Második szint
Harmadik szint
Negyedik szint
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212D6E2A-C35D-C240-AAB7-324EE81F60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r>
              <a:rPr lang="hu-HU"/>
              <a:t>Mintaszöveg szerkesztése
Második szint
Harmadik szint
Negyedik szint
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A81330E7-B625-424C-8217-22573F56F0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hu-HU"/>
              <a:t>Mintaszöveg szerkesztése
Második szint
Harmadik szint
Negyedik szint
Ötödik szint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33F22E5C-A586-AB40-A686-186F5106AD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r>
              <a:rPr lang="hu-HU"/>
              <a:t>Mintaszöveg szerkesztése
Második szint
Harmadik szint
Negyedik szint
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86070531-A794-454B-AC6D-98AB51FBE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98268-C1E1-5C45-A952-D7B95B0AE97A}" type="datetimeFigureOut">
              <a:rPr lang="hu-HU" smtClean="0"/>
              <a:t>2026. 09. 21.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7F4896FC-7628-F84A-834A-87FC631E6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F095E2F2-F3BA-7F41-BB1C-6346416B4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EAA7F-C62B-F246-A793-9ED832A9CCA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4092324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C8C240B-11F8-B34C-8BFB-1FE5AB553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D5954971-DEEB-3244-8632-9615BD209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98268-C1E1-5C45-A952-D7B95B0AE97A}" type="datetimeFigureOut">
              <a:rPr lang="hu-HU" smtClean="0"/>
              <a:t>2026. 09. 21.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55F868A1-5A8C-274D-AC44-95414589A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F4375EDA-CE8D-2542-9A84-592CB860A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EAA7F-C62B-F246-A793-9ED832A9CCA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4707799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DCA46F65-79E5-6640-BB8A-88AC374474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98268-C1E1-5C45-A952-D7B95B0AE97A}" type="datetimeFigureOut">
              <a:rPr lang="hu-HU" smtClean="0"/>
              <a:t>2026. 09. 21.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576F9CD8-62E8-A344-8837-0E8848ADD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2FE744F3-F316-EC4D-A357-B10CF610A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EAA7F-C62B-F246-A793-9ED832A9CCA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8186088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5121203-76E8-CF48-AFDD-C08BD94A9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58C0D2F-119B-5D42-8A65-746B723B39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hu-HU"/>
              <a:t>Mintaszöveg szerkesztése
Második szint
Harmadik szint
Negyedik szint
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CCCF4AF3-AB8F-4F40-A5BC-5938AF9E1F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hu-HU"/>
              <a:t>Mintaszöveg szerkesztése
Második szint
Harmadik szint
Negyedik szint
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AB2DC796-CB61-4641-A562-F133196FE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98268-C1E1-5C45-A952-D7B95B0AE97A}" type="datetimeFigureOut">
              <a:rPr lang="hu-HU" smtClean="0"/>
              <a:t>2026. 09. 21.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6E6BC2EB-A5D4-9649-BCCF-DB7FB6472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F6E71873-612B-FD46-98D9-5EE27F46F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EAA7F-C62B-F246-A793-9ED832A9CCA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7601638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7C57719-3DA3-F840-BF88-A98938D7E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D86DB84D-E331-2D4D-B110-8579350ED1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C4F07BD4-77ED-A24F-8126-77639250FA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hu-HU"/>
              <a:t>Mintaszöveg szerkesztése
Második szint
Harmadik szint
Negyedik szint
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D353D5D8-8518-BF43-A85D-494896B74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98268-C1E1-5C45-A952-D7B95B0AE97A}" type="datetimeFigureOut">
              <a:rPr lang="hu-HU" smtClean="0"/>
              <a:t>2026. 09. 21.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E1E4CF2F-3330-B147-93CE-BCEE7C9CF9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2F91B097-73EA-454C-9770-E7201C41C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EAA7F-C62B-F246-A793-9ED832A9CCA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3499670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E545467-4FEB-AC4B-86DB-3FD3F146F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D65892B6-EF09-3B46-9ED5-497097EEDB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hu-HU"/>
              <a:t>Mintaszöveg szerkesztése
Második szint
Harmadik szint
Negyedik szint
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7A5E4A4E-8912-334F-8D89-2FBF158CF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98268-C1E1-5C45-A952-D7B95B0AE97A}" type="datetimeFigureOut">
              <a:rPr lang="hu-HU" smtClean="0"/>
              <a:t>2026. 09. 21.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A98BD7A6-876F-734E-B813-5A6BA17FC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A104CC0E-6CBB-D64C-BF1B-08A795AE2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EAA7F-C62B-F246-A793-9ED832A9CCA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7122000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E1133CCC-AF07-184C-876D-D74B91AD39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87878B64-CD80-C241-9481-92B2ED8638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r>
              <a:rPr lang="hu-HU"/>
              <a:t>Mintaszöveg szerkesztése
Második szint
Harmadik szint
Negyedik szint
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51819BC4-C938-874F-97B6-78FEC09345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98268-C1E1-5C45-A952-D7B95B0AE97A}" type="datetimeFigureOut">
              <a:rPr lang="hu-HU" smtClean="0"/>
              <a:t>2026. 09. 21.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DD6C2461-B42C-554E-9291-357E9E2FC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3E423E59-173B-0743-85AA-4E16C640B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EAA7F-C62B-F246-A793-9ED832A9CCA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735951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C6D81ECE-3D55-683C-B820-6C59788D40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B129A54A-F6DF-E508-0825-04A9D1F7C1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A34FBB6A-28A4-ABF4-3E04-F7A3E90E64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02976D-0F56-42D5-A08C-8A69F79ACF79}" type="datetimeFigureOut">
              <a:rPr lang="hu-HU" smtClean="0"/>
              <a:t>2026. 09. 21.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3D02DC99-0C30-5207-1CD9-2CF9268B31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7D9BC1D5-4E6C-F472-C1DC-B766B0BD2D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D1E02C-0BF0-4453-A2D0-DABC6AC4895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0477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0BF4A4A6-0F8B-8C48-B454-E43C26D01B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C55834CF-022D-E94D-8E0A-E917ADE6B7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hu-HU"/>
              <a:t>Mintaszöveg szerkesztése
Második szint
Harmadik szint
Negyedik szint
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9EF9CCE1-DE1B-C447-A4F1-CA789A4E58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C98268-C1E1-5C45-A952-D7B95B0AE97A}" type="datetimeFigureOut">
              <a:rPr lang="hu-HU" smtClean="0"/>
              <a:t>2026. 09. 21.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57C2F029-7EC5-EF46-8DEA-E7DAC381D7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B0E9C6E1-4BD7-454B-90C2-FAB8A2FC1A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3EAA7F-C62B-F246-A793-9ED832A9CCA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793503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g"/><Relationship Id="rId5" Type="http://schemas.openxmlformats.org/officeDocument/2006/relationships/image" Target="../media/image8.jp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3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9" Type="http://schemas.openxmlformats.org/officeDocument/2006/relationships/image" Target="../media/image24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3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9" Type="http://schemas.openxmlformats.org/officeDocument/2006/relationships/image" Target="../media/image24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3.png"/><Relationship Id="rId5" Type="http://schemas.openxmlformats.org/officeDocument/2006/relationships/image" Target="../media/image25.png"/><Relationship Id="rId4" Type="http://schemas.openxmlformats.org/officeDocument/2006/relationships/image" Target="../media/image17.png"/><Relationship Id="rId9" Type="http://schemas.openxmlformats.org/officeDocument/2006/relationships/image" Target="../media/image24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29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4.svg"/><Relationship Id="rId5" Type="http://schemas.openxmlformats.org/officeDocument/2006/relationships/image" Target="../media/image21.svg"/><Relationship Id="rId4" Type="http://schemas.openxmlformats.org/officeDocument/2006/relationships/image" Target="../media/image2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4.svg"/><Relationship Id="rId5" Type="http://schemas.openxmlformats.org/officeDocument/2006/relationships/image" Target="../media/image21.svg"/><Relationship Id="rId4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29.png"/><Relationship Id="rId4" Type="http://schemas.openxmlformats.org/officeDocument/2006/relationships/image" Target="../media/image3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jp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E3B5EE-6E31-66B2-B71A-34C00875C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3">
            <a:extLst>
              <a:ext uri="{FF2B5EF4-FFF2-40B4-BE49-F238E27FC236}">
                <a16:creationId xmlns:a16="http://schemas.microsoft.com/office/drawing/2014/main" id="{1A4890D0-6A87-99F8-30F6-DA0312A782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81857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GB" noProof="0" dirty="0">
                <a:solidFill>
                  <a:srgbClr val="01285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 proof assistant-based formalisation of Core Erlang</a:t>
            </a:r>
          </a:p>
        </p:txBody>
      </p:sp>
      <p:sp>
        <p:nvSpPr>
          <p:cNvPr id="5" name="Alcím 4">
            <a:extLst>
              <a:ext uri="{FF2B5EF4-FFF2-40B4-BE49-F238E27FC236}">
                <a16:creationId xmlns:a16="http://schemas.microsoft.com/office/drawing/2014/main" id="{FBF8800E-5176-6589-F81A-1B1FB79121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25055" y="2999762"/>
            <a:ext cx="9341889" cy="1655762"/>
          </a:xfrm>
        </p:spPr>
        <p:txBody>
          <a:bodyPr>
            <a:normAutofit/>
          </a:bodyPr>
          <a:lstStyle/>
          <a:p>
            <a:r>
              <a:rPr lang="en-GB" sz="2800" b="1" noProof="0" dirty="0">
                <a:solidFill>
                  <a:srgbClr val="01285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Péter Bereczky</a:t>
            </a:r>
            <a:r>
              <a:rPr lang="hu-HU" sz="2800" dirty="0">
                <a:solidFill>
                  <a:srgbClr val="01285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Dániel </a:t>
            </a:r>
            <a:r>
              <a:rPr lang="hu-HU" sz="2800" dirty="0" err="1">
                <a:solidFill>
                  <a:srgbClr val="01285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Horpácsi</a:t>
            </a:r>
            <a:r>
              <a:rPr lang="hu-HU" sz="2800" dirty="0">
                <a:solidFill>
                  <a:srgbClr val="01285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Simon Thompson </a:t>
            </a:r>
            <a:r>
              <a:rPr lang="hu-HU" sz="2800" dirty="0" err="1">
                <a:solidFill>
                  <a:srgbClr val="01285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et</a:t>
            </a:r>
            <a:r>
              <a:rPr lang="hu-HU" sz="2800" dirty="0">
                <a:solidFill>
                  <a:srgbClr val="01285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hu-HU" sz="2800" dirty="0" err="1">
                <a:solidFill>
                  <a:srgbClr val="01285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al</a:t>
            </a:r>
            <a:r>
              <a:rPr lang="hu-HU" sz="2800" dirty="0">
                <a:solidFill>
                  <a:srgbClr val="01285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  <a:endParaRPr lang="en-GB" sz="2800" noProof="0" dirty="0">
              <a:solidFill>
                <a:srgbClr val="012851"/>
              </a:solidFill>
              <a:latin typeface="Ubuntu" panose="020B050403060203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9" name="Szövegdoboz 8">
            <a:extLst>
              <a:ext uri="{FF2B5EF4-FFF2-40B4-BE49-F238E27FC236}">
                <a16:creationId xmlns:a16="http://schemas.microsoft.com/office/drawing/2014/main" id="{A1991104-8C0A-40D5-E79A-DF22F55194F7}"/>
              </a:ext>
            </a:extLst>
          </p:cNvPr>
          <p:cNvSpPr txBox="1"/>
          <p:nvPr/>
        </p:nvSpPr>
        <p:spPr>
          <a:xfrm>
            <a:off x="2058913" y="6058832"/>
            <a:ext cx="80741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1200" dirty="0">
                <a:solidFill>
                  <a:srgbClr val="01285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Supported by the New National Excellence Program of the Ministry for Culture and Innovation from the source of the National Research, Development and Innovation Fund</a:t>
            </a:r>
            <a:r>
              <a:rPr lang="hu-HU" sz="1200" dirty="0">
                <a:solidFill>
                  <a:srgbClr val="01285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(</a:t>
            </a:r>
            <a:r>
              <a:rPr lang="en-GB" sz="1200" dirty="0">
                <a:solidFill>
                  <a:srgbClr val="01285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ÚNKP-2</a:t>
            </a:r>
            <a:r>
              <a:rPr lang="hu-HU" sz="1200" dirty="0">
                <a:solidFill>
                  <a:srgbClr val="01285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</a:t>
            </a:r>
            <a:r>
              <a:rPr lang="en-GB" sz="1200" dirty="0">
                <a:solidFill>
                  <a:srgbClr val="01285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-3</a:t>
            </a:r>
            <a:r>
              <a:rPr lang="hu-HU" sz="1200" dirty="0">
                <a:solidFill>
                  <a:srgbClr val="01285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en-GB" sz="1200" dirty="0">
                <a:solidFill>
                  <a:srgbClr val="01285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ÚNKP-22-3</a:t>
            </a:r>
            <a:r>
              <a:rPr lang="hu-HU" sz="1200" dirty="0">
                <a:solidFill>
                  <a:srgbClr val="01285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en-GB" sz="1200" dirty="0">
                <a:solidFill>
                  <a:srgbClr val="01285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ÚNKP-2</a:t>
            </a:r>
            <a:r>
              <a:rPr lang="hu-HU" sz="1200" dirty="0">
                <a:solidFill>
                  <a:srgbClr val="01285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3</a:t>
            </a:r>
            <a:r>
              <a:rPr lang="en-GB" sz="1200" dirty="0">
                <a:solidFill>
                  <a:srgbClr val="01285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-3</a:t>
            </a:r>
            <a:r>
              <a:rPr lang="hu-HU" sz="1200" dirty="0">
                <a:solidFill>
                  <a:srgbClr val="01285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EKÖP-26-4)</a:t>
            </a:r>
            <a:r>
              <a:rPr lang="en-GB" sz="1200" dirty="0">
                <a:solidFill>
                  <a:srgbClr val="01285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</p:txBody>
      </p:sp>
      <p:pic>
        <p:nvPicPr>
          <p:cNvPr id="11" name="Kép 10" descr="A képen szöveg látható&#10;&#10;Automatikusan generált leírás">
            <a:extLst>
              <a:ext uri="{FF2B5EF4-FFF2-40B4-BE49-F238E27FC236}">
                <a16:creationId xmlns:a16="http://schemas.microsoft.com/office/drawing/2014/main" id="{DA1BD817-3A20-F097-DB1B-06FD8ED00A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6767" y="5917382"/>
            <a:ext cx="1036320" cy="772226"/>
          </a:xfrm>
          <a:prstGeom prst="rect">
            <a:avLst/>
          </a:prstGeom>
        </p:spPr>
      </p:pic>
      <p:pic>
        <p:nvPicPr>
          <p:cNvPr id="12" name="Kép 11" descr="A képen szöveg látható&#10;&#10;Automatikusan generált leírás">
            <a:extLst>
              <a:ext uri="{FF2B5EF4-FFF2-40B4-BE49-F238E27FC236}">
                <a16:creationId xmlns:a16="http://schemas.microsoft.com/office/drawing/2014/main" id="{752EE453-34BB-2EA9-AE70-9661E3A1F8F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0666" y="5943169"/>
            <a:ext cx="688521" cy="720652"/>
          </a:xfrm>
          <a:prstGeom prst="rect">
            <a:avLst/>
          </a:prstGeom>
        </p:spPr>
      </p:pic>
      <p:pic>
        <p:nvPicPr>
          <p:cNvPr id="14" name="Kép 13" descr="A képen szöveg, Betűtípus, embléma, Grafika látható&#10;&#10;Automatikusan generált leírás">
            <a:extLst>
              <a:ext uri="{FF2B5EF4-FFF2-40B4-BE49-F238E27FC236}">
                <a16:creationId xmlns:a16="http://schemas.microsoft.com/office/drawing/2014/main" id="{53837963-7E73-27F4-772E-CF835E3400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5340" y="5943169"/>
            <a:ext cx="1607127" cy="692993"/>
          </a:xfrm>
          <a:prstGeom prst="rect">
            <a:avLst/>
          </a:prstGeom>
        </p:spPr>
      </p:pic>
      <p:cxnSp>
        <p:nvCxnSpPr>
          <p:cNvPr id="16" name="Egyenes összekötő 15">
            <a:extLst>
              <a:ext uri="{FF2B5EF4-FFF2-40B4-BE49-F238E27FC236}">
                <a16:creationId xmlns:a16="http://schemas.microsoft.com/office/drawing/2014/main" id="{D301A38F-0E8F-AAF0-A5E3-6E454BE97AD8}"/>
              </a:ext>
            </a:extLst>
          </p:cNvPr>
          <p:cNvCxnSpPr/>
          <p:nvPr/>
        </p:nvCxnSpPr>
        <p:spPr>
          <a:xfrm flipV="1">
            <a:off x="1617073" y="2746072"/>
            <a:ext cx="8957854" cy="62144"/>
          </a:xfrm>
          <a:prstGeom prst="line">
            <a:avLst/>
          </a:prstGeom>
          <a:ln>
            <a:solidFill>
              <a:srgbClr val="0027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Alcím 4">
            <a:extLst>
              <a:ext uri="{FF2B5EF4-FFF2-40B4-BE49-F238E27FC236}">
                <a16:creationId xmlns:a16="http://schemas.microsoft.com/office/drawing/2014/main" id="{1E63CBC9-6AFB-069D-2124-3E373B7237AF}"/>
              </a:ext>
            </a:extLst>
          </p:cNvPr>
          <p:cNvSpPr txBox="1">
            <a:spLocks/>
          </p:cNvSpPr>
          <p:nvPr/>
        </p:nvSpPr>
        <p:spPr>
          <a:xfrm>
            <a:off x="2058914" y="3561869"/>
            <a:ext cx="7918744" cy="5315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u-HU" sz="2000" noProof="0" dirty="0">
                <a:solidFill>
                  <a:srgbClr val="01285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Alpine </a:t>
            </a:r>
            <a:r>
              <a:rPr lang="hu-HU" sz="2000" noProof="0" dirty="0" err="1">
                <a:solidFill>
                  <a:srgbClr val="01285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Verification</a:t>
            </a:r>
            <a:r>
              <a:rPr lang="hu-HU" sz="2000" noProof="0" dirty="0">
                <a:solidFill>
                  <a:srgbClr val="01285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Meeting</a:t>
            </a:r>
            <a:r>
              <a:rPr lang="en-GB" sz="2000" noProof="0" dirty="0">
                <a:solidFill>
                  <a:srgbClr val="01285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hu-HU" sz="2000" noProof="0" dirty="0">
                <a:solidFill>
                  <a:srgbClr val="01285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2026</a:t>
            </a:r>
            <a:endParaRPr lang="en-GB" sz="2000" noProof="0" dirty="0">
              <a:solidFill>
                <a:srgbClr val="012851"/>
              </a:solidFill>
              <a:latin typeface="Ubuntu" panose="020B050403060203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6486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zövegdoboz 2">
            <a:extLst>
              <a:ext uri="{FF2B5EF4-FFF2-40B4-BE49-F238E27FC236}">
                <a16:creationId xmlns:a16="http://schemas.microsoft.com/office/drawing/2014/main" id="{11DD2953-3B3C-412C-83B3-53E08D6E6A91}"/>
              </a:ext>
            </a:extLst>
          </p:cNvPr>
          <p:cNvSpPr txBox="1"/>
          <p:nvPr/>
        </p:nvSpPr>
        <p:spPr>
          <a:xfrm>
            <a:off x="838200" y="399495"/>
            <a:ext cx="10515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noProof="0" dirty="0">
                <a:solidFill>
                  <a:srgbClr val="01285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Motivation: Correctness of refactoring</a:t>
            </a:r>
          </a:p>
        </p:txBody>
      </p:sp>
      <p:cxnSp>
        <p:nvCxnSpPr>
          <p:cNvPr id="6" name="Egyenes összekötő 5">
            <a:extLst>
              <a:ext uri="{FF2B5EF4-FFF2-40B4-BE49-F238E27FC236}">
                <a16:creationId xmlns:a16="http://schemas.microsoft.com/office/drawing/2014/main" id="{F2B5A38B-F1A4-46E5-A546-D8DA8D39A774}"/>
              </a:ext>
            </a:extLst>
          </p:cNvPr>
          <p:cNvCxnSpPr/>
          <p:nvPr/>
        </p:nvCxnSpPr>
        <p:spPr>
          <a:xfrm>
            <a:off x="838200" y="1145220"/>
            <a:ext cx="10676138" cy="0"/>
          </a:xfrm>
          <a:prstGeom prst="line">
            <a:avLst/>
          </a:prstGeom>
          <a:ln>
            <a:solidFill>
              <a:srgbClr val="0128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: Rounded Corners 16">
            <a:extLst>
              <a:ext uri="{FF2B5EF4-FFF2-40B4-BE49-F238E27FC236}">
                <a16:creationId xmlns:a16="http://schemas.microsoft.com/office/drawing/2014/main" id="{EA62C9F9-25CC-CFE5-81B2-325FF71BD648}"/>
              </a:ext>
            </a:extLst>
          </p:cNvPr>
          <p:cNvSpPr/>
          <p:nvPr/>
        </p:nvSpPr>
        <p:spPr>
          <a:xfrm>
            <a:off x="684162" y="2020204"/>
            <a:ext cx="6350507" cy="1066895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45E90A2E-145F-5AFD-CD6D-611028F4090D}"/>
              </a:ext>
            </a:extLst>
          </p:cNvPr>
          <p:cNvSpPr txBox="1"/>
          <p:nvPr/>
        </p:nvSpPr>
        <p:spPr>
          <a:xfrm>
            <a:off x="1463689" y="2218706"/>
            <a:ext cx="5084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i="1" noProof="0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e</a:t>
            </a:r>
          </a:p>
        </p:txBody>
      </p:sp>
      <p:sp>
        <p:nvSpPr>
          <p:cNvPr id="8" name="TextBox 4">
            <a:extLst>
              <a:ext uri="{FF2B5EF4-FFF2-40B4-BE49-F238E27FC236}">
                <a16:creationId xmlns:a16="http://schemas.microsoft.com/office/drawing/2014/main" id="{0747BCBA-B827-F2C2-291F-871E80987D6C}"/>
              </a:ext>
            </a:extLst>
          </p:cNvPr>
          <p:cNvSpPr txBox="1"/>
          <p:nvPr/>
        </p:nvSpPr>
        <p:spPr>
          <a:xfrm>
            <a:off x="5182249" y="2218705"/>
            <a:ext cx="83227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i="1" noProof="0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e</a:t>
            </a:r>
            <a:r>
              <a:rPr lang="en-US" sz="4800" noProof="0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'</a:t>
            </a:r>
          </a:p>
        </p:txBody>
      </p:sp>
      <p:cxnSp>
        <p:nvCxnSpPr>
          <p:cNvPr id="9" name="Straight Arrow Connector 6">
            <a:extLst>
              <a:ext uri="{FF2B5EF4-FFF2-40B4-BE49-F238E27FC236}">
                <a16:creationId xmlns:a16="http://schemas.microsoft.com/office/drawing/2014/main" id="{AEF7D952-9ABE-AAEF-4F5C-3E667CB3F42B}"/>
              </a:ext>
            </a:extLst>
          </p:cNvPr>
          <p:cNvCxnSpPr>
            <a:cxnSpLocks/>
          </p:cNvCxnSpPr>
          <p:nvPr/>
        </p:nvCxnSpPr>
        <p:spPr>
          <a:xfrm>
            <a:off x="2478673" y="2634203"/>
            <a:ext cx="192909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7">
            <a:extLst>
              <a:ext uri="{FF2B5EF4-FFF2-40B4-BE49-F238E27FC236}">
                <a16:creationId xmlns:a16="http://schemas.microsoft.com/office/drawing/2014/main" id="{53B48C13-472A-17AE-401B-E94275C9838A}"/>
              </a:ext>
            </a:extLst>
          </p:cNvPr>
          <p:cNvSpPr txBox="1"/>
          <p:nvPr/>
        </p:nvSpPr>
        <p:spPr>
          <a:xfrm>
            <a:off x="2642968" y="2264871"/>
            <a:ext cx="1725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noProof="0" dirty="0">
                <a:latin typeface="Ubuntu" panose="020B0504030602030204" pitchFamily="34" charset="0"/>
              </a:rPr>
              <a:t>transformation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6319F13-C4A1-1027-777F-8EDC442C4D0D}"/>
              </a:ext>
            </a:extLst>
          </p:cNvPr>
          <p:cNvCxnSpPr>
            <a:cxnSpLocks/>
            <a:stCxn id="20" idx="0"/>
          </p:cNvCxnSpPr>
          <p:nvPr/>
        </p:nvCxnSpPr>
        <p:spPr>
          <a:xfrm flipH="1" flipV="1">
            <a:off x="1972162" y="2799721"/>
            <a:ext cx="4084894" cy="78651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C654A1C-52A4-4CF3-5008-5357CCDBD084}"/>
              </a:ext>
            </a:extLst>
          </p:cNvPr>
          <p:cNvCxnSpPr>
            <a:cxnSpLocks/>
            <a:stCxn id="20" idx="0"/>
          </p:cNvCxnSpPr>
          <p:nvPr/>
        </p:nvCxnSpPr>
        <p:spPr>
          <a:xfrm flipH="1" flipV="1">
            <a:off x="5693790" y="2841954"/>
            <a:ext cx="363266" cy="74428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24">
            <a:extLst>
              <a:ext uri="{FF2B5EF4-FFF2-40B4-BE49-F238E27FC236}">
                <a16:creationId xmlns:a16="http://schemas.microsoft.com/office/drawing/2014/main" id="{35C11113-999F-9949-EA1C-C66B97812080}"/>
              </a:ext>
            </a:extLst>
          </p:cNvPr>
          <p:cNvSpPr txBox="1"/>
          <p:nvPr/>
        </p:nvSpPr>
        <p:spPr>
          <a:xfrm>
            <a:off x="5346765" y="3586236"/>
            <a:ext cx="1420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 dirty="0">
                <a:solidFill>
                  <a:schemeClr val="accent2"/>
                </a:solidFill>
                <a:latin typeface="Ubuntu" panose="020B0504030602030204" pitchFamily="34" charset="0"/>
              </a:rPr>
              <a:t>expressions</a:t>
            </a: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AD077ABC-7709-49DA-5538-284EE5A813A5}"/>
              </a:ext>
            </a:extLst>
          </p:cNvPr>
          <p:cNvSpPr txBox="1"/>
          <p:nvPr/>
        </p:nvSpPr>
        <p:spPr>
          <a:xfrm>
            <a:off x="702122" y="2226880"/>
            <a:ext cx="22768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i="1" noProof="0" dirty="0">
                <a:solidFill>
                  <a:srgbClr val="ED7D31"/>
                </a:solidFill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C[  ]</a:t>
            </a:r>
          </a:p>
        </p:txBody>
      </p:sp>
      <p:sp>
        <p:nvSpPr>
          <p:cNvPr id="10" name="TextBox 3">
            <a:extLst>
              <a:ext uri="{FF2B5EF4-FFF2-40B4-BE49-F238E27FC236}">
                <a16:creationId xmlns:a16="http://schemas.microsoft.com/office/drawing/2014/main" id="{D6C1854D-A598-4814-CE08-A06A30620718}"/>
              </a:ext>
            </a:extLst>
          </p:cNvPr>
          <p:cNvSpPr txBox="1"/>
          <p:nvPr/>
        </p:nvSpPr>
        <p:spPr>
          <a:xfrm>
            <a:off x="4407767" y="2217397"/>
            <a:ext cx="22768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i="1" noProof="0" dirty="0">
                <a:solidFill>
                  <a:srgbClr val="ED7D31"/>
                </a:solidFill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C[  ]</a:t>
            </a:r>
          </a:p>
        </p:txBody>
      </p:sp>
    </p:spTree>
    <p:extLst>
      <p:ext uri="{BB962C8B-B14F-4D97-AF65-F5344CB8AC3E}">
        <p14:creationId xmlns:p14="http://schemas.microsoft.com/office/powerpoint/2010/main" val="156443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7" grpId="0"/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zövegdoboz 2">
            <a:extLst>
              <a:ext uri="{FF2B5EF4-FFF2-40B4-BE49-F238E27FC236}">
                <a16:creationId xmlns:a16="http://schemas.microsoft.com/office/drawing/2014/main" id="{11DD2953-3B3C-412C-83B3-53E08D6E6A91}"/>
              </a:ext>
            </a:extLst>
          </p:cNvPr>
          <p:cNvSpPr txBox="1"/>
          <p:nvPr/>
        </p:nvSpPr>
        <p:spPr>
          <a:xfrm>
            <a:off x="838200" y="399495"/>
            <a:ext cx="10515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01285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Motivation: Correctness of refactoring</a:t>
            </a:r>
          </a:p>
        </p:txBody>
      </p:sp>
      <p:cxnSp>
        <p:nvCxnSpPr>
          <p:cNvPr id="6" name="Egyenes összekötő 5">
            <a:extLst>
              <a:ext uri="{FF2B5EF4-FFF2-40B4-BE49-F238E27FC236}">
                <a16:creationId xmlns:a16="http://schemas.microsoft.com/office/drawing/2014/main" id="{F2B5A38B-F1A4-46E5-A546-D8DA8D39A774}"/>
              </a:ext>
            </a:extLst>
          </p:cNvPr>
          <p:cNvCxnSpPr/>
          <p:nvPr/>
        </p:nvCxnSpPr>
        <p:spPr>
          <a:xfrm>
            <a:off x="838200" y="1145220"/>
            <a:ext cx="10676138" cy="0"/>
          </a:xfrm>
          <a:prstGeom prst="line">
            <a:avLst/>
          </a:prstGeom>
          <a:ln>
            <a:solidFill>
              <a:srgbClr val="0128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: Rounded Corners 19">
            <a:extLst>
              <a:ext uri="{FF2B5EF4-FFF2-40B4-BE49-F238E27FC236}">
                <a16:creationId xmlns:a16="http://schemas.microsoft.com/office/drawing/2014/main" id="{4A89C5E6-5E57-372D-7DEA-B4DAB27F02C6}"/>
              </a:ext>
            </a:extLst>
          </p:cNvPr>
          <p:cNvSpPr/>
          <p:nvPr/>
        </p:nvSpPr>
        <p:spPr>
          <a:xfrm>
            <a:off x="684162" y="4155115"/>
            <a:ext cx="6350507" cy="1066895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64A9C29F-8125-57DE-7343-ACE4033C2BBA}"/>
              </a:ext>
            </a:extLst>
          </p:cNvPr>
          <p:cNvSpPr txBox="1"/>
          <p:nvPr/>
        </p:nvSpPr>
        <p:spPr>
          <a:xfrm>
            <a:off x="1972162" y="3437008"/>
            <a:ext cx="18998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i="1" u="sng" noProof="0" dirty="0">
                <a:latin typeface="Ubuntu" panose="020B0504030602030204" pitchFamily="34" charset="0"/>
              </a:rPr>
              <a:t>is a refactoring if</a:t>
            </a:r>
          </a:p>
        </p:txBody>
      </p:sp>
      <p:sp>
        <p:nvSpPr>
          <p:cNvPr id="15" name="TextBox 9">
            <a:extLst>
              <a:ext uri="{FF2B5EF4-FFF2-40B4-BE49-F238E27FC236}">
                <a16:creationId xmlns:a16="http://schemas.microsoft.com/office/drawing/2014/main" id="{C7208535-5100-3AD9-0A9A-C68483C70BB0}"/>
              </a:ext>
            </a:extLst>
          </p:cNvPr>
          <p:cNvSpPr txBox="1"/>
          <p:nvPr/>
        </p:nvSpPr>
        <p:spPr>
          <a:xfrm>
            <a:off x="2021185" y="4273065"/>
            <a:ext cx="5084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i="1" noProof="0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e</a:t>
            </a:r>
          </a:p>
        </p:txBody>
      </p:sp>
      <p:sp>
        <p:nvSpPr>
          <p:cNvPr id="16" name="TextBox 10">
            <a:extLst>
              <a:ext uri="{FF2B5EF4-FFF2-40B4-BE49-F238E27FC236}">
                <a16:creationId xmlns:a16="http://schemas.microsoft.com/office/drawing/2014/main" id="{E6B53839-EE38-B0D5-DA6E-1198CB437CFC}"/>
              </a:ext>
            </a:extLst>
          </p:cNvPr>
          <p:cNvSpPr txBox="1"/>
          <p:nvPr/>
        </p:nvSpPr>
        <p:spPr>
          <a:xfrm>
            <a:off x="4536586" y="4302075"/>
            <a:ext cx="83227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i="1" noProof="0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e</a:t>
            </a:r>
            <a:r>
              <a:rPr lang="en-GB" sz="4800" noProof="0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'</a:t>
            </a:r>
          </a:p>
        </p:txBody>
      </p:sp>
      <p:sp>
        <p:nvSpPr>
          <p:cNvPr id="17" name="TextBox 15">
            <a:extLst>
              <a:ext uri="{FF2B5EF4-FFF2-40B4-BE49-F238E27FC236}">
                <a16:creationId xmlns:a16="http://schemas.microsoft.com/office/drawing/2014/main" id="{A72B6A12-162D-F325-A386-C00C11512D48}"/>
              </a:ext>
            </a:extLst>
          </p:cNvPr>
          <p:cNvSpPr txBox="1"/>
          <p:nvPr/>
        </p:nvSpPr>
        <p:spPr>
          <a:xfrm>
            <a:off x="3287702" y="4199905"/>
            <a:ext cx="4908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noProof="0" dirty="0">
                <a:solidFill>
                  <a:schemeClr val="accent2"/>
                </a:solidFill>
              </a:rPr>
              <a:t>≈</a:t>
            </a:r>
          </a:p>
        </p:txBody>
      </p:sp>
      <p:cxnSp>
        <p:nvCxnSpPr>
          <p:cNvPr id="21" name="Straight Arrow Connector 28">
            <a:extLst>
              <a:ext uri="{FF2B5EF4-FFF2-40B4-BE49-F238E27FC236}">
                <a16:creationId xmlns:a16="http://schemas.microsoft.com/office/drawing/2014/main" id="{9E536A6C-A54A-B00D-48EC-A5E3F50C39DE}"/>
              </a:ext>
            </a:extLst>
          </p:cNvPr>
          <p:cNvCxnSpPr>
            <a:cxnSpLocks/>
            <a:stCxn id="22" idx="1"/>
          </p:cNvCxnSpPr>
          <p:nvPr/>
        </p:nvCxnSpPr>
        <p:spPr>
          <a:xfrm flipH="1" flipV="1">
            <a:off x="3553905" y="4902417"/>
            <a:ext cx="110171" cy="85598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2" name="TextBox 29">
            <a:extLst>
              <a:ext uri="{FF2B5EF4-FFF2-40B4-BE49-F238E27FC236}">
                <a16:creationId xmlns:a16="http://schemas.microsoft.com/office/drawing/2014/main" id="{046AD22E-634E-977F-83AC-72476F4AF668}"/>
              </a:ext>
            </a:extLst>
          </p:cNvPr>
          <p:cNvSpPr txBox="1"/>
          <p:nvPr/>
        </p:nvSpPr>
        <p:spPr>
          <a:xfrm>
            <a:off x="3664076" y="5573738"/>
            <a:ext cx="35317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noProof="0" dirty="0">
                <a:solidFill>
                  <a:schemeClr val="accent2"/>
                </a:solidFill>
                <a:latin typeface="Ubuntu" panose="020B0504030602030204" pitchFamily="34" charset="0"/>
              </a:rPr>
              <a:t>congruent program equivalence</a:t>
            </a:r>
          </a:p>
        </p:txBody>
      </p:sp>
      <p:cxnSp>
        <p:nvCxnSpPr>
          <p:cNvPr id="27" name="Straight Connector 4">
            <a:extLst>
              <a:ext uri="{FF2B5EF4-FFF2-40B4-BE49-F238E27FC236}">
                <a16:creationId xmlns:a16="http://schemas.microsoft.com/office/drawing/2014/main" id="{CF61E291-837D-EA91-251E-A49F4250DDB1}"/>
              </a:ext>
            </a:extLst>
          </p:cNvPr>
          <p:cNvCxnSpPr>
            <a:cxnSpLocks/>
          </p:cNvCxnSpPr>
          <p:nvPr/>
        </p:nvCxnSpPr>
        <p:spPr>
          <a:xfrm>
            <a:off x="9640276" y="2334194"/>
            <a:ext cx="39787" cy="300785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6">
            <a:extLst>
              <a:ext uri="{FF2B5EF4-FFF2-40B4-BE49-F238E27FC236}">
                <a16:creationId xmlns:a16="http://schemas.microsoft.com/office/drawing/2014/main" id="{C47AD2A4-198E-E7C4-8C14-CD56849C04A3}"/>
              </a:ext>
            </a:extLst>
          </p:cNvPr>
          <p:cNvCxnSpPr>
            <a:cxnSpLocks/>
          </p:cNvCxnSpPr>
          <p:nvPr/>
        </p:nvCxnSpPr>
        <p:spPr>
          <a:xfrm>
            <a:off x="7630855" y="3711696"/>
            <a:ext cx="4064437" cy="1340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TextBox 10">
            <a:extLst>
              <a:ext uri="{FF2B5EF4-FFF2-40B4-BE49-F238E27FC236}">
                <a16:creationId xmlns:a16="http://schemas.microsoft.com/office/drawing/2014/main" id="{3104B50E-0E18-3488-77FB-156B6332ED9C}"/>
              </a:ext>
            </a:extLst>
          </p:cNvPr>
          <p:cNvSpPr txBox="1"/>
          <p:nvPr/>
        </p:nvSpPr>
        <p:spPr>
          <a:xfrm>
            <a:off x="7569581" y="1864812"/>
            <a:ext cx="21900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noProof="0" dirty="0">
                <a:latin typeface="Ubuntu" panose="020B0504030602030204" pitchFamily="34" charset="0"/>
              </a:rPr>
              <a:t>static</a:t>
            </a:r>
          </a:p>
        </p:txBody>
      </p:sp>
      <p:sp>
        <p:nvSpPr>
          <p:cNvPr id="30" name="TextBox 11">
            <a:extLst>
              <a:ext uri="{FF2B5EF4-FFF2-40B4-BE49-F238E27FC236}">
                <a16:creationId xmlns:a16="http://schemas.microsoft.com/office/drawing/2014/main" id="{F34AC14F-CD39-7093-6C79-F69785BA8DDE}"/>
              </a:ext>
            </a:extLst>
          </p:cNvPr>
          <p:cNvSpPr txBox="1"/>
          <p:nvPr/>
        </p:nvSpPr>
        <p:spPr>
          <a:xfrm>
            <a:off x="9543674" y="1866611"/>
            <a:ext cx="21900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noProof="0" dirty="0">
                <a:latin typeface="Ubuntu" panose="020B0504030602030204" pitchFamily="34" charset="0"/>
              </a:rPr>
              <a:t>dynamic</a:t>
            </a:r>
          </a:p>
        </p:txBody>
      </p:sp>
      <p:sp>
        <p:nvSpPr>
          <p:cNvPr id="31" name="TextBox 12">
            <a:extLst>
              <a:ext uri="{FF2B5EF4-FFF2-40B4-BE49-F238E27FC236}">
                <a16:creationId xmlns:a16="http://schemas.microsoft.com/office/drawing/2014/main" id="{6E0D7E79-C778-9F6A-BE98-B3E7B43CFBC6}"/>
              </a:ext>
            </a:extLst>
          </p:cNvPr>
          <p:cNvSpPr txBox="1"/>
          <p:nvPr/>
        </p:nvSpPr>
        <p:spPr>
          <a:xfrm rot="16200000">
            <a:off x="6785355" y="2648970"/>
            <a:ext cx="15564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noProof="0" dirty="0">
                <a:latin typeface="Ubuntu" panose="020B0504030602030204" pitchFamily="34" charset="0"/>
              </a:rPr>
              <a:t>instance</a:t>
            </a:r>
          </a:p>
        </p:txBody>
      </p:sp>
      <p:sp>
        <p:nvSpPr>
          <p:cNvPr id="33" name="Oval 14">
            <a:extLst>
              <a:ext uri="{FF2B5EF4-FFF2-40B4-BE49-F238E27FC236}">
                <a16:creationId xmlns:a16="http://schemas.microsoft.com/office/drawing/2014/main" id="{3853EC23-AAA7-2FAB-81A7-13001B17A2DE}"/>
              </a:ext>
            </a:extLst>
          </p:cNvPr>
          <p:cNvSpPr/>
          <p:nvPr/>
        </p:nvSpPr>
        <p:spPr>
          <a:xfrm>
            <a:off x="8388606" y="4302075"/>
            <a:ext cx="530327" cy="509379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latin typeface="+mj-lt"/>
            </a:endParaRPr>
          </a:p>
        </p:txBody>
      </p:sp>
      <p:sp>
        <p:nvSpPr>
          <p:cNvPr id="34" name="Oval 15">
            <a:extLst>
              <a:ext uri="{FF2B5EF4-FFF2-40B4-BE49-F238E27FC236}">
                <a16:creationId xmlns:a16="http://schemas.microsoft.com/office/drawing/2014/main" id="{0B0BCCD3-D16F-E5A1-5592-26597F7AB3C4}"/>
              </a:ext>
            </a:extLst>
          </p:cNvPr>
          <p:cNvSpPr/>
          <p:nvPr/>
        </p:nvSpPr>
        <p:spPr>
          <a:xfrm>
            <a:off x="8388605" y="2763429"/>
            <a:ext cx="530327" cy="50937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latin typeface="+mj-lt"/>
            </a:endParaRPr>
          </a:p>
        </p:txBody>
      </p:sp>
      <p:sp>
        <p:nvSpPr>
          <p:cNvPr id="37" name="Rectangle: Rounded Corners 16">
            <a:extLst>
              <a:ext uri="{FF2B5EF4-FFF2-40B4-BE49-F238E27FC236}">
                <a16:creationId xmlns:a16="http://schemas.microsoft.com/office/drawing/2014/main" id="{17F9CBE3-4207-EF55-F0F8-0CD2C1838F50}"/>
              </a:ext>
            </a:extLst>
          </p:cNvPr>
          <p:cNvSpPr/>
          <p:nvPr/>
        </p:nvSpPr>
        <p:spPr>
          <a:xfrm>
            <a:off x="684162" y="2020204"/>
            <a:ext cx="6350507" cy="1066895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38" name="TextBox 3">
            <a:extLst>
              <a:ext uri="{FF2B5EF4-FFF2-40B4-BE49-F238E27FC236}">
                <a16:creationId xmlns:a16="http://schemas.microsoft.com/office/drawing/2014/main" id="{33B6C7C6-E51C-3FEE-FB94-13308CC43422}"/>
              </a:ext>
            </a:extLst>
          </p:cNvPr>
          <p:cNvSpPr txBox="1"/>
          <p:nvPr/>
        </p:nvSpPr>
        <p:spPr>
          <a:xfrm>
            <a:off x="1463689" y="2218706"/>
            <a:ext cx="5084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i="1" noProof="0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e</a:t>
            </a:r>
          </a:p>
        </p:txBody>
      </p:sp>
      <p:sp>
        <p:nvSpPr>
          <p:cNvPr id="39" name="TextBox 4">
            <a:extLst>
              <a:ext uri="{FF2B5EF4-FFF2-40B4-BE49-F238E27FC236}">
                <a16:creationId xmlns:a16="http://schemas.microsoft.com/office/drawing/2014/main" id="{E9FE2BAA-D73D-622D-387D-3CB7E30122AA}"/>
              </a:ext>
            </a:extLst>
          </p:cNvPr>
          <p:cNvSpPr txBox="1"/>
          <p:nvPr/>
        </p:nvSpPr>
        <p:spPr>
          <a:xfrm>
            <a:off x="5182249" y="2218705"/>
            <a:ext cx="83227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i="1" noProof="0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e</a:t>
            </a:r>
            <a:r>
              <a:rPr lang="en-GB" sz="4800" noProof="0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'</a:t>
            </a:r>
          </a:p>
        </p:txBody>
      </p:sp>
      <p:cxnSp>
        <p:nvCxnSpPr>
          <p:cNvPr id="40" name="Straight Arrow Connector 6">
            <a:extLst>
              <a:ext uri="{FF2B5EF4-FFF2-40B4-BE49-F238E27FC236}">
                <a16:creationId xmlns:a16="http://schemas.microsoft.com/office/drawing/2014/main" id="{856E4552-78EE-463A-2522-048FE291DD37}"/>
              </a:ext>
            </a:extLst>
          </p:cNvPr>
          <p:cNvCxnSpPr>
            <a:cxnSpLocks/>
          </p:cNvCxnSpPr>
          <p:nvPr/>
        </p:nvCxnSpPr>
        <p:spPr>
          <a:xfrm>
            <a:off x="2478673" y="2634203"/>
            <a:ext cx="192909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TextBox 7">
            <a:extLst>
              <a:ext uri="{FF2B5EF4-FFF2-40B4-BE49-F238E27FC236}">
                <a16:creationId xmlns:a16="http://schemas.microsoft.com/office/drawing/2014/main" id="{C8A166AC-6590-9F82-62BC-7FD22DDB41A0}"/>
              </a:ext>
            </a:extLst>
          </p:cNvPr>
          <p:cNvSpPr txBox="1"/>
          <p:nvPr/>
        </p:nvSpPr>
        <p:spPr>
          <a:xfrm>
            <a:off x="2642968" y="2264871"/>
            <a:ext cx="1725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i="1" noProof="0" dirty="0">
                <a:latin typeface="Ubuntu" panose="020B0504030602030204" pitchFamily="34" charset="0"/>
              </a:rPr>
              <a:t>transformation</a:t>
            </a:r>
          </a:p>
        </p:txBody>
      </p:sp>
      <p:cxnSp>
        <p:nvCxnSpPr>
          <p:cNvPr id="43" name="Straight Arrow Connector 18">
            <a:extLst>
              <a:ext uri="{FF2B5EF4-FFF2-40B4-BE49-F238E27FC236}">
                <a16:creationId xmlns:a16="http://schemas.microsoft.com/office/drawing/2014/main" id="{20523C15-7FF9-BFA8-E7CF-8166DB812C5D}"/>
              </a:ext>
            </a:extLst>
          </p:cNvPr>
          <p:cNvCxnSpPr>
            <a:cxnSpLocks/>
            <a:stCxn id="44" idx="0"/>
          </p:cNvCxnSpPr>
          <p:nvPr/>
        </p:nvCxnSpPr>
        <p:spPr>
          <a:xfrm flipH="1" flipV="1">
            <a:off x="5693790" y="2841954"/>
            <a:ext cx="363266" cy="74428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4" name="TextBox 24">
            <a:extLst>
              <a:ext uri="{FF2B5EF4-FFF2-40B4-BE49-F238E27FC236}">
                <a16:creationId xmlns:a16="http://schemas.microsoft.com/office/drawing/2014/main" id="{8A3BD993-3AC4-1DE9-95C3-1E4734E387B8}"/>
              </a:ext>
            </a:extLst>
          </p:cNvPr>
          <p:cNvSpPr txBox="1"/>
          <p:nvPr/>
        </p:nvSpPr>
        <p:spPr>
          <a:xfrm>
            <a:off x="5346765" y="3586236"/>
            <a:ext cx="1420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noProof="0" dirty="0">
                <a:solidFill>
                  <a:schemeClr val="accent2"/>
                </a:solidFill>
                <a:latin typeface="Ubuntu" panose="020B0504030602030204" pitchFamily="34" charset="0"/>
              </a:rPr>
              <a:t>expressions</a:t>
            </a:r>
          </a:p>
        </p:txBody>
      </p:sp>
      <p:sp>
        <p:nvSpPr>
          <p:cNvPr id="45" name="TextBox 3">
            <a:extLst>
              <a:ext uri="{FF2B5EF4-FFF2-40B4-BE49-F238E27FC236}">
                <a16:creationId xmlns:a16="http://schemas.microsoft.com/office/drawing/2014/main" id="{8754904C-AFD4-EE45-509C-7202BFC2BDA8}"/>
              </a:ext>
            </a:extLst>
          </p:cNvPr>
          <p:cNvSpPr txBox="1"/>
          <p:nvPr/>
        </p:nvSpPr>
        <p:spPr>
          <a:xfrm>
            <a:off x="702122" y="2226880"/>
            <a:ext cx="22768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i="1" noProof="0" dirty="0">
                <a:solidFill>
                  <a:srgbClr val="ED7D31"/>
                </a:solidFill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C[  ]</a:t>
            </a:r>
          </a:p>
        </p:txBody>
      </p:sp>
      <p:sp>
        <p:nvSpPr>
          <p:cNvPr id="46" name="TextBox 3">
            <a:extLst>
              <a:ext uri="{FF2B5EF4-FFF2-40B4-BE49-F238E27FC236}">
                <a16:creationId xmlns:a16="http://schemas.microsoft.com/office/drawing/2014/main" id="{A627DEAA-7BDC-90E5-E6EA-8895759F995E}"/>
              </a:ext>
            </a:extLst>
          </p:cNvPr>
          <p:cNvSpPr txBox="1"/>
          <p:nvPr/>
        </p:nvSpPr>
        <p:spPr>
          <a:xfrm>
            <a:off x="4407767" y="2217397"/>
            <a:ext cx="22768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i="1" noProof="0" dirty="0">
                <a:solidFill>
                  <a:srgbClr val="ED7D31"/>
                </a:solidFill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C[  ]</a:t>
            </a:r>
          </a:p>
        </p:txBody>
      </p:sp>
      <p:cxnSp>
        <p:nvCxnSpPr>
          <p:cNvPr id="47" name="Straight Arrow Connector 17">
            <a:extLst>
              <a:ext uri="{FF2B5EF4-FFF2-40B4-BE49-F238E27FC236}">
                <a16:creationId xmlns:a16="http://schemas.microsoft.com/office/drawing/2014/main" id="{17DF1C7F-163F-24EA-8F4C-4DF4501E79FF}"/>
              </a:ext>
            </a:extLst>
          </p:cNvPr>
          <p:cNvCxnSpPr>
            <a:cxnSpLocks/>
          </p:cNvCxnSpPr>
          <p:nvPr/>
        </p:nvCxnSpPr>
        <p:spPr>
          <a:xfrm flipH="1" flipV="1">
            <a:off x="1972162" y="2799721"/>
            <a:ext cx="4012727" cy="78651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" name="TextBox 13">
            <a:extLst>
              <a:ext uri="{FF2B5EF4-FFF2-40B4-BE49-F238E27FC236}">
                <a16:creationId xmlns:a16="http://schemas.microsoft.com/office/drawing/2014/main" id="{CD0AB5C4-E1C6-E105-9F1A-A42058C2825F}"/>
              </a:ext>
            </a:extLst>
          </p:cNvPr>
          <p:cNvSpPr txBox="1"/>
          <p:nvPr/>
        </p:nvSpPr>
        <p:spPr>
          <a:xfrm rot="16200000">
            <a:off x="6656256" y="4410708"/>
            <a:ext cx="18028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noProof="0" dirty="0">
                <a:latin typeface="Ubuntu" panose="020B0504030602030204" pitchFamily="34" charset="0"/>
              </a:rPr>
              <a:t>definition</a:t>
            </a:r>
          </a:p>
        </p:txBody>
      </p:sp>
    </p:spTree>
    <p:extLst>
      <p:ext uri="{BB962C8B-B14F-4D97-AF65-F5344CB8AC3E}">
        <p14:creationId xmlns:p14="http://schemas.microsoft.com/office/powerpoint/2010/main" val="1645704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5" grpId="0"/>
      <p:bldP spid="16" grpId="0"/>
      <p:bldP spid="17" grpId="0"/>
      <p:bldP spid="22" grpId="0"/>
      <p:bldP spid="29" grpId="0"/>
      <p:bldP spid="30" grpId="0"/>
      <p:bldP spid="31" grpId="0"/>
      <p:bldP spid="33" grpId="0" animBg="1"/>
      <p:bldP spid="34" grpId="0" animBg="1"/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61F5EAE-4151-5C6C-7EFA-6FBBF1C69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zövegdoboz 2">
            <a:extLst>
              <a:ext uri="{FF2B5EF4-FFF2-40B4-BE49-F238E27FC236}">
                <a16:creationId xmlns:a16="http://schemas.microsoft.com/office/drawing/2014/main" id="{F7494F87-4864-8EAB-D074-45C2DA2C1885}"/>
              </a:ext>
            </a:extLst>
          </p:cNvPr>
          <p:cNvSpPr txBox="1"/>
          <p:nvPr/>
        </p:nvSpPr>
        <p:spPr>
          <a:xfrm>
            <a:off x="838199" y="399495"/>
            <a:ext cx="112060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01285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Motivation: Correctness of refactoring</a:t>
            </a:r>
            <a:r>
              <a:rPr lang="hu-HU" sz="3600" dirty="0">
                <a:solidFill>
                  <a:srgbClr val="01285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hu-HU" sz="3600" dirty="0" err="1">
                <a:solidFill>
                  <a:srgbClr val="01285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optimisation</a:t>
            </a:r>
            <a:endParaRPr lang="en-US" sz="3600" dirty="0">
              <a:solidFill>
                <a:srgbClr val="012851"/>
              </a:solidFill>
              <a:latin typeface="Ubuntu" panose="020B050403060203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6" name="Egyenes összekötő 5">
            <a:extLst>
              <a:ext uri="{FF2B5EF4-FFF2-40B4-BE49-F238E27FC236}">
                <a16:creationId xmlns:a16="http://schemas.microsoft.com/office/drawing/2014/main" id="{1271A51A-1D26-4C98-D7BD-D089D2B836C5}"/>
              </a:ext>
            </a:extLst>
          </p:cNvPr>
          <p:cNvCxnSpPr/>
          <p:nvPr/>
        </p:nvCxnSpPr>
        <p:spPr>
          <a:xfrm>
            <a:off x="838200" y="1145220"/>
            <a:ext cx="10676138" cy="0"/>
          </a:xfrm>
          <a:prstGeom prst="line">
            <a:avLst/>
          </a:prstGeom>
          <a:ln>
            <a:solidFill>
              <a:srgbClr val="0128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: Rounded Corners 19">
            <a:extLst>
              <a:ext uri="{FF2B5EF4-FFF2-40B4-BE49-F238E27FC236}">
                <a16:creationId xmlns:a16="http://schemas.microsoft.com/office/drawing/2014/main" id="{175AD36A-6845-AE6B-E192-51810994058E}"/>
              </a:ext>
            </a:extLst>
          </p:cNvPr>
          <p:cNvSpPr/>
          <p:nvPr/>
        </p:nvSpPr>
        <p:spPr>
          <a:xfrm>
            <a:off x="684162" y="4155115"/>
            <a:ext cx="6350507" cy="1066895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B34ECA01-0880-D1E2-6663-EC5BF2588454}"/>
              </a:ext>
            </a:extLst>
          </p:cNvPr>
          <p:cNvSpPr txBox="1"/>
          <p:nvPr/>
        </p:nvSpPr>
        <p:spPr>
          <a:xfrm>
            <a:off x="1972162" y="3437008"/>
            <a:ext cx="18998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i="1" u="sng" noProof="0" dirty="0">
                <a:latin typeface="Ubuntu" panose="020B0504030602030204" pitchFamily="34" charset="0"/>
              </a:rPr>
              <a:t>is a refactoring if</a:t>
            </a:r>
          </a:p>
        </p:txBody>
      </p:sp>
      <p:sp>
        <p:nvSpPr>
          <p:cNvPr id="15" name="TextBox 9">
            <a:extLst>
              <a:ext uri="{FF2B5EF4-FFF2-40B4-BE49-F238E27FC236}">
                <a16:creationId xmlns:a16="http://schemas.microsoft.com/office/drawing/2014/main" id="{8F77451D-20B4-DE2F-4BA0-850E658C7182}"/>
              </a:ext>
            </a:extLst>
          </p:cNvPr>
          <p:cNvSpPr txBox="1"/>
          <p:nvPr/>
        </p:nvSpPr>
        <p:spPr>
          <a:xfrm>
            <a:off x="2021185" y="4273065"/>
            <a:ext cx="5084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i="1" noProof="0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e</a:t>
            </a:r>
          </a:p>
        </p:txBody>
      </p:sp>
      <p:sp>
        <p:nvSpPr>
          <p:cNvPr id="16" name="TextBox 10">
            <a:extLst>
              <a:ext uri="{FF2B5EF4-FFF2-40B4-BE49-F238E27FC236}">
                <a16:creationId xmlns:a16="http://schemas.microsoft.com/office/drawing/2014/main" id="{299931D3-B668-25FF-55B4-056ECE50F131}"/>
              </a:ext>
            </a:extLst>
          </p:cNvPr>
          <p:cNvSpPr txBox="1"/>
          <p:nvPr/>
        </p:nvSpPr>
        <p:spPr>
          <a:xfrm>
            <a:off x="4536586" y="4302075"/>
            <a:ext cx="83227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i="1" noProof="0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e</a:t>
            </a:r>
            <a:r>
              <a:rPr lang="en-GB" sz="4800" noProof="0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'</a:t>
            </a:r>
          </a:p>
        </p:txBody>
      </p:sp>
      <p:sp>
        <p:nvSpPr>
          <p:cNvPr id="17" name="TextBox 15">
            <a:extLst>
              <a:ext uri="{FF2B5EF4-FFF2-40B4-BE49-F238E27FC236}">
                <a16:creationId xmlns:a16="http://schemas.microsoft.com/office/drawing/2014/main" id="{8181D941-7EB4-F2DD-4461-915013761F5F}"/>
              </a:ext>
            </a:extLst>
          </p:cNvPr>
          <p:cNvSpPr txBox="1"/>
          <p:nvPr/>
        </p:nvSpPr>
        <p:spPr>
          <a:xfrm>
            <a:off x="3287702" y="4199905"/>
            <a:ext cx="4908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noProof="0" dirty="0">
                <a:solidFill>
                  <a:schemeClr val="accent2"/>
                </a:solidFill>
              </a:rPr>
              <a:t>≈</a:t>
            </a:r>
          </a:p>
        </p:txBody>
      </p:sp>
      <p:cxnSp>
        <p:nvCxnSpPr>
          <p:cNvPr id="21" name="Straight Arrow Connector 28">
            <a:extLst>
              <a:ext uri="{FF2B5EF4-FFF2-40B4-BE49-F238E27FC236}">
                <a16:creationId xmlns:a16="http://schemas.microsoft.com/office/drawing/2014/main" id="{8C829924-EB52-9144-C6CB-8C7393FDF61F}"/>
              </a:ext>
            </a:extLst>
          </p:cNvPr>
          <p:cNvCxnSpPr>
            <a:cxnSpLocks/>
            <a:stCxn id="22" idx="1"/>
          </p:cNvCxnSpPr>
          <p:nvPr/>
        </p:nvCxnSpPr>
        <p:spPr>
          <a:xfrm flipH="1" flipV="1">
            <a:off x="3553905" y="4902417"/>
            <a:ext cx="110171" cy="85598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2" name="TextBox 29">
            <a:extLst>
              <a:ext uri="{FF2B5EF4-FFF2-40B4-BE49-F238E27FC236}">
                <a16:creationId xmlns:a16="http://schemas.microsoft.com/office/drawing/2014/main" id="{0B2E4211-485E-A88D-A84C-D20157F7DB84}"/>
              </a:ext>
            </a:extLst>
          </p:cNvPr>
          <p:cNvSpPr txBox="1"/>
          <p:nvPr/>
        </p:nvSpPr>
        <p:spPr>
          <a:xfrm>
            <a:off x="3664076" y="5573738"/>
            <a:ext cx="35317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noProof="0" dirty="0">
                <a:solidFill>
                  <a:schemeClr val="accent2"/>
                </a:solidFill>
                <a:latin typeface="Ubuntu" panose="020B0504030602030204" pitchFamily="34" charset="0"/>
              </a:rPr>
              <a:t>congruent program equivalence</a:t>
            </a:r>
          </a:p>
        </p:txBody>
      </p:sp>
      <p:cxnSp>
        <p:nvCxnSpPr>
          <p:cNvPr id="27" name="Straight Connector 4">
            <a:extLst>
              <a:ext uri="{FF2B5EF4-FFF2-40B4-BE49-F238E27FC236}">
                <a16:creationId xmlns:a16="http://schemas.microsoft.com/office/drawing/2014/main" id="{B6698A5D-9D1B-3FB2-5A0E-71209FF8BD33}"/>
              </a:ext>
            </a:extLst>
          </p:cNvPr>
          <p:cNvCxnSpPr>
            <a:cxnSpLocks/>
          </p:cNvCxnSpPr>
          <p:nvPr/>
        </p:nvCxnSpPr>
        <p:spPr>
          <a:xfrm>
            <a:off x="9640276" y="2334194"/>
            <a:ext cx="39787" cy="300785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6">
            <a:extLst>
              <a:ext uri="{FF2B5EF4-FFF2-40B4-BE49-F238E27FC236}">
                <a16:creationId xmlns:a16="http://schemas.microsoft.com/office/drawing/2014/main" id="{9C42725F-BE41-5973-8E7E-038B3CBDEBEB}"/>
              </a:ext>
            </a:extLst>
          </p:cNvPr>
          <p:cNvCxnSpPr>
            <a:cxnSpLocks/>
          </p:cNvCxnSpPr>
          <p:nvPr/>
        </p:nvCxnSpPr>
        <p:spPr>
          <a:xfrm>
            <a:off x="7630855" y="3711696"/>
            <a:ext cx="4064437" cy="1340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TextBox 10">
            <a:extLst>
              <a:ext uri="{FF2B5EF4-FFF2-40B4-BE49-F238E27FC236}">
                <a16:creationId xmlns:a16="http://schemas.microsoft.com/office/drawing/2014/main" id="{8597D08A-FF1E-23D6-265D-4AB62DC0739E}"/>
              </a:ext>
            </a:extLst>
          </p:cNvPr>
          <p:cNvSpPr txBox="1"/>
          <p:nvPr/>
        </p:nvSpPr>
        <p:spPr>
          <a:xfrm>
            <a:off x="7569581" y="1864812"/>
            <a:ext cx="21900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noProof="0" dirty="0">
                <a:latin typeface="Ubuntu" panose="020B0504030602030204" pitchFamily="34" charset="0"/>
              </a:rPr>
              <a:t>static</a:t>
            </a:r>
          </a:p>
        </p:txBody>
      </p:sp>
      <p:sp>
        <p:nvSpPr>
          <p:cNvPr id="30" name="TextBox 11">
            <a:extLst>
              <a:ext uri="{FF2B5EF4-FFF2-40B4-BE49-F238E27FC236}">
                <a16:creationId xmlns:a16="http://schemas.microsoft.com/office/drawing/2014/main" id="{5984C585-ED54-4657-7E12-6FD80DE4D5BB}"/>
              </a:ext>
            </a:extLst>
          </p:cNvPr>
          <p:cNvSpPr txBox="1"/>
          <p:nvPr/>
        </p:nvSpPr>
        <p:spPr>
          <a:xfrm>
            <a:off x="9543674" y="1866611"/>
            <a:ext cx="21900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noProof="0" dirty="0">
                <a:latin typeface="Ubuntu" panose="020B0504030602030204" pitchFamily="34" charset="0"/>
              </a:rPr>
              <a:t>dynamic</a:t>
            </a:r>
          </a:p>
        </p:txBody>
      </p:sp>
      <p:sp>
        <p:nvSpPr>
          <p:cNvPr id="31" name="TextBox 12">
            <a:extLst>
              <a:ext uri="{FF2B5EF4-FFF2-40B4-BE49-F238E27FC236}">
                <a16:creationId xmlns:a16="http://schemas.microsoft.com/office/drawing/2014/main" id="{EAD23435-6CC2-62E0-C893-22A2292B6C78}"/>
              </a:ext>
            </a:extLst>
          </p:cNvPr>
          <p:cNvSpPr txBox="1"/>
          <p:nvPr/>
        </p:nvSpPr>
        <p:spPr>
          <a:xfrm rot="16200000">
            <a:off x="6785355" y="2648970"/>
            <a:ext cx="15564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noProof="0" dirty="0">
                <a:latin typeface="Ubuntu" panose="020B0504030602030204" pitchFamily="34" charset="0"/>
              </a:rPr>
              <a:t>instance</a:t>
            </a:r>
          </a:p>
        </p:txBody>
      </p:sp>
      <p:sp>
        <p:nvSpPr>
          <p:cNvPr id="33" name="Oval 14">
            <a:extLst>
              <a:ext uri="{FF2B5EF4-FFF2-40B4-BE49-F238E27FC236}">
                <a16:creationId xmlns:a16="http://schemas.microsoft.com/office/drawing/2014/main" id="{A1F403EB-22FF-8985-ACEC-3C7B86E696EF}"/>
              </a:ext>
            </a:extLst>
          </p:cNvPr>
          <p:cNvSpPr/>
          <p:nvPr/>
        </p:nvSpPr>
        <p:spPr>
          <a:xfrm>
            <a:off x="8388606" y="4302075"/>
            <a:ext cx="530327" cy="509379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latin typeface="+mj-lt"/>
            </a:endParaRPr>
          </a:p>
        </p:txBody>
      </p:sp>
      <p:sp>
        <p:nvSpPr>
          <p:cNvPr id="34" name="Oval 15">
            <a:extLst>
              <a:ext uri="{FF2B5EF4-FFF2-40B4-BE49-F238E27FC236}">
                <a16:creationId xmlns:a16="http://schemas.microsoft.com/office/drawing/2014/main" id="{468B3463-6FA3-DA05-9BC7-5972514023D8}"/>
              </a:ext>
            </a:extLst>
          </p:cNvPr>
          <p:cNvSpPr/>
          <p:nvPr/>
        </p:nvSpPr>
        <p:spPr>
          <a:xfrm>
            <a:off x="8388605" y="2763429"/>
            <a:ext cx="530327" cy="50937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latin typeface="+mj-lt"/>
            </a:endParaRPr>
          </a:p>
        </p:txBody>
      </p:sp>
      <p:sp>
        <p:nvSpPr>
          <p:cNvPr id="37" name="Rectangle: Rounded Corners 16">
            <a:extLst>
              <a:ext uri="{FF2B5EF4-FFF2-40B4-BE49-F238E27FC236}">
                <a16:creationId xmlns:a16="http://schemas.microsoft.com/office/drawing/2014/main" id="{50052C27-EC51-2932-3F20-F6E352304244}"/>
              </a:ext>
            </a:extLst>
          </p:cNvPr>
          <p:cNvSpPr/>
          <p:nvPr/>
        </p:nvSpPr>
        <p:spPr>
          <a:xfrm>
            <a:off x="684162" y="2020204"/>
            <a:ext cx="6350507" cy="1066895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38" name="TextBox 3">
            <a:extLst>
              <a:ext uri="{FF2B5EF4-FFF2-40B4-BE49-F238E27FC236}">
                <a16:creationId xmlns:a16="http://schemas.microsoft.com/office/drawing/2014/main" id="{322E100D-EAD6-A7BA-1D1F-32AC0C5731B9}"/>
              </a:ext>
            </a:extLst>
          </p:cNvPr>
          <p:cNvSpPr txBox="1"/>
          <p:nvPr/>
        </p:nvSpPr>
        <p:spPr>
          <a:xfrm>
            <a:off x="1463689" y="2218706"/>
            <a:ext cx="5084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i="1" noProof="0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e</a:t>
            </a:r>
          </a:p>
        </p:txBody>
      </p:sp>
      <p:sp>
        <p:nvSpPr>
          <p:cNvPr id="39" name="TextBox 4">
            <a:extLst>
              <a:ext uri="{FF2B5EF4-FFF2-40B4-BE49-F238E27FC236}">
                <a16:creationId xmlns:a16="http://schemas.microsoft.com/office/drawing/2014/main" id="{D1CDD0DF-F881-DE1E-CB5E-0B07B545D315}"/>
              </a:ext>
            </a:extLst>
          </p:cNvPr>
          <p:cNvSpPr txBox="1"/>
          <p:nvPr/>
        </p:nvSpPr>
        <p:spPr>
          <a:xfrm>
            <a:off x="5182249" y="2218705"/>
            <a:ext cx="83227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i="1" noProof="0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e</a:t>
            </a:r>
            <a:r>
              <a:rPr lang="en-GB" sz="4800" noProof="0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'</a:t>
            </a:r>
          </a:p>
        </p:txBody>
      </p:sp>
      <p:cxnSp>
        <p:nvCxnSpPr>
          <p:cNvPr id="40" name="Straight Arrow Connector 6">
            <a:extLst>
              <a:ext uri="{FF2B5EF4-FFF2-40B4-BE49-F238E27FC236}">
                <a16:creationId xmlns:a16="http://schemas.microsoft.com/office/drawing/2014/main" id="{75D6FFB7-E428-43E2-B68E-BE580D786361}"/>
              </a:ext>
            </a:extLst>
          </p:cNvPr>
          <p:cNvCxnSpPr>
            <a:cxnSpLocks/>
          </p:cNvCxnSpPr>
          <p:nvPr/>
        </p:nvCxnSpPr>
        <p:spPr>
          <a:xfrm>
            <a:off x="2478673" y="2634203"/>
            <a:ext cx="192909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TextBox 7">
            <a:extLst>
              <a:ext uri="{FF2B5EF4-FFF2-40B4-BE49-F238E27FC236}">
                <a16:creationId xmlns:a16="http://schemas.microsoft.com/office/drawing/2014/main" id="{6FA417D0-1FA8-C348-2EB6-BED7A2C8C589}"/>
              </a:ext>
            </a:extLst>
          </p:cNvPr>
          <p:cNvSpPr txBox="1"/>
          <p:nvPr/>
        </p:nvSpPr>
        <p:spPr>
          <a:xfrm>
            <a:off x="2642968" y="2264871"/>
            <a:ext cx="1725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i="1" noProof="0" dirty="0">
                <a:latin typeface="Ubuntu" panose="020B0504030602030204" pitchFamily="34" charset="0"/>
              </a:rPr>
              <a:t>transformation</a:t>
            </a:r>
          </a:p>
        </p:txBody>
      </p:sp>
      <p:cxnSp>
        <p:nvCxnSpPr>
          <p:cNvPr id="43" name="Straight Arrow Connector 18">
            <a:extLst>
              <a:ext uri="{FF2B5EF4-FFF2-40B4-BE49-F238E27FC236}">
                <a16:creationId xmlns:a16="http://schemas.microsoft.com/office/drawing/2014/main" id="{356E5E08-F7FA-B8C5-69FC-AA32753EE481}"/>
              </a:ext>
            </a:extLst>
          </p:cNvPr>
          <p:cNvCxnSpPr>
            <a:cxnSpLocks/>
            <a:stCxn id="44" idx="0"/>
          </p:cNvCxnSpPr>
          <p:nvPr/>
        </p:nvCxnSpPr>
        <p:spPr>
          <a:xfrm flipH="1" flipV="1">
            <a:off x="5693790" y="2841954"/>
            <a:ext cx="363266" cy="74428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4" name="TextBox 24">
            <a:extLst>
              <a:ext uri="{FF2B5EF4-FFF2-40B4-BE49-F238E27FC236}">
                <a16:creationId xmlns:a16="http://schemas.microsoft.com/office/drawing/2014/main" id="{60E42BCE-D2AB-55A1-C37E-9C23B54C27A8}"/>
              </a:ext>
            </a:extLst>
          </p:cNvPr>
          <p:cNvSpPr txBox="1"/>
          <p:nvPr/>
        </p:nvSpPr>
        <p:spPr>
          <a:xfrm>
            <a:off x="5346765" y="3586236"/>
            <a:ext cx="1420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noProof="0" dirty="0">
                <a:solidFill>
                  <a:schemeClr val="accent2"/>
                </a:solidFill>
                <a:latin typeface="Ubuntu" panose="020B0504030602030204" pitchFamily="34" charset="0"/>
              </a:rPr>
              <a:t>expressions</a:t>
            </a:r>
          </a:p>
        </p:txBody>
      </p:sp>
      <p:sp>
        <p:nvSpPr>
          <p:cNvPr id="45" name="TextBox 3">
            <a:extLst>
              <a:ext uri="{FF2B5EF4-FFF2-40B4-BE49-F238E27FC236}">
                <a16:creationId xmlns:a16="http://schemas.microsoft.com/office/drawing/2014/main" id="{2B03FFEE-3F94-F5BB-24E4-4BCB228DFAD3}"/>
              </a:ext>
            </a:extLst>
          </p:cNvPr>
          <p:cNvSpPr txBox="1"/>
          <p:nvPr/>
        </p:nvSpPr>
        <p:spPr>
          <a:xfrm>
            <a:off x="702122" y="2226880"/>
            <a:ext cx="22768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i="1" noProof="0" dirty="0">
                <a:solidFill>
                  <a:srgbClr val="ED7D31"/>
                </a:solidFill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C[  ]</a:t>
            </a:r>
          </a:p>
        </p:txBody>
      </p:sp>
      <p:sp>
        <p:nvSpPr>
          <p:cNvPr id="46" name="TextBox 3">
            <a:extLst>
              <a:ext uri="{FF2B5EF4-FFF2-40B4-BE49-F238E27FC236}">
                <a16:creationId xmlns:a16="http://schemas.microsoft.com/office/drawing/2014/main" id="{B5FFE85C-63D1-8459-6EBF-6BC87A130122}"/>
              </a:ext>
            </a:extLst>
          </p:cNvPr>
          <p:cNvSpPr txBox="1"/>
          <p:nvPr/>
        </p:nvSpPr>
        <p:spPr>
          <a:xfrm>
            <a:off x="4407767" y="2217397"/>
            <a:ext cx="22768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i="1" noProof="0" dirty="0">
                <a:solidFill>
                  <a:srgbClr val="ED7D31"/>
                </a:solidFill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C[  ]</a:t>
            </a:r>
          </a:p>
        </p:txBody>
      </p:sp>
      <p:cxnSp>
        <p:nvCxnSpPr>
          <p:cNvPr id="47" name="Straight Arrow Connector 17">
            <a:extLst>
              <a:ext uri="{FF2B5EF4-FFF2-40B4-BE49-F238E27FC236}">
                <a16:creationId xmlns:a16="http://schemas.microsoft.com/office/drawing/2014/main" id="{92C57C45-6FE6-C50C-FAFC-262CEC1C74A1}"/>
              </a:ext>
            </a:extLst>
          </p:cNvPr>
          <p:cNvCxnSpPr>
            <a:cxnSpLocks/>
          </p:cNvCxnSpPr>
          <p:nvPr/>
        </p:nvCxnSpPr>
        <p:spPr>
          <a:xfrm flipH="1" flipV="1">
            <a:off x="1972162" y="2799721"/>
            <a:ext cx="4012727" cy="78651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8" name="Egyenes összekötő 57">
            <a:extLst>
              <a:ext uri="{FF2B5EF4-FFF2-40B4-BE49-F238E27FC236}">
                <a16:creationId xmlns:a16="http://schemas.microsoft.com/office/drawing/2014/main" id="{DBF1CEE9-9A89-48AB-D614-5617F826A589}"/>
              </a:ext>
            </a:extLst>
          </p:cNvPr>
          <p:cNvCxnSpPr/>
          <p:nvPr/>
        </p:nvCxnSpPr>
        <p:spPr>
          <a:xfrm>
            <a:off x="6684622" y="738909"/>
            <a:ext cx="2302360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13">
            <a:extLst>
              <a:ext uri="{FF2B5EF4-FFF2-40B4-BE49-F238E27FC236}">
                <a16:creationId xmlns:a16="http://schemas.microsoft.com/office/drawing/2014/main" id="{AFEE0D95-5B46-33F9-701C-CD06667F35AD}"/>
              </a:ext>
            </a:extLst>
          </p:cNvPr>
          <p:cNvSpPr txBox="1"/>
          <p:nvPr/>
        </p:nvSpPr>
        <p:spPr>
          <a:xfrm rot="16200000">
            <a:off x="6656256" y="4410708"/>
            <a:ext cx="18028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noProof="0" dirty="0">
                <a:latin typeface="Ubuntu" panose="020B0504030602030204" pitchFamily="34" charset="0"/>
              </a:rPr>
              <a:t>definition</a:t>
            </a:r>
          </a:p>
        </p:txBody>
      </p:sp>
    </p:spTree>
    <p:extLst>
      <p:ext uri="{BB962C8B-B14F-4D97-AF65-F5344CB8AC3E}">
        <p14:creationId xmlns:p14="http://schemas.microsoft.com/office/powerpoint/2010/main" val="27411486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6ADFDB7-D034-2DFF-0904-5841CA2ED0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9">
            <a:extLst>
              <a:ext uri="{FF2B5EF4-FFF2-40B4-BE49-F238E27FC236}">
                <a16:creationId xmlns:a16="http://schemas.microsoft.com/office/drawing/2014/main" id="{DFB69E03-A269-FEF6-BA49-42E2D0E765B0}"/>
              </a:ext>
            </a:extLst>
          </p:cNvPr>
          <p:cNvSpPr/>
          <p:nvPr/>
        </p:nvSpPr>
        <p:spPr>
          <a:xfrm>
            <a:off x="684162" y="4155115"/>
            <a:ext cx="6350507" cy="1066895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D52767FD-DBE2-88C0-C72B-147D9B833725}"/>
              </a:ext>
            </a:extLst>
          </p:cNvPr>
          <p:cNvSpPr txBox="1"/>
          <p:nvPr/>
        </p:nvSpPr>
        <p:spPr>
          <a:xfrm>
            <a:off x="1972162" y="3437008"/>
            <a:ext cx="18998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i="1" u="sng" noProof="0" dirty="0">
                <a:latin typeface="Ubuntu" panose="020B0504030602030204" pitchFamily="34" charset="0"/>
              </a:rPr>
              <a:t>is a refactoring if</a:t>
            </a:r>
          </a:p>
        </p:txBody>
      </p:sp>
      <p:sp>
        <p:nvSpPr>
          <p:cNvPr id="15" name="TextBox 9">
            <a:extLst>
              <a:ext uri="{FF2B5EF4-FFF2-40B4-BE49-F238E27FC236}">
                <a16:creationId xmlns:a16="http://schemas.microsoft.com/office/drawing/2014/main" id="{3BF3C4EE-6CA6-53BB-6306-C8B391E1F2E4}"/>
              </a:ext>
            </a:extLst>
          </p:cNvPr>
          <p:cNvSpPr txBox="1"/>
          <p:nvPr/>
        </p:nvSpPr>
        <p:spPr>
          <a:xfrm>
            <a:off x="2021185" y="4273065"/>
            <a:ext cx="5084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i="1" noProof="0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e</a:t>
            </a:r>
          </a:p>
        </p:txBody>
      </p:sp>
      <p:sp>
        <p:nvSpPr>
          <p:cNvPr id="16" name="TextBox 10">
            <a:extLst>
              <a:ext uri="{FF2B5EF4-FFF2-40B4-BE49-F238E27FC236}">
                <a16:creationId xmlns:a16="http://schemas.microsoft.com/office/drawing/2014/main" id="{474D7833-6B6D-D7C3-3756-9B14391BC69D}"/>
              </a:ext>
            </a:extLst>
          </p:cNvPr>
          <p:cNvSpPr txBox="1"/>
          <p:nvPr/>
        </p:nvSpPr>
        <p:spPr>
          <a:xfrm>
            <a:off x="4536586" y="4302075"/>
            <a:ext cx="83227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i="1" noProof="0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e</a:t>
            </a:r>
            <a:r>
              <a:rPr lang="en-GB" sz="4800" noProof="0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'</a:t>
            </a:r>
          </a:p>
        </p:txBody>
      </p:sp>
      <p:sp>
        <p:nvSpPr>
          <p:cNvPr id="17" name="TextBox 15">
            <a:extLst>
              <a:ext uri="{FF2B5EF4-FFF2-40B4-BE49-F238E27FC236}">
                <a16:creationId xmlns:a16="http://schemas.microsoft.com/office/drawing/2014/main" id="{A3C00F2D-F02E-9407-2864-3386D01902F8}"/>
              </a:ext>
            </a:extLst>
          </p:cNvPr>
          <p:cNvSpPr txBox="1"/>
          <p:nvPr/>
        </p:nvSpPr>
        <p:spPr>
          <a:xfrm>
            <a:off x="3287702" y="4199905"/>
            <a:ext cx="4908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noProof="0" dirty="0">
                <a:solidFill>
                  <a:schemeClr val="accent2"/>
                </a:solidFill>
              </a:rPr>
              <a:t>≈</a:t>
            </a:r>
          </a:p>
        </p:txBody>
      </p:sp>
      <p:cxnSp>
        <p:nvCxnSpPr>
          <p:cNvPr id="21" name="Straight Arrow Connector 28">
            <a:extLst>
              <a:ext uri="{FF2B5EF4-FFF2-40B4-BE49-F238E27FC236}">
                <a16:creationId xmlns:a16="http://schemas.microsoft.com/office/drawing/2014/main" id="{8466266D-AA04-176B-8019-52CD83E7F1E6}"/>
              </a:ext>
            </a:extLst>
          </p:cNvPr>
          <p:cNvCxnSpPr>
            <a:cxnSpLocks/>
            <a:stCxn id="22" idx="1"/>
          </p:cNvCxnSpPr>
          <p:nvPr/>
        </p:nvCxnSpPr>
        <p:spPr>
          <a:xfrm flipH="1" flipV="1">
            <a:off x="3553905" y="4902417"/>
            <a:ext cx="110171" cy="85598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2" name="TextBox 29">
            <a:extLst>
              <a:ext uri="{FF2B5EF4-FFF2-40B4-BE49-F238E27FC236}">
                <a16:creationId xmlns:a16="http://schemas.microsoft.com/office/drawing/2014/main" id="{AF95D761-391F-D919-86DA-3CFA6BB94A99}"/>
              </a:ext>
            </a:extLst>
          </p:cNvPr>
          <p:cNvSpPr txBox="1"/>
          <p:nvPr/>
        </p:nvSpPr>
        <p:spPr>
          <a:xfrm>
            <a:off x="3664076" y="5573738"/>
            <a:ext cx="50481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noProof="0" dirty="0">
                <a:solidFill>
                  <a:schemeClr val="accent2"/>
                </a:solidFill>
                <a:latin typeface="Ubuntu" panose="020B0504030602030204" pitchFamily="34" charset="0"/>
              </a:rPr>
              <a:t>congruent program equivalence in Core Erlang</a:t>
            </a:r>
          </a:p>
        </p:txBody>
      </p:sp>
      <p:cxnSp>
        <p:nvCxnSpPr>
          <p:cNvPr id="27" name="Straight Connector 4">
            <a:extLst>
              <a:ext uri="{FF2B5EF4-FFF2-40B4-BE49-F238E27FC236}">
                <a16:creationId xmlns:a16="http://schemas.microsoft.com/office/drawing/2014/main" id="{51C90CCA-D167-ABD6-7D30-56F128C1B8A9}"/>
              </a:ext>
            </a:extLst>
          </p:cNvPr>
          <p:cNvCxnSpPr>
            <a:cxnSpLocks/>
          </p:cNvCxnSpPr>
          <p:nvPr/>
        </p:nvCxnSpPr>
        <p:spPr>
          <a:xfrm>
            <a:off x="9640276" y="2334194"/>
            <a:ext cx="39787" cy="300785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6">
            <a:extLst>
              <a:ext uri="{FF2B5EF4-FFF2-40B4-BE49-F238E27FC236}">
                <a16:creationId xmlns:a16="http://schemas.microsoft.com/office/drawing/2014/main" id="{7AE619D3-E717-D142-D847-9F4B2CE01EAC}"/>
              </a:ext>
            </a:extLst>
          </p:cNvPr>
          <p:cNvCxnSpPr>
            <a:cxnSpLocks/>
          </p:cNvCxnSpPr>
          <p:nvPr/>
        </p:nvCxnSpPr>
        <p:spPr>
          <a:xfrm>
            <a:off x="7630855" y="3711696"/>
            <a:ext cx="4064437" cy="1340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TextBox 10">
            <a:extLst>
              <a:ext uri="{FF2B5EF4-FFF2-40B4-BE49-F238E27FC236}">
                <a16:creationId xmlns:a16="http://schemas.microsoft.com/office/drawing/2014/main" id="{D481DFD3-5F35-EBCF-690C-6BFB99F19FF9}"/>
              </a:ext>
            </a:extLst>
          </p:cNvPr>
          <p:cNvSpPr txBox="1"/>
          <p:nvPr/>
        </p:nvSpPr>
        <p:spPr>
          <a:xfrm>
            <a:off x="7569581" y="1864812"/>
            <a:ext cx="21900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noProof="0" dirty="0">
                <a:latin typeface="Ubuntu" panose="020B0504030602030204" pitchFamily="34" charset="0"/>
              </a:rPr>
              <a:t>static</a:t>
            </a:r>
          </a:p>
        </p:txBody>
      </p:sp>
      <p:sp>
        <p:nvSpPr>
          <p:cNvPr id="30" name="TextBox 11">
            <a:extLst>
              <a:ext uri="{FF2B5EF4-FFF2-40B4-BE49-F238E27FC236}">
                <a16:creationId xmlns:a16="http://schemas.microsoft.com/office/drawing/2014/main" id="{D0F1D7E9-C036-0800-ED48-297AD596B477}"/>
              </a:ext>
            </a:extLst>
          </p:cNvPr>
          <p:cNvSpPr txBox="1"/>
          <p:nvPr/>
        </p:nvSpPr>
        <p:spPr>
          <a:xfrm>
            <a:off x="9543674" y="1866611"/>
            <a:ext cx="21900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noProof="0" dirty="0">
                <a:latin typeface="Ubuntu" panose="020B0504030602030204" pitchFamily="34" charset="0"/>
              </a:rPr>
              <a:t>dynamic</a:t>
            </a:r>
          </a:p>
        </p:txBody>
      </p:sp>
      <p:sp>
        <p:nvSpPr>
          <p:cNvPr id="31" name="TextBox 12">
            <a:extLst>
              <a:ext uri="{FF2B5EF4-FFF2-40B4-BE49-F238E27FC236}">
                <a16:creationId xmlns:a16="http://schemas.microsoft.com/office/drawing/2014/main" id="{E285AFD4-6690-C0BF-11F9-6085C2752330}"/>
              </a:ext>
            </a:extLst>
          </p:cNvPr>
          <p:cNvSpPr txBox="1"/>
          <p:nvPr/>
        </p:nvSpPr>
        <p:spPr>
          <a:xfrm rot="16200000">
            <a:off x="6785355" y="2648970"/>
            <a:ext cx="15564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noProof="0" dirty="0">
                <a:latin typeface="Ubuntu" panose="020B0504030602030204" pitchFamily="34" charset="0"/>
              </a:rPr>
              <a:t>instance</a:t>
            </a:r>
          </a:p>
        </p:txBody>
      </p:sp>
      <p:sp>
        <p:nvSpPr>
          <p:cNvPr id="32" name="TextBox 13">
            <a:extLst>
              <a:ext uri="{FF2B5EF4-FFF2-40B4-BE49-F238E27FC236}">
                <a16:creationId xmlns:a16="http://schemas.microsoft.com/office/drawing/2014/main" id="{ED488543-5639-B4B1-B8A7-C808BDD91FB6}"/>
              </a:ext>
            </a:extLst>
          </p:cNvPr>
          <p:cNvSpPr txBox="1"/>
          <p:nvPr/>
        </p:nvSpPr>
        <p:spPr>
          <a:xfrm rot="16200000">
            <a:off x="6656256" y="4410708"/>
            <a:ext cx="18028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noProof="0" dirty="0">
                <a:latin typeface="Ubuntu" panose="020B0504030602030204" pitchFamily="34" charset="0"/>
              </a:rPr>
              <a:t>definition</a:t>
            </a:r>
          </a:p>
        </p:txBody>
      </p:sp>
      <p:sp>
        <p:nvSpPr>
          <p:cNvPr id="33" name="Oval 14">
            <a:extLst>
              <a:ext uri="{FF2B5EF4-FFF2-40B4-BE49-F238E27FC236}">
                <a16:creationId xmlns:a16="http://schemas.microsoft.com/office/drawing/2014/main" id="{424B28B5-A3D2-9AE8-4C03-408A4C8CC98D}"/>
              </a:ext>
            </a:extLst>
          </p:cNvPr>
          <p:cNvSpPr/>
          <p:nvPr/>
        </p:nvSpPr>
        <p:spPr>
          <a:xfrm>
            <a:off x="8388606" y="4302075"/>
            <a:ext cx="530327" cy="509379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latin typeface="+mj-lt"/>
            </a:endParaRPr>
          </a:p>
        </p:txBody>
      </p:sp>
      <p:sp>
        <p:nvSpPr>
          <p:cNvPr id="34" name="Oval 15">
            <a:extLst>
              <a:ext uri="{FF2B5EF4-FFF2-40B4-BE49-F238E27FC236}">
                <a16:creationId xmlns:a16="http://schemas.microsoft.com/office/drawing/2014/main" id="{EC4D9A1C-8AE5-C664-082D-82135EFEDC9E}"/>
              </a:ext>
            </a:extLst>
          </p:cNvPr>
          <p:cNvSpPr/>
          <p:nvPr/>
        </p:nvSpPr>
        <p:spPr>
          <a:xfrm>
            <a:off x="8388605" y="2763429"/>
            <a:ext cx="530327" cy="50937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latin typeface="+mj-lt"/>
            </a:endParaRPr>
          </a:p>
        </p:txBody>
      </p:sp>
      <p:sp>
        <p:nvSpPr>
          <p:cNvPr id="37" name="Rectangle: Rounded Corners 16">
            <a:extLst>
              <a:ext uri="{FF2B5EF4-FFF2-40B4-BE49-F238E27FC236}">
                <a16:creationId xmlns:a16="http://schemas.microsoft.com/office/drawing/2014/main" id="{17EC1405-6FD6-5D69-A8C8-9A2312FD22C1}"/>
              </a:ext>
            </a:extLst>
          </p:cNvPr>
          <p:cNvSpPr/>
          <p:nvPr/>
        </p:nvSpPr>
        <p:spPr>
          <a:xfrm>
            <a:off x="684162" y="2020204"/>
            <a:ext cx="6350507" cy="1066895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38" name="TextBox 3">
            <a:extLst>
              <a:ext uri="{FF2B5EF4-FFF2-40B4-BE49-F238E27FC236}">
                <a16:creationId xmlns:a16="http://schemas.microsoft.com/office/drawing/2014/main" id="{A9689766-FF05-1D18-CB2B-603CD9EEAE71}"/>
              </a:ext>
            </a:extLst>
          </p:cNvPr>
          <p:cNvSpPr txBox="1"/>
          <p:nvPr/>
        </p:nvSpPr>
        <p:spPr>
          <a:xfrm>
            <a:off x="1463689" y="2218706"/>
            <a:ext cx="5084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i="1" noProof="0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e</a:t>
            </a:r>
          </a:p>
        </p:txBody>
      </p:sp>
      <p:sp>
        <p:nvSpPr>
          <p:cNvPr id="39" name="TextBox 4">
            <a:extLst>
              <a:ext uri="{FF2B5EF4-FFF2-40B4-BE49-F238E27FC236}">
                <a16:creationId xmlns:a16="http://schemas.microsoft.com/office/drawing/2014/main" id="{8AFBA2AE-696A-016B-DEAF-2A0008AA81DB}"/>
              </a:ext>
            </a:extLst>
          </p:cNvPr>
          <p:cNvSpPr txBox="1"/>
          <p:nvPr/>
        </p:nvSpPr>
        <p:spPr>
          <a:xfrm>
            <a:off x="5182249" y="2218705"/>
            <a:ext cx="83227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i="1" noProof="0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e</a:t>
            </a:r>
            <a:r>
              <a:rPr lang="en-GB" sz="4800" noProof="0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'</a:t>
            </a:r>
          </a:p>
        </p:txBody>
      </p:sp>
      <p:cxnSp>
        <p:nvCxnSpPr>
          <p:cNvPr id="40" name="Straight Arrow Connector 6">
            <a:extLst>
              <a:ext uri="{FF2B5EF4-FFF2-40B4-BE49-F238E27FC236}">
                <a16:creationId xmlns:a16="http://schemas.microsoft.com/office/drawing/2014/main" id="{0B6C3F27-1F60-F0F6-CCB7-398917F09E00}"/>
              </a:ext>
            </a:extLst>
          </p:cNvPr>
          <p:cNvCxnSpPr>
            <a:cxnSpLocks/>
          </p:cNvCxnSpPr>
          <p:nvPr/>
        </p:nvCxnSpPr>
        <p:spPr>
          <a:xfrm>
            <a:off x="2478673" y="2634203"/>
            <a:ext cx="192909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TextBox 7">
            <a:extLst>
              <a:ext uri="{FF2B5EF4-FFF2-40B4-BE49-F238E27FC236}">
                <a16:creationId xmlns:a16="http://schemas.microsoft.com/office/drawing/2014/main" id="{C0EF713A-C281-450C-9DA3-0296C5C43CC6}"/>
              </a:ext>
            </a:extLst>
          </p:cNvPr>
          <p:cNvSpPr txBox="1"/>
          <p:nvPr/>
        </p:nvSpPr>
        <p:spPr>
          <a:xfrm>
            <a:off x="2642968" y="2264871"/>
            <a:ext cx="1725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i="1" noProof="0" dirty="0">
                <a:latin typeface="Ubuntu" panose="020B0504030602030204" pitchFamily="34" charset="0"/>
              </a:rPr>
              <a:t>transformation</a:t>
            </a:r>
          </a:p>
        </p:txBody>
      </p:sp>
      <p:cxnSp>
        <p:nvCxnSpPr>
          <p:cNvPr id="43" name="Straight Arrow Connector 18">
            <a:extLst>
              <a:ext uri="{FF2B5EF4-FFF2-40B4-BE49-F238E27FC236}">
                <a16:creationId xmlns:a16="http://schemas.microsoft.com/office/drawing/2014/main" id="{9BBDD6E9-992F-7B29-BA34-42995BC59A28}"/>
              </a:ext>
            </a:extLst>
          </p:cNvPr>
          <p:cNvCxnSpPr>
            <a:cxnSpLocks/>
            <a:stCxn id="44" idx="0"/>
          </p:cNvCxnSpPr>
          <p:nvPr/>
        </p:nvCxnSpPr>
        <p:spPr>
          <a:xfrm flipH="1" flipV="1">
            <a:off x="5693790" y="2841954"/>
            <a:ext cx="363266" cy="74428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4" name="TextBox 24">
            <a:extLst>
              <a:ext uri="{FF2B5EF4-FFF2-40B4-BE49-F238E27FC236}">
                <a16:creationId xmlns:a16="http://schemas.microsoft.com/office/drawing/2014/main" id="{32494042-DB9F-F57D-912D-589850A06EDB}"/>
              </a:ext>
            </a:extLst>
          </p:cNvPr>
          <p:cNvSpPr txBox="1"/>
          <p:nvPr/>
        </p:nvSpPr>
        <p:spPr>
          <a:xfrm>
            <a:off x="5346765" y="3586236"/>
            <a:ext cx="1420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noProof="0" dirty="0">
                <a:solidFill>
                  <a:schemeClr val="accent2"/>
                </a:solidFill>
                <a:latin typeface="Ubuntu" panose="020B0504030602030204" pitchFamily="34" charset="0"/>
              </a:rPr>
              <a:t>expressions</a:t>
            </a:r>
          </a:p>
        </p:txBody>
      </p:sp>
      <p:sp>
        <p:nvSpPr>
          <p:cNvPr id="45" name="TextBox 3">
            <a:extLst>
              <a:ext uri="{FF2B5EF4-FFF2-40B4-BE49-F238E27FC236}">
                <a16:creationId xmlns:a16="http://schemas.microsoft.com/office/drawing/2014/main" id="{ADEED10C-4126-D67A-4DAA-ECB718278D13}"/>
              </a:ext>
            </a:extLst>
          </p:cNvPr>
          <p:cNvSpPr txBox="1"/>
          <p:nvPr/>
        </p:nvSpPr>
        <p:spPr>
          <a:xfrm>
            <a:off x="702122" y="2226880"/>
            <a:ext cx="22768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i="1" noProof="0" dirty="0">
                <a:solidFill>
                  <a:srgbClr val="ED7D31"/>
                </a:solidFill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C[  ]</a:t>
            </a:r>
          </a:p>
        </p:txBody>
      </p:sp>
      <p:sp>
        <p:nvSpPr>
          <p:cNvPr id="46" name="TextBox 3">
            <a:extLst>
              <a:ext uri="{FF2B5EF4-FFF2-40B4-BE49-F238E27FC236}">
                <a16:creationId xmlns:a16="http://schemas.microsoft.com/office/drawing/2014/main" id="{6ED1EDC2-6B0D-5C8C-39A1-AF5679B94F5F}"/>
              </a:ext>
            </a:extLst>
          </p:cNvPr>
          <p:cNvSpPr txBox="1"/>
          <p:nvPr/>
        </p:nvSpPr>
        <p:spPr>
          <a:xfrm>
            <a:off x="4407767" y="2217397"/>
            <a:ext cx="22768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i="1" noProof="0" dirty="0">
                <a:solidFill>
                  <a:srgbClr val="ED7D31"/>
                </a:solidFill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C[  ]</a:t>
            </a:r>
          </a:p>
        </p:txBody>
      </p:sp>
      <p:cxnSp>
        <p:nvCxnSpPr>
          <p:cNvPr id="47" name="Straight Arrow Connector 17">
            <a:extLst>
              <a:ext uri="{FF2B5EF4-FFF2-40B4-BE49-F238E27FC236}">
                <a16:creationId xmlns:a16="http://schemas.microsoft.com/office/drawing/2014/main" id="{A196600B-FE74-6797-DDCD-B0256C7B7FBA}"/>
              </a:ext>
            </a:extLst>
          </p:cNvPr>
          <p:cNvCxnSpPr>
            <a:cxnSpLocks/>
          </p:cNvCxnSpPr>
          <p:nvPr/>
        </p:nvCxnSpPr>
        <p:spPr>
          <a:xfrm flipH="1" flipV="1">
            <a:off x="1972162" y="2799721"/>
            <a:ext cx="4012727" cy="78651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Szövegdoboz 3">
            <a:extLst>
              <a:ext uri="{FF2B5EF4-FFF2-40B4-BE49-F238E27FC236}">
                <a16:creationId xmlns:a16="http://schemas.microsoft.com/office/drawing/2014/main" id="{B1635245-65C5-043B-B04F-FAE32877DBB6}"/>
              </a:ext>
            </a:extLst>
          </p:cNvPr>
          <p:cNvSpPr txBox="1"/>
          <p:nvPr/>
        </p:nvSpPr>
        <p:spPr>
          <a:xfrm>
            <a:off x="838199" y="399495"/>
            <a:ext cx="112060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01285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Motivation: Correctness of refactoring</a:t>
            </a:r>
            <a:r>
              <a:rPr lang="hu-HU" sz="3600" dirty="0">
                <a:solidFill>
                  <a:srgbClr val="01285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hu-HU" sz="3600" dirty="0" err="1">
                <a:solidFill>
                  <a:srgbClr val="01285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optimisation</a:t>
            </a:r>
            <a:endParaRPr lang="en-US" sz="3600" dirty="0">
              <a:solidFill>
                <a:srgbClr val="012851"/>
              </a:solidFill>
              <a:latin typeface="Ubuntu" panose="020B050403060203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5" name="Egyenes összekötő 4">
            <a:extLst>
              <a:ext uri="{FF2B5EF4-FFF2-40B4-BE49-F238E27FC236}">
                <a16:creationId xmlns:a16="http://schemas.microsoft.com/office/drawing/2014/main" id="{F5D4D135-937F-2E7C-BC62-2ECE143364BC}"/>
              </a:ext>
            </a:extLst>
          </p:cNvPr>
          <p:cNvCxnSpPr/>
          <p:nvPr/>
        </p:nvCxnSpPr>
        <p:spPr>
          <a:xfrm>
            <a:off x="838200" y="1145220"/>
            <a:ext cx="10676138" cy="0"/>
          </a:xfrm>
          <a:prstGeom prst="line">
            <a:avLst/>
          </a:prstGeom>
          <a:ln>
            <a:solidFill>
              <a:srgbClr val="0128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gyenes összekötő 6">
            <a:extLst>
              <a:ext uri="{FF2B5EF4-FFF2-40B4-BE49-F238E27FC236}">
                <a16:creationId xmlns:a16="http://schemas.microsoft.com/office/drawing/2014/main" id="{B8012F29-379A-BFF0-A4BB-066B50ED3BB7}"/>
              </a:ext>
            </a:extLst>
          </p:cNvPr>
          <p:cNvCxnSpPr/>
          <p:nvPr/>
        </p:nvCxnSpPr>
        <p:spPr>
          <a:xfrm>
            <a:off x="6684622" y="738909"/>
            <a:ext cx="2302360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32559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100"/>
          <p:cNvSpPr/>
          <p:nvPr/>
        </p:nvSpPr>
        <p:spPr>
          <a:xfrm>
            <a:off x="1983100" y="87133"/>
            <a:ext cx="8489600" cy="4532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hu" dirty="0"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  <a:sym typeface="Ubuntu Light"/>
              </a:rPr>
              <a:t>https://github.com/erlang/otp/blob/master/lib/compiler/src/sys_core_fold.erl</a:t>
            </a:r>
            <a:endParaRPr dirty="0">
              <a:latin typeface="Ubuntu" panose="020B0504030602030204" pitchFamily="34" charset="0"/>
              <a:ea typeface="Open Sans" panose="020B0606030504020204" pitchFamily="34" charset="0"/>
              <a:cs typeface="Open Sans" panose="020B0606030504020204" pitchFamily="34" charset="0"/>
              <a:sym typeface="Ubuntu Light"/>
            </a:endParaRPr>
          </a:p>
        </p:txBody>
      </p:sp>
      <p:pic>
        <p:nvPicPr>
          <p:cNvPr id="763" name="Google Shape;763;p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83101" y="634733"/>
            <a:ext cx="8489639" cy="6159800"/>
          </a:xfrm>
          <a:prstGeom prst="rect">
            <a:avLst/>
          </a:prstGeom>
          <a:noFill/>
          <a:ln>
            <a:noFill/>
          </a:ln>
        </p:spPr>
      </p:pic>
      <p:sp>
        <p:nvSpPr>
          <p:cNvPr id="765" name="Google Shape;765;p100"/>
          <p:cNvSpPr/>
          <p:nvPr/>
        </p:nvSpPr>
        <p:spPr>
          <a:xfrm>
            <a:off x="1966067" y="635100"/>
            <a:ext cx="8506800" cy="6160000"/>
          </a:xfrm>
          <a:prstGeom prst="roundRect">
            <a:avLst>
              <a:gd name="adj" fmla="val 103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>
              <a:latin typeface="Ubuntu" panose="020B0504030602030204" pitchFamily="34" charset="0"/>
              <a:ea typeface="Ubuntu Light"/>
              <a:cs typeface="Ubuntu Light"/>
              <a:sym typeface="Ubuntu Ligh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zövegdoboz 2">
            <a:extLst>
              <a:ext uri="{FF2B5EF4-FFF2-40B4-BE49-F238E27FC236}">
                <a16:creationId xmlns:a16="http://schemas.microsoft.com/office/drawing/2014/main" id="{11DD2953-3B3C-412C-83B3-53E08D6E6A91}"/>
              </a:ext>
            </a:extLst>
          </p:cNvPr>
          <p:cNvSpPr txBox="1"/>
          <p:nvPr/>
        </p:nvSpPr>
        <p:spPr>
          <a:xfrm>
            <a:off x="838200" y="399495"/>
            <a:ext cx="10515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600" noProof="0" dirty="0">
                <a:solidFill>
                  <a:srgbClr val="01285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</a:t>
            </a:r>
            <a:r>
              <a:rPr lang="hu-HU" sz="3600" noProof="0" dirty="0" err="1">
                <a:solidFill>
                  <a:srgbClr val="01285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target</a:t>
            </a:r>
            <a:r>
              <a:rPr lang="hu-HU" sz="3600" noProof="0" dirty="0">
                <a:solidFill>
                  <a:srgbClr val="01285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hu-HU" sz="3600" noProof="0" dirty="0" err="1">
                <a:solidFill>
                  <a:srgbClr val="01285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language</a:t>
            </a:r>
            <a:r>
              <a:rPr lang="hu-HU" sz="3600" noProof="0" dirty="0">
                <a:solidFill>
                  <a:srgbClr val="01285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Core Erlang</a:t>
            </a:r>
            <a:endParaRPr lang="en-GB" sz="3600" noProof="0" dirty="0">
              <a:solidFill>
                <a:srgbClr val="012851"/>
              </a:solidFill>
              <a:latin typeface="Ubuntu" panose="020B050403060203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6" name="Egyenes összekötő 5">
            <a:extLst>
              <a:ext uri="{FF2B5EF4-FFF2-40B4-BE49-F238E27FC236}">
                <a16:creationId xmlns:a16="http://schemas.microsoft.com/office/drawing/2014/main" id="{F2B5A38B-F1A4-46E5-A546-D8DA8D39A774}"/>
              </a:ext>
            </a:extLst>
          </p:cNvPr>
          <p:cNvCxnSpPr/>
          <p:nvPr/>
        </p:nvCxnSpPr>
        <p:spPr>
          <a:xfrm>
            <a:off x="838200" y="1145220"/>
            <a:ext cx="10676138" cy="0"/>
          </a:xfrm>
          <a:prstGeom prst="line">
            <a:avLst/>
          </a:prstGeom>
          <a:ln>
            <a:solidFill>
              <a:srgbClr val="0128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Kép 1">
            <a:extLst>
              <a:ext uri="{FF2B5EF4-FFF2-40B4-BE49-F238E27FC236}">
                <a16:creationId xmlns:a16="http://schemas.microsoft.com/office/drawing/2014/main" id="{9FBB3178-23EC-6AC2-53EC-C271197860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2419" y="5842318"/>
            <a:ext cx="818182" cy="720000"/>
          </a:xfrm>
          <a:prstGeom prst="rect">
            <a:avLst/>
          </a:prstGeom>
        </p:spPr>
      </p:pic>
      <p:pic>
        <p:nvPicPr>
          <p:cNvPr id="4" name="Kép 3">
            <a:extLst>
              <a:ext uri="{FF2B5EF4-FFF2-40B4-BE49-F238E27FC236}">
                <a16:creationId xmlns:a16="http://schemas.microsoft.com/office/drawing/2014/main" id="{34F60095-9D7D-1114-6511-9D1F91C8CD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5842318"/>
            <a:ext cx="729114" cy="720000"/>
          </a:xfrm>
          <a:prstGeom prst="rect">
            <a:avLst/>
          </a:prstGeom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6F2E1E31-F898-2283-515F-36152322FF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9758" y="5842318"/>
            <a:ext cx="720000" cy="720000"/>
          </a:xfrm>
          <a:prstGeom prst="rect">
            <a:avLst/>
          </a:prstGeo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79676083-4D4E-3D0E-E68A-F39A1D2C4E3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2078" y="5838979"/>
            <a:ext cx="720000" cy="720000"/>
          </a:xfrm>
          <a:prstGeom prst="rect">
            <a:avLst/>
          </a:prstGeom>
        </p:spPr>
      </p:pic>
      <p:pic>
        <p:nvPicPr>
          <p:cNvPr id="8" name="Kép 7">
            <a:extLst>
              <a:ext uri="{FF2B5EF4-FFF2-40B4-BE49-F238E27FC236}">
                <a16:creationId xmlns:a16="http://schemas.microsoft.com/office/drawing/2014/main" id="{4D0EAAEF-0FED-8C1A-40EB-18CFC4047CD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1235" y="5797317"/>
            <a:ext cx="1440000" cy="810000"/>
          </a:xfrm>
          <a:prstGeom prst="rect">
            <a:avLst/>
          </a:prstGeom>
        </p:spPr>
      </p:pic>
      <p:pic>
        <p:nvPicPr>
          <p:cNvPr id="9" name="Kép 8" descr="A képen szöveg, épület látható&#10;&#10;Automatikusan generált leírás">
            <a:extLst>
              <a:ext uri="{FF2B5EF4-FFF2-40B4-BE49-F238E27FC236}">
                <a16:creationId xmlns:a16="http://schemas.microsoft.com/office/drawing/2014/main" id="{1A48D8FB-504A-ACBD-4EEC-9154A168426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2269" y="5875045"/>
            <a:ext cx="1440000" cy="654545"/>
          </a:xfrm>
          <a:prstGeom prst="rect">
            <a:avLst/>
          </a:prstGeom>
        </p:spPr>
      </p:pic>
      <p:pic>
        <p:nvPicPr>
          <p:cNvPr id="10" name="Ábra 9">
            <a:extLst>
              <a:ext uri="{FF2B5EF4-FFF2-40B4-BE49-F238E27FC236}">
                <a16:creationId xmlns:a16="http://schemas.microsoft.com/office/drawing/2014/main" id="{D6627EEB-8507-FA6C-2C4B-A3BBDC2DD86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065224" y="5974734"/>
            <a:ext cx="1440000" cy="365167"/>
          </a:xfrm>
          <a:prstGeom prst="rect">
            <a:avLst/>
          </a:prstGeom>
        </p:spPr>
      </p:pic>
      <p:sp>
        <p:nvSpPr>
          <p:cNvPr id="11" name="Téglalap: lekerekített 10">
            <a:extLst>
              <a:ext uri="{FF2B5EF4-FFF2-40B4-BE49-F238E27FC236}">
                <a16:creationId xmlns:a16="http://schemas.microsoft.com/office/drawing/2014/main" id="{2B5DD8AB-4205-0E5C-A719-5DFC6E0F6723}"/>
              </a:ext>
            </a:extLst>
          </p:cNvPr>
          <p:cNvSpPr>
            <a:spLocks noChangeAspect="1"/>
          </p:cNvSpPr>
          <p:nvPr/>
        </p:nvSpPr>
        <p:spPr>
          <a:xfrm>
            <a:off x="722274" y="3493359"/>
            <a:ext cx="2379070" cy="1150955"/>
          </a:xfrm>
          <a:prstGeom prst="round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noProof="0" dirty="0">
                <a:solidFill>
                  <a:srgbClr val="012851"/>
                </a:solidFill>
                <a:latin typeface="Ubuntu" panose="020B0504030602030204" pitchFamily="34" charset="0"/>
              </a:rPr>
              <a:t>Erlang source code</a:t>
            </a:r>
          </a:p>
        </p:txBody>
      </p:sp>
      <p:sp>
        <p:nvSpPr>
          <p:cNvPr id="12" name="Téglalap: lekerekített 11">
            <a:extLst>
              <a:ext uri="{FF2B5EF4-FFF2-40B4-BE49-F238E27FC236}">
                <a16:creationId xmlns:a16="http://schemas.microsoft.com/office/drawing/2014/main" id="{AA0208F6-D3FE-411A-7BF5-41AE06153698}"/>
              </a:ext>
            </a:extLst>
          </p:cNvPr>
          <p:cNvSpPr>
            <a:spLocks noChangeAspect="1"/>
          </p:cNvSpPr>
          <p:nvPr/>
        </p:nvSpPr>
        <p:spPr>
          <a:xfrm>
            <a:off x="3467592" y="3489232"/>
            <a:ext cx="2612539" cy="1155082"/>
          </a:xfrm>
          <a:prstGeom prst="round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noProof="0" dirty="0">
                <a:solidFill>
                  <a:srgbClr val="012851"/>
                </a:solidFill>
                <a:latin typeface="Ubuntu" panose="020B0504030602030204" pitchFamily="34" charset="0"/>
              </a:rPr>
              <a:t>Erlang Abstract Format</a:t>
            </a:r>
          </a:p>
        </p:txBody>
      </p:sp>
      <p:sp>
        <p:nvSpPr>
          <p:cNvPr id="13" name="Téglalap: lekerekített 12">
            <a:extLst>
              <a:ext uri="{FF2B5EF4-FFF2-40B4-BE49-F238E27FC236}">
                <a16:creationId xmlns:a16="http://schemas.microsoft.com/office/drawing/2014/main" id="{9E29AFDF-E147-337A-111B-8F8F50BB3B8A}"/>
              </a:ext>
            </a:extLst>
          </p:cNvPr>
          <p:cNvSpPr>
            <a:spLocks noChangeAspect="1"/>
          </p:cNvSpPr>
          <p:nvPr/>
        </p:nvSpPr>
        <p:spPr>
          <a:xfrm>
            <a:off x="6446379" y="3489232"/>
            <a:ext cx="2216159" cy="1142049"/>
          </a:xfrm>
          <a:prstGeom prst="round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noProof="0" dirty="0">
                <a:solidFill>
                  <a:srgbClr val="012851"/>
                </a:solidFill>
                <a:latin typeface="Ubuntu" panose="020B0504030602030204" pitchFamily="34" charset="0"/>
              </a:rPr>
              <a:t>Core Erlang</a:t>
            </a:r>
          </a:p>
        </p:txBody>
      </p:sp>
      <p:sp>
        <p:nvSpPr>
          <p:cNvPr id="14" name="Téglalap: lekerekített 13">
            <a:extLst>
              <a:ext uri="{FF2B5EF4-FFF2-40B4-BE49-F238E27FC236}">
                <a16:creationId xmlns:a16="http://schemas.microsoft.com/office/drawing/2014/main" id="{F95B920B-59E6-7685-6258-174DB2638654}"/>
              </a:ext>
            </a:extLst>
          </p:cNvPr>
          <p:cNvSpPr>
            <a:spLocks noChangeAspect="1"/>
          </p:cNvSpPr>
          <p:nvPr/>
        </p:nvSpPr>
        <p:spPr>
          <a:xfrm>
            <a:off x="9028786" y="3485886"/>
            <a:ext cx="2476438" cy="1145396"/>
          </a:xfrm>
          <a:prstGeom prst="round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noProof="0" dirty="0">
                <a:solidFill>
                  <a:srgbClr val="012851"/>
                </a:solidFill>
                <a:latin typeface="Ubuntu" panose="020B0504030602030204" pitchFamily="34" charset="0"/>
              </a:rPr>
              <a:t>BEAM VM bytecode</a:t>
            </a:r>
          </a:p>
        </p:txBody>
      </p:sp>
      <p:sp>
        <p:nvSpPr>
          <p:cNvPr id="15" name="Ellipszis 14">
            <a:extLst>
              <a:ext uri="{FF2B5EF4-FFF2-40B4-BE49-F238E27FC236}">
                <a16:creationId xmlns:a16="http://schemas.microsoft.com/office/drawing/2014/main" id="{FC1D86E6-C405-577C-BD71-650C0A85960F}"/>
              </a:ext>
            </a:extLst>
          </p:cNvPr>
          <p:cNvSpPr>
            <a:spLocks noChangeAspect="1"/>
          </p:cNvSpPr>
          <p:nvPr/>
        </p:nvSpPr>
        <p:spPr>
          <a:xfrm>
            <a:off x="6016477" y="3192093"/>
            <a:ext cx="3033560" cy="1713956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noProof="0" dirty="0">
              <a:solidFill>
                <a:srgbClr val="012851"/>
              </a:solidFill>
              <a:latin typeface="Ubuntu" panose="020B0504030602030204" pitchFamily="34" charset="0"/>
            </a:endParaRPr>
          </a:p>
        </p:txBody>
      </p:sp>
      <p:cxnSp>
        <p:nvCxnSpPr>
          <p:cNvPr id="16" name="Egyenes összekötő nyíllal 15">
            <a:extLst>
              <a:ext uri="{FF2B5EF4-FFF2-40B4-BE49-F238E27FC236}">
                <a16:creationId xmlns:a16="http://schemas.microsoft.com/office/drawing/2014/main" id="{58B9793B-66A9-4E5F-5A40-BF5015EF1D74}"/>
              </a:ext>
            </a:extLst>
          </p:cNvPr>
          <p:cNvCxnSpPr>
            <a:cxnSpLocks noChangeAspect="1"/>
            <a:stCxn id="11" idx="3"/>
            <a:endCxn id="12" idx="1"/>
          </p:cNvCxnSpPr>
          <p:nvPr/>
        </p:nvCxnSpPr>
        <p:spPr>
          <a:xfrm flipV="1">
            <a:off x="3101344" y="4066773"/>
            <a:ext cx="366248" cy="2064"/>
          </a:xfrm>
          <a:prstGeom prst="straightConnector1">
            <a:avLst/>
          </a:prstGeom>
          <a:ln w="19050" cap="flat" cmpd="sng" algn="ctr">
            <a:solidFill>
              <a:srgbClr val="385D8A"/>
            </a:solidFill>
            <a:prstDash val="solid"/>
            <a:round/>
            <a:headEnd type="none" w="med" len="med"/>
            <a:tailEnd type="triangle" w="lg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Egyenes összekötő nyíllal 16">
            <a:extLst>
              <a:ext uri="{FF2B5EF4-FFF2-40B4-BE49-F238E27FC236}">
                <a16:creationId xmlns:a16="http://schemas.microsoft.com/office/drawing/2014/main" id="{5C600841-B12A-B572-40AB-F88D4C18A022}"/>
              </a:ext>
            </a:extLst>
          </p:cNvPr>
          <p:cNvCxnSpPr>
            <a:cxnSpLocks noChangeAspect="1"/>
            <a:stCxn id="12" idx="3"/>
            <a:endCxn id="13" idx="1"/>
          </p:cNvCxnSpPr>
          <p:nvPr/>
        </p:nvCxnSpPr>
        <p:spPr>
          <a:xfrm flipV="1">
            <a:off x="6080131" y="4060257"/>
            <a:ext cx="366248" cy="6516"/>
          </a:xfrm>
          <a:prstGeom prst="straightConnector1">
            <a:avLst/>
          </a:prstGeom>
          <a:ln w="19050" cap="flat" cmpd="sng" algn="ctr">
            <a:solidFill>
              <a:srgbClr val="385D8A"/>
            </a:solidFill>
            <a:prstDash val="solid"/>
            <a:round/>
            <a:headEnd type="none" w="med" len="med"/>
            <a:tailEnd type="triangle" w="lg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" name="Egyenes összekötő nyíllal 17">
            <a:extLst>
              <a:ext uri="{FF2B5EF4-FFF2-40B4-BE49-F238E27FC236}">
                <a16:creationId xmlns:a16="http://schemas.microsoft.com/office/drawing/2014/main" id="{1B01A861-8622-EB92-AD21-14987262B4DA}"/>
              </a:ext>
            </a:extLst>
          </p:cNvPr>
          <p:cNvCxnSpPr>
            <a:cxnSpLocks noChangeAspect="1"/>
            <a:stCxn id="13" idx="3"/>
            <a:endCxn id="14" idx="1"/>
          </p:cNvCxnSpPr>
          <p:nvPr/>
        </p:nvCxnSpPr>
        <p:spPr>
          <a:xfrm flipV="1">
            <a:off x="8662538" y="4058584"/>
            <a:ext cx="366248" cy="1673"/>
          </a:xfrm>
          <a:prstGeom prst="straightConnector1">
            <a:avLst/>
          </a:prstGeom>
          <a:ln w="19050" cap="flat" cmpd="sng" algn="ctr">
            <a:solidFill>
              <a:srgbClr val="385D8A"/>
            </a:solidFill>
            <a:prstDash val="solid"/>
            <a:round/>
            <a:headEnd type="none" w="med" len="med"/>
            <a:tailEnd type="triangle" w="lg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9" name="Téglalap: lekerekített 18">
            <a:extLst>
              <a:ext uri="{FF2B5EF4-FFF2-40B4-BE49-F238E27FC236}">
                <a16:creationId xmlns:a16="http://schemas.microsoft.com/office/drawing/2014/main" id="{5D5994C8-1B91-92B4-1AA4-2AE847306913}"/>
              </a:ext>
            </a:extLst>
          </p:cNvPr>
          <p:cNvSpPr>
            <a:spLocks noChangeAspect="1"/>
          </p:cNvSpPr>
          <p:nvPr/>
        </p:nvSpPr>
        <p:spPr>
          <a:xfrm>
            <a:off x="3952078" y="2254381"/>
            <a:ext cx="1650957" cy="564396"/>
          </a:xfrm>
          <a:prstGeom prst="round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noProof="0" dirty="0">
                <a:solidFill>
                  <a:srgbClr val="012851"/>
                </a:solidFill>
                <a:latin typeface="Ubuntu" panose="020B0504030602030204" pitchFamily="34" charset="0"/>
              </a:rPr>
              <a:t>Elixir</a:t>
            </a:r>
          </a:p>
        </p:txBody>
      </p:sp>
      <p:cxnSp>
        <p:nvCxnSpPr>
          <p:cNvPr id="20" name="Egyenes összekötő nyíllal 19">
            <a:extLst>
              <a:ext uri="{FF2B5EF4-FFF2-40B4-BE49-F238E27FC236}">
                <a16:creationId xmlns:a16="http://schemas.microsoft.com/office/drawing/2014/main" id="{3B09FAAD-995D-52B8-9BC9-AC0482D01265}"/>
              </a:ext>
            </a:extLst>
          </p:cNvPr>
          <p:cNvCxnSpPr>
            <a:cxnSpLocks noChangeAspect="1"/>
            <a:stCxn id="19" idx="2"/>
            <a:endCxn id="12" idx="0"/>
          </p:cNvCxnSpPr>
          <p:nvPr/>
        </p:nvCxnSpPr>
        <p:spPr>
          <a:xfrm flipH="1">
            <a:off x="4773862" y="2818777"/>
            <a:ext cx="3695" cy="670455"/>
          </a:xfrm>
          <a:prstGeom prst="straightConnector1">
            <a:avLst/>
          </a:prstGeom>
          <a:ln w="19050" cap="flat" cmpd="sng" algn="ctr">
            <a:solidFill>
              <a:srgbClr val="385D8A"/>
            </a:solidFill>
            <a:prstDash val="solid"/>
            <a:round/>
            <a:headEnd type="none" w="med" len="med"/>
            <a:tailEnd type="triangle" w="lg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1" name="Téglalap: lekerekített 20">
            <a:extLst>
              <a:ext uri="{FF2B5EF4-FFF2-40B4-BE49-F238E27FC236}">
                <a16:creationId xmlns:a16="http://schemas.microsoft.com/office/drawing/2014/main" id="{C1B85B54-C892-6811-6F29-C9DB7E3ED7EA}"/>
              </a:ext>
            </a:extLst>
          </p:cNvPr>
          <p:cNvSpPr>
            <a:spLocks noChangeAspect="1"/>
          </p:cNvSpPr>
          <p:nvPr/>
        </p:nvSpPr>
        <p:spPr>
          <a:xfrm>
            <a:off x="1086330" y="2253722"/>
            <a:ext cx="1650957" cy="564396"/>
          </a:xfrm>
          <a:prstGeom prst="round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noProof="0" dirty="0">
                <a:solidFill>
                  <a:srgbClr val="012851"/>
                </a:solidFill>
                <a:latin typeface="Ubuntu" panose="020B0504030602030204" pitchFamily="34" charset="0"/>
              </a:rPr>
              <a:t>Gleam</a:t>
            </a:r>
          </a:p>
        </p:txBody>
      </p:sp>
      <p:cxnSp>
        <p:nvCxnSpPr>
          <p:cNvPr id="22" name="Egyenes összekötő nyíllal 21">
            <a:extLst>
              <a:ext uri="{FF2B5EF4-FFF2-40B4-BE49-F238E27FC236}">
                <a16:creationId xmlns:a16="http://schemas.microsoft.com/office/drawing/2014/main" id="{F75B4D07-AF20-3A42-E7FF-0A4F6AE74893}"/>
              </a:ext>
            </a:extLst>
          </p:cNvPr>
          <p:cNvCxnSpPr>
            <a:cxnSpLocks noChangeAspect="1"/>
            <a:stCxn id="21" idx="2"/>
            <a:endCxn id="11" idx="0"/>
          </p:cNvCxnSpPr>
          <p:nvPr/>
        </p:nvCxnSpPr>
        <p:spPr>
          <a:xfrm>
            <a:off x="1911809" y="2818118"/>
            <a:ext cx="0" cy="675241"/>
          </a:xfrm>
          <a:prstGeom prst="straightConnector1">
            <a:avLst/>
          </a:prstGeom>
          <a:ln w="19050" cap="flat" cmpd="sng" algn="ctr">
            <a:solidFill>
              <a:srgbClr val="385D8A"/>
            </a:solidFill>
            <a:prstDash val="solid"/>
            <a:round/>
            <a:headEnd type="none" w="med" len="med"/>
            <a:tailEnd type="triangle" w="lg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3" name="Téglalap: lekerekített 22">
            <a:extLst>
              <a:ext uri="{FF2B5EF4-FFF2-40B4-BE49-F238E27FC236}">
                <a16:creationId xmlns:a16="http://schemas.microsoft.com/office/drawing/2014/main" id="{603A8AE5-E043-C484-3EDB-C5281720B8C2}"/>
              </a:ext>
            </a:extLst>
          </p:cNvPr>
          <p:cNvSpPr>
            <a:spLocks noChangeAspect="1"/>
          </p:cNvSpPr>
          <p:nvPr/>
        </p:nvSpPr>
        <p:spPr>
          <a:xfrm>
            <a:off x="6728979" y="2253722"/>
            <a:ext cx="1650957" cy="564396"/>
          </a:xfrm>
          <a:prstGeom prst="round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noProof="0" dirty="0">
                <a:solidFill>
                  <a:srgbClr val="012851"/>
                </a:solidFill>
                <a:latin typeface="Ubuntu" panose="020B0504030602030204" pitchFamily="34" charset="0"/>
              </a:rPr>
              <a:t>LFE</a:t>
            </a:r>
          </a:p>
        </p:txBody>
      </p:sp>
      <p:cxnSp>
        <p:nvCxnSpPr>
          <p:cNvPr id="24" name="Egyenes összekötő nyíllal 23">
            <a:extLst>
              <a:ext uri="{FF2B5EF4-FFF2-40B4-BE49-F238E27FC236}">
                <a16:creationId xmlns:a16="http://schemas.microsoft.com/office/drawing/2014/main" id="{83ED5944-C2C4-68A4-5093-1A7A55C23BAC}"/>
              </a:ext>
            </a:extLst>
          </p:cNvPr>
          <p:cNvCxnSpPr>
            <a:cxnSpLocks noChangeAspect="1"/>
            <a:stCxn id="23" idx="2"/>
            <a:endCxn id="13" idx="0"/>
          </p:cNvCxnSpPr>
          <p:nvPr/>
        </p:nvCxnSpPr>
        <p:spPr>
          <a:xfrm>
            <a:off x="7554458" y="2818118"/>
            <a:ext cx="1" cy="671114"/>
          </a:xfrm>
          <a:prstGeom prst="straightConnector1">
            <a:avLst/>
          </a:prstGeom>
          <a:ln w="19050" cap="flat" cmpd="sng" algn="ctr">
            <a:solidFill>
              <a:srgbClr val="385D8A"/>
            </a:solidFill>
            <a:prstDash val="solid"/>
            <a:round/>
            <a:headEnd type="none" w="med" len="med"/>
            <a:tailEnd type="triangle" w="lg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8359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9" grpId="0" animBg="1"/>
      <p:bldP spid="21" grpId="0" animBg="1"/>
      <p:bldP spid="2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A8F698-1A91-C41B-3E6A-74C4C4FF2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zövegdoboz 2">
            <a:extLst>
              <a:ext uri="{FF2B5EF4-FFF2-40B4-BE49-F238E27FC236}">
                <a16:creationId xmlns:a16="http://schemas.microsoft.com/office/drawing/2014/main" id="{579402CF-5926-80A9-210E-A4F468517DAE}"/>
              </a:ext>
            </a:extLst>
          </p:cNvPr>
          <p:cNvSpPr txBox="1"/>
          <p:nvPr/>
        </p:nvSpPr>
        <p:spPr>
          <a:xfrm>
            <a:off x="838200" y="399495"/>
            <a:ext cx="10515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noProof="0" dirty="0">
                <a:solidFill>
                  <a:srgbClr val="01285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Function closures</a:t>
            </a:r>
          </a:p>
        </p:txBody>
      </p:sp>
      <p:cxnSp>
        <p:nvCxnSpPr>
          <p:cNvPr id="6" name="Egyenes összekötő 5">
            <a:extLst>
              <a:ext uri="{FF2B5EF4-FFF2-40B4-BE49-F238E27FC236}">
                <a16:creationId xmlns:a16="http://schemas.microsoft.com/office/drawing/2014/main" id="{EAA160D2-FE53-B11D-A8EE-40F68C4DB880}"/>
              </a:ext>
            </a:extLst>
          </p:cNvPr>
          <p:cNvCxnSpPr/>
          <p:nvPr/>
        </p:nvCxnSpPr>
        <p:spPr>
          <a:xfrm>
            <a:off x="838200" y="1145220"/>
            <a:ext cx="10676138" cy="0"/>
          </a:xfrm>
          <a:prstGeom prst="line">
            <a:avLst/>
          </a:prstGeom>
          <a:ln>
            <a:solidFill>
              <a:srgbClr val="0128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zövegdoboz 8">
            <a:extLst>
              <a:ext uri="{FF2B5EF4-FFF2-40B4-BE49-F238E27FC236}">
                <a16:creationId xmlns:a16="http://schemas.microsoft.com/office/drawing/2014/main" id="{3ECCE34A-9661-2C4E-02CC-BFC9B2AC2C6D}"/>
              </a:ext>
            </a:extLst>
          </p:cNvPr>
          <p:cNvSpPr txBox="1"/>
          <p:nvPr/>
        </p:nvSpPr>
        <p:spPr>
          <a:xfrm>
            <a:off x="4108011" y="2920671"/>
            <a:ext cx="609750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noProof="0" dirty="0">
                <a:solidFill>
                  <a:srgbClr val="0070C0"/>
                </a:solidFill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let</a:t>
            </a:r>
            <a:r>
              <a:rPr lang="en-GB" sz="2400" noProof="0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 X = 42 </a:t>
            </a:r>
            <a:r>
              <a:rPr lang="en-GB" sz="2400" b="1" noProof="0" dirty="0">
                <a:solidFill>
                  <a:srgbClr val="0070C0"/>
                </a:solidFill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in</a:t>
            </a:r>
          </a:p>
          <a:p>
            <a:r>
              <a:rPr lang="en-GB" sz="2400" noProof="0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  </a:t>
            </a:r>
            <a:r>
              <a:rPr lang="en-GB" sz="2400" b="1" noProof="0" dirty="0">
                <a:solidFill>
                  <a:srgbClr val="0070C0"/>
                </a:solidFill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let</a:t>
            </a:r>
            <a:r>
              <a:rPr lang="en-GB" sz="2400" noProof="0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 F = </a:t>
            </a:r>
            <a:r>
              <a:rPr lang="en-GB" sz="2400" b="1" noProof="0" dirty="0">
                <a:solidFill>
                  <a:srgbClr val="0070C0"/>
                </a:solidFill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fun</a:t>
            </a:r>
            <a:r>
              <a:rPr lang="en-GB" sz="2400" noProof="0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() -&gt; X </a:t>
            </a:r>
            <a:r>
              <a:rPr lang="en-GB" sz="2400" b="1" noProof="0" dirty="0">
                <a:solidFill>
                  <a:srgbClr val="0070C0"/>
                </a:solidFill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in</a:t>
            </a:r>
          </a:p>
          <a:p>
            <a:r>
              <a:rPr lang="en-GB" sz="2400" noProof="0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    </a:t>
            </a:r>
            <a:r>
              <a:rPr lang="en-GB" sz="2400" b="1" noProof="0" dirty="0">
                <a:solidFill>
                  <a:srgbClr val="0070C0"/>
                </a:solidFill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let</a:t>
            </a:r>
            <a:r>
              <a:rPr lang="en-GB" sz="2400" noProof="0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 X = 0 </a:t>
            </a:r>
            <a:r>
              <a:rPr lang="en-GB" sz="2400" b="1" noProof="0" dirty="0">
                <a:solidFill>
                  <a:srgbClr val="0070C0"/>
                </a:solidFill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in</a:t>
            </a:r>
          </a:p>
          <a:p>
            <a:r>
              <a:rPr lang="en-GB" sz="2400" noProof="0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      </a:t>
            </a:r>
            <a:r>
              <a:rPr lang="en-GB" sz="2400" b="1" noProof="0" dirty="0">
                <a:solidFill>
                  <a:srgbClr val="0070C0"/>
                </a:solidFill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apply</a:t>
            </a:r>
            <a:r>
              <a:rPr lang="en-GB" sz="2400" noProof="0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 F()</a:t>
            </a:r>
          </a:p>
        </p:txBody>
      </p:sp>
    </p:spTree>
    <p:extLst>
      <p:ext uri="{BB962C8B-B14F-4D97-AF65-F5344CB8AC3E}">
        <p14:creationId xmlns:p14="http://schemas.microsoft.com/office/powerpoint/2010/main" val="3994080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701A9-96BA-72B8-DA15-2A6D69A02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zövegdoboz 2">
            <a:extLst>
              <a:ext uri="{FF2B5EF4-FFF2-40B4-BE49-F238E27FC236}">
                <a16:creationId xmlns:a16="http://schemas.microsoft.com/office/drawing/2014/main" id="{3A854F7D-6C04-DA9A-3248-E1F17DCAB801}"/>
              </a:ext>
            </a:extLst>
          </p:cNvPr>
          <p:cNvSpPr txBox="1"/>
          <p:nvPr/>
        </p:nvSpPr>
        <p:spPr>
          <a:xfrm>
            <a:off x="838200" y="399495"/>
            <a:ext cx="10515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noProof="0" dirty="0">
                <a:solidFill>
                  <a:srgbClr val="01285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Frame stack semantics</a:t>
            </a:r>
          </a:p>
        </p:txBody>
      </p:sp>
      <p:cxnSp>
        <p:nvCxnSpPr>
          <p:cNvPr id="6" name="Egyenes összekötő 5">
            <a:extLst>
              <a:ext uri="{FF2B5EF4-FFF2-40B4-BE49-F238E27FC236}">
                <a16:creationId xmlns:a16="http://schemas.microsoft.com/office/drawing/2014/main" id="{191D24F8-D022-E7AD-54C1-BDCF8817E571}"/>
              </a:ext>
            </a:extLst>
          </p:cNvPr>
          <p:cNvCxnSpPr/>
          <p:nvPr/>
        </p:nvCxnSpPr>
        <p:spPr>
          <a:xfrm>
            <a:off x="838200" y="1145220"/>
            <a:ext cx="10676138" cy="0"/>
          </a:xfrm>
          <a:prstGeom prst="line">
            <a:avLst/>
          </a:prstGeom>
          <a:ln>
            <a:solidFill>
              <a:srgbClr val="0128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Kép 4" descr="A képen képernyőkép, szöveg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29FD4C6C-CA77-6160-7C8B-558A47FE2DA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88924"/>
          <a:stretch>
            <a:fillRect/>
          </a:stretch>
        </p:blipFill>
        <p:spPr>
          <a:xfrm>
            <a:off x="1659731" y="1750685"/>
            <a:ext cx="8872537" cy="521457"/>
          </a:xfrm>
          <a:prstGeom prst="rect">
            <a:avLst/>
          </a:prstGeom>
        </p:spPr>
      </p:pic>
      <p:pic>
        <p:nvPicPr>
          <p:cNvPr id="7" name="Kép 6" descr="A képen képernyőkép, szöveg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14C100CE-124D-77FB-E6A6-1546DEAD0E7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077" b="77847"/>
          <a:stretch>
            <a:fillRect/>
          </a:stretch>
        </p:blipFill>
        <p:spPr>
          <a:xfrm>
            <a:off x="1659731" y="2272141"/>
            <a:ext cx="8872537" cy="521457"/>
          </a:xfrm>
          <a:prstGeom prst="rect">
            <a:avLst/>
          </a:prstGeom>
        </p:spPr>
      </p:pic>
      <p:pic>
        <p:nvPicPr>
          <p:cNvPr id="4" name="Kép 3">
            <a:extLst>
              <a:ext uri="{FF2B5EF4-FFF2-40B4-BE49-F238E27FC236}">
                <a16:creationId xmlns:a16="http://schemas.microsoft.com/office/drawing/2014/main" id="{5CB622B7-16AB-AF25-90AC-7B58377756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8549" y="1257500"/>
            <a:ext cx="9235440" cy="50260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21601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7B5203-080C-8D68-77CA-4BD1C860F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zövegdoboz 2">
            <a:extLst>
              <a:ext uri="{FF2B5EF4-FFF2-40B4-BE49-F238E27FC236}">
                <a16:creationId xmlns:a16="http://schemas.microsoft.com/office/drawing/2014/main" id="{3677F018-76B2-FFA3-90F2-D6967F5F930C}"/>
              </a:ext>
            </a:extLst>
          </p:cNvPr>
          <p:cNvSpPr txBox="1"/>
          <p:nvPr/>
        </p:nvSpPr>
        <p:spPr>
          <a:xfrm>
            <a:off x="838200" y="399495"/>
            <a:ext cx="10515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noProof="0" dirty="0">
                <a:solidFill>
                  <a:srgbClr val="01285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Frame stack semantics</a:t>
            </a:r>
          </a:p>
        </p:txBody>
      </p:sp>
      <p:cxnSp>
        <p:nvCxnSpPr>
          <p:cNvPr id="6" name="Egyenes összekötő 5">
            <a:extLst>
              <a:ext uri="{FF2B5EF4-FFF2-40B4-BE49-F238E27FC236}">
                <a16:creationId xmlns:a16="http://schemas.microsoft.com/office/drawing/2014/main" id="{8C5C6604-DA07-B8FE-52C3-45E578612D4C}"/>
              </a:ext>
            </a:extLst>
          </p:cNvPr>
          <p:cNvCxnSpPr/>
          <p:nvPr/>
        </p:nvCxnSpPr>
        <p:spPr>
          <a:xfrm>
            <a:off x="838200" y="1145220"/>
            <a:ext cx="10676138" cy="0"/>
          </a:xfrm>
          <a:prstGeom prst="line">
            <a:avLst/>
          </a:prstGeom>
          <a:ln>
            <a:solidFill>
              <a:srgbClr val="0128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Kép 4" descr="A képen képernyőkép, szöveg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7996FE41-A6E7-C5E8-F958-57D46414F4C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88924"/>
          <a:stretch>
            <a:fillRect/>
          </a:stretch>
        </p:blipFill>
        <p:spPr>
          <a:xfrm>
            <a:off x="1659731" y="1750685"/>
            <a:ext cx="8872537" cy="521457"/>
          </a:xfrm>
          <a:prstGeom prst="rect">
            <a:avLst/>
          </a:prstGeom>
        </p:spPr>
      </p:pic>
      <p:pic>
        <p:nvPicPr>
          <p:cNvPr id="7" name="Kép 6" descr="A képen képernyőkép, szöveg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7C8495C1-140A-89F9-9FCA-343A94B9503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077" b="77847"/>
          <a:stretch>
            <a:fillRect/>
          </a:stretch>
        </p:blipFill>
        <p:spPr>
          <a:xfrm>
            <a:off x="1659731" y="2272141"/>
            <a:ext cx="8872537" cy="521457"/>
          </a:xfrm>
          <a:prstGeom prst="rect">
            <a:avLst/>
          </a:prstGeom>
        </p:spPr>
      </p:pic>
      <p:pic>
        <p:nvPicPr>
          <p:cNvPr id="8" name="Kép 7" descr="A képen képernyőkép, szöveg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87D6C45B-F1F0-62A2-1D7D-5824F0B21AF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2153" b="68911"/>
          <a:stretch>
            <a:fillRect/>
          </a:stretch>
        </p:blipFill>
        <p:spPr>
          <a:xfrm>
            <a:off x="1659731" y="2793598"/>
            <a:ext cx="8872537" cy="420658"/>
          </a:xfrm>
          <a:prstGeom prst="rect">
            <a:avLst/>
          </a:prstGeom>
        </p:spPr>
      </p:pic>
      <p:pic>
        <p:nvPicPr>
          <p:cNvPr id="2" name="Kép 1">
            <a:extLst>
              <a:ext uri="{FF2B5EF4-FFF2-40B4-BE49-F238E27FC236}">
                <a16:creationId xmlns:a16="http://schemas.microsoft.com/office/drawing/2014/main" id="{6712F635-044D-9F85-55B9-C484B68D1B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256" y="1258430"/>
            <a:ext cx="10516025" cy="52145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542932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B105CE-A5EA-DF8B-9612-7AE698512E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zövegdoboz 2">
            <a:extLst>
              <a:ext uri="{FF2B5EF4-FFF2-40B4-BE49-F238E27FC236}">
                <a16:creationId xmlns:a16="http://schemas.microsoft.com/office/drawing/2014/main" id="{51887E35-0525-4BDC-0517-54072763D511}"/>
              </a:ext>
            </a:extLst>
          </p:cNvPr>
          <p:cNvSpPr txBox="1"/>
          <p:nvPr/>
        </p:nvSpPr>
        <p:spPr>
          <a:xfrm>
            <a:off x="838200" y="399495"/>
            <a:ext cx="10515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noProof="0" dirty="0">
                <a:solidFill>
                  <a:srgbClr val="01285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Frame stack semantics</a:t>
            </a:r>
          </a:p>
        </p:txBody>
      </p:sp>
      <p:cxnSp>
        <p:nvCxnSpPr>
          <p:cNvPr id="6" name="Egyenes összekötő 5">
            <a:extLst>
              <a:ext uri="{FF2B5EF4-FFF2-40B4-BE49-F238E27FC236}">
                <a16:creationId xmlns:a16="http://schemas.microsoft.com/office/drawing/2014/main" id="{2F943F03-55B2-086B-E6CF-3DA4089A4599}"/>
              </a:ext>
            </a:extLst>
          </p:cNvPr>
          <p:cNvCxnSpPr/>
          <p:nvPr/>
        </p:nvCxnSpPr>
        <p:spPr>
          <a:xfrm>
            <a:off x="838200" y="1145220"/>
            <a:ext cx="10676138" cy="0"/>
          </a:xfrm>
          <a:prstGeom prst="line">
            <a:avLst/>
          </a:prstGeom>
          <a:ln>
            <a:solidFill>
              <a:srgbClr val="0128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Kép 4" descr="A képen képernyőkép, szöveg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153245DA-8E40-3ECC-1FF9-AA36EDEE5A1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88924"/>
          <a:stretch>
            <a:fillRect/>
          </a:stretch>
        </p:blipFill>
        <p:spPr>
          <a:xfrm>
            <a:off x="1659731" y="1750685"/>
            <a:ext cx="8872537" cy="521457"/>
          </a:xfrm>
          <a:prstGeom prst="rect">
            <a:avLst/>
          </a:prstGeom>
        </p:spPr>
      </p:pic>
      <p:pic>
        <p:nvPicPr>
          <p:cNvPr id="7" name="Kép 6" descr="A képen képernyőkép, szöveg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B6A04254-1994-341D-2E72-587C9A98523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077" b="77847"/>
          <a:stretch>
            <a:fillRect/>
          </a:stretch>
        </p:blipFill>
        <p:spPr>
          <a:xfrm>
            <a:off x="1659731" y="2272141"/>
            <a:ext cx="8872537" cy="521457"/>
          </a:xfrm>
          <a:prstGeom prst="rect">
            <a:avLst/>
          </a:prstGeom>
        </p:spPr>
      </p:pic>
      <p:pic>
        <p:nvPicPr>
          <p:cNvPr id="8" name="Kép 7" descr="A képen képernyőkép, szöveg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D30D79E3-26C9-8001-42B0-5D49B44845B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2153" b="68911"/>
          <a:stretch>
            <a:fillRect/>
          </a:stretch>
        </p:blipFill>
        <p:spPr>
          <a:xfrm>
            <a:off x="1659731" y="2793598"/>
            <a:ext cx="8872537" cy="420658"/>
          </a:xfrm>
          <a:prstGeom prst="rect">
            <a:avLst/>
          </a:prstGeom>
        </p:spPr>
      </p:pic>
      <p:pic>
        <p:nvPicPr>
          <p:cNvPr id="9" name="Kép 8" descr="A képen képernyőkép, szöveg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99841CC8-CC0E-8987-4E85-892C455CC14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0211" b="50854"/>
          <a:stretch>
            <a:fillRect/>
          </a:stretch>
        </p:blipFill>
        <p:spPr>
          <a:xfrm>
            <a:off x="1659731" y="3643745"/>
            <a:ext cx="8872537" cy="420658"/>
          </a:xfrm>
          <a:prstGeom prst="rect">
            <a:avLst/>
          </a:prstGeom>
        </p:spPr>
      </p:pic>
      <p:pic>
        <p:nvPicPr>
          <p:cNvPr id="10" name="Kép 9" descr="A képen képernyőkép, szöveg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0122783E-445D-D011-63C8-7C3F08A3928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1088" b="59977"/>
          <a:stretch>
            <a:fillRect/>
          </a:stretch>
        </p:blipFill>
        <p:spPr>
          <a:xfrm>
            <a:off x="1659731" y="3214255"/>
            <a:ext cx="8872537" cy="420659"/>
          </a:xfrm>
          <a:prstGeom prst="rect">
            <a:avLst/>
          </a:prstGeom>
        </p:spPr>
      </p:pic>
      <p:pic>
        <p:nvPicPr>
          <p:cNvPr id="11" name="Kép 10" descr="A képen képernyőkép, szöveg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3FC4D201-0CC5-6DB0-1618-FCDA27C7A64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9334" b="41731"/>
          <a:stretch>
            <a:fillRect/>
          </a:stretch>
        </p:blipFill>
        <p:spPr>
          <a:xfrm>
            <a:off x="1659731" y="4073234"/>
            <a:ext cx="8872537" cy="420658"/>
          </a:xfrm>
          <a:prstGeom prst="rect">
            <a:avLst/>
          </a:prstGeom>
        </p:spPr>
      </p:pic>
      <p:pic>
        <p:nvPicPr>
          <p:cNvPr id="13" name="Kép 12" descr="A képen képernyőkép, szöveg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2D397089-0BBE-A450-12F8-964C3F2D4F7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8457" b="31047"/>
          <a:stretch>
            <a:fillRect/>
          </a:stretch>
        </p:blipFill>
        <p:spPr>
          <a:xfrm>
            <a:off x="1659731" y="4502723"/>
            <a:ext cx="8872537" cy="494150"/>
          </a:xfrm>
          <a:prstGeom prst="rect">
            <a:avLst/>
          </a:prstGeom>
        </p:spPr>
      </p:pic>
      <p:pic>
        <p:nvPicPr>
          <p:cNvPr id="14" name="Kép 13" descr="A képen képernyőkép, szöveg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7F2C669F-2304-686E-6D5D-28E38EDF147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8953" b="20551"/>
          <a:stretch>
            <a:fillRect/>
          </a:stretch>
        </p:blipFill>
        <p:spPr>
          <a:xfrm>
            <a:off x="1659731" y="4996873"/>
            <a:ext cx="8872537" cy="494150"/>
          </a:xfrm>
          <a:prstGeom prst="rect">
            <a:avLst/>
          </a:prstGeom>
        </p:spPr>
      </p:pic>
      <p:pic>
        <p:nvPicPr>
          <p:cNvPr id="15" name="Kép 14" descr="A képen képernyőkép, szöveg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984ECB7E-8612-5C86-7AD6-5B2A9A963AD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9450" b="10054"/>
          <a:stretch>
            <a:fillRect/>
          </a:stretch>
        </p:blipFill>
        <p:spPr>
          <a:xfrm>
            <a:off x="1659731" y="5491023"/>
            <a:ext cx="8872537" cy="494150"/>
          </a:xfrm>
          <a:prstGeom prst="rect">
            <a:avLst/>
          </a:prstGeom>
        </p:spPr>
      </p:pic>
      <p:pic>
        <p:nvPicPr>
          <p:cNvPr id="16" name="Kép 15" descr="A képen képernyőkép, szöveg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2B973CF3-ED2E-C95C-A29C-325B9418CA3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9504"/>
          <a:stretch>
            <a:fillRect/>
          </a:stretch>
        </p:blipFill>
        <p:spPr>
          <a:xfrm>
            <a:off x="1659731" y="5964355"/>
            <a:ext cx="8872537" cy="494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149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93BA4BE-BE09-A1EC-B748-977CD65A2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zövegdoboz 2">
            <a:extLst>
              <a:ext uri="{FF2B5EF4-FFF2-40B4-BE49-F238E27FC236}">
                <a16:creationId xmlns:a16="http://schemas.microsoft.com/office/drawing/2014/main" id="{568DA762-777B-3212-B2F8-FC2368EC6E1D}"/>
              </a:ext>
            </a:extLst>
          </p:cNvPr>
          <p:cNvSpPr txBox="1"/>
          <p:nvPr/>
        </p:nvSpPr>
        <p:spPr>
          <a:xfrm>
            <a:off x="838200" y="399495"/>
            <a:ext cx="10515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noProof="0" dirty="0">
                <a:solidFill>
                  <a:srgbClr val="01285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Frame stack semantics</a:t>
            </a:r>
          </a:p>
        </p:txBody>
      </p:sp>
      <p:cxnSp>
        <p:nvCxnSpPr>
          <p:cNvPr id="6" name="Egyenes összekötő 5">
            <a:extLst>
              <a:ext uri="{FF2B5EF4-FFF2-40B4-BE49-F238E27FC236}">
                <a16:creationId xmlns:a16="http://schemas.microsoft.com/office/drawing/2014/main" id="{D8189D52-0CB9-1833-4E25-A22429EE9B98}"/>
              </a:ext>
            </a:extLst>
          </p:cNvPr>
          <p:cNvCxnSpPr/>
          <p:nvPr/>
        </p:nvCxnSpPr>
        <p:spPr>
          <a:xfrm>
            <a:off x="838200" y="1145220"/>
            <a:ext cx="10676138" cy="0"/>
          </a:xfrm>
          <a:prstGeom prst="line">
            <a:avLst/>
          </a:prstGeom>
          <a:ln>
            <a:solidFill>
              <a:srgbClr val="0128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Kép 4" descr="A képen képernyőkép, szöveg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058C9144-38A5-1A8C-63D6-137AFE113E9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88924"/>
          <a:stretch>
            <a:fillRect/>
          </a:stretch>
        </p:blipFill>
        <p:spPr>
          <a:xfrm>
            <a:off x="1659731" y="1750685"/>
            <a:ext cx="8872537" cy="521457"/>
          </a:xfrm>
          <a:prstGeom prst="rect">
            <a:avLst/>
          </a:prstGeom>
        </p:spPr>
      </p:pic>
      <p:pic>
        <p:nvPicPr>
          <p:cNvPr id="7" name="Kép 6" descr="A képen képernyőkép, szöveg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C940897E-7801-6DC4-774E-080476E16FE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077" b="77847"/>
          <a:stretch>
            <a:fillRect/>
          </a:stretch>
        </p:blipFill>
        <p:spPr>
          <a:xfrm>
            <a:off x="1659731" y="2272141"/>
            <a:ext cx="8872537" cy="521457"/>
          </a:xfrm>
          <a:prstGeom prst="rect">
            <a:avLst/>
          </a:prstGeom>
        </p:spPr>
      </p:pic>
      <p:pic>
        <p:nvPicPr>
          <p:cNvPr id="8" name="Kép 7" descr="A képen képernyőkép, szöveg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61BC0596-52C4-C23D-3A63-C38501C08C8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2153" b="68911"/>
          <a:stretch>
            <a:fillRect/>
          </a:stretch>
        </p:blipFill>
        <p:spPr>
          <a:xfrm>
            <a:off x="1659731" y="2793598"/>
            <a:ext cx="8872537" cy="420658"/>
          </a:xfrm>
          <a:prstGeom prst="rect">
            <a:avLst/>
          </a:prstGeom>
        </p:spPr>
      </p:pic>
      <p:pic>
        <p:nvPicPr>
          <p:cNvPr id="9" name="Kép 8" descr="A képen képernyőkép, szöveg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CA058288-012B-A4DE-639B-21E7F7A93AE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0211" b="50854"/>
          <a:stretch>
            <a:fillRect/>
          </a:stretch>
        </p:blipFill>
        <p:spPr>
          <a:xfrm>
            <a:off x="1659731" y="3643745"/>
            <a:ext cx="8872537" cy="420658"/>
          </a:xfrm>
          <a:prstGeom prst="rect">
            <a:avLst/>
          </a:prstGeom>
        </p:spPr>
      </p:pic>
      <p:pic>
        <p:nvPicPr>
          <p:cNvPr id="10" name="Kép 9" descr="A képen képernyőkép, szöveg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3E26EB6D-1A6D-3A73-7988-E50FCD41352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1088" b="59977"/>
          <a:stretch>
            <a:fillRect/>
          </a:stretch>
        </p:blipFill>
        <p:spPr>
          <a:xfrm>
            <a:off x="1659731" y="3214255"/>
            <a:ext cx="8872537" cy="420659"/>
          </a:xfrm>
          <a:prstGeom prst="rect">
            <a:avLst/>
          </a:prstGeom>
        </p:spPr>
      </p:pic>
      <p:pic>
        <p:nvPicPr>
          <p:cNvPr id="11" name="Kép 10" descr="A képen képernyőkép, szöveg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AA686C7F-2958-6EA4-8309-6CF5D53AD1A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9334" b="41731"/>
          <a:stretch>
            <a:fillRect/>
          </a:stretch>
        </p:blipFill>
        <p:spPr>
          <a:xfrm>
            <a:off x="1659731" y="4073234"/>
            <a:ext cx="8872537" cy="420658"/>
          </a:xfrm>
          <a:prstGeom prst="rect">
            <a:avLst/>
          </a:prstGeom>
        </p:spPr>
      </p:pic>
      <p:pic>
        <p:nvPicPr>
          <p:cNvPr id="13" name="Kép 12" descr="A képen képernyőkép, szöveg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E9AC4EFF-7EBD-D5FB-C116-669E67AC45C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8457" b="31047"/>
          <a:stretch>
            <a:fillRect/>
          </a:stretch>
        </p:blipFill>
        <p:spPr>
          <a:xfrm>
            <a:off x="1659731" y="4502723"/>
            <a:ext cx="8872537" cy="494150"/>
          </a:xfrm>
          <a:prstGeom prst="rect">
            <a:avLst/>
          </a:prstGeom>
        </p:spPr>
      </p:pic>
      <p:pic>
        <p:nvPicPr>
          <p:cNvPr id="14" name="Kép 13" descr="A képen képernyőkép, szöveg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E44F4132-EFAD-2835-21CD-84F086E957B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8953" b="20551"/>
          <a:stretch>
            <a:fillRect/>
          </a:stretch>
        </p:blipFill>
        <p:spPr>
          <a:xfrm>
            <a:off x="1659731" y="4996873"/>
            <a:ext cx="8872537" cy="494150"/>
          </a:xfrm>
          <a:prstGeom prst="rect">
            <a:avLst/>
          </a:prstGeom>
        </p:spPr>
      </p:pic>
      <p:pic>
        <p:nvPicPr>
          <p:cNvPr id="15" name="Kép 14" descr="A képen képernyőkép, szöveg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F9449C21-561E-BB33-07A9-AABBC14FA1B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9450" b="10054"/>
          <a:stretch>
            <a:fillRect/>
          </a:stretch>
        </p:blipFill>
        <p:spPr>
          <a:xfrm>
            <a:off x="1659731" y="5491023"/>
            <a:ext cx="8872537" cy="494150"/>
          </a:xfrm>
          <a:prstGeom prst="rect">
            <a:avLst/>
          </a:prstGeom>
        </p:spPr>
      </p:pic>
      <p:pic>
        <p:nvPicPr>
          <p:cNvPr id="16" name="Kép 15" descr="A képen képernyőkép, szöveg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9EEDA60D-B4A5-984D-DEDB-028D5EBF98B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9504"/>
          <a:stretch>
            <a:fillRect/>
          </a:stretch>
        </p:blipFill>
        <p:spPr>
          <a:xfrm>
            <a:off x="1659731" y="5964355"/>
            <a:ext cx="8872537" cy="494150"/>
          </a:xfrm>
          <a:prstGeom prst="rect">
            <a:avLst/>
          </a:prstGeom>
        </p:spPr>
      </p:pic>
      <p:pic>
        <p:nvPicPr>
          <p:cNvPr id="4" name="Kép 3">
            <a:extLst>
              <a:ext uri="{FF2B5EF4-FFF2-40B4-BE49-F238E27FC236}">
                <a16:creationId xmlns:a16="http://schemas.microsoft.com/office/drawing/2014/main" id="{5A5C47B1-8FC3-696E-C536-03DD68C6BD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132" y="2288324"/>
            <a:ext cx="9235440" cy="50260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7" name="Kép 16">
            <a:extLst>
              <a:ext uri="{FF2B5EF4-FFF2-40B4-BE49-F238E27FC236}">
                <a16:creationId xmlns:a16="http://schemas.microsoft.com/office/drawing/2014/main" id="{2284ECCD-BCDB-7FF9-ED2C-2B43115C20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985" y="3901146"/>
            <a:ext cx="10516025" cy="52145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264686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7F1ECC-8913-D2FE-5C5A-957F7A635E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zövegdoboz 2">
            <a:extLst>
              <a:ext uri="{FF2B5EF4-FFF2-40B4-BE49-F238E27FC236}">
                <a16:creationId xmlns:a16="http://schemas.microsoft.com/office/drawing/2014/main" id="{F58F1010-7FB7-DB79-471F-9FBDFAECBEF4}"/>
              </a:ext>
            </a:extLst>
          </p:cNvPr>
          <p:cNvSpPr txBox="1"/>
          <p:nvPr/>
        </p:nvSpPr>
        <p:spPr>
          <a:xfrm>
            <a:off x="838200" y="399495"/>
            <a:ext cx="10515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6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Modular semantics</a:t>
            </a:r>
          </a:p>
        </p:txBody>
      </p:sp>
      <p:cxnSp>
        <p:nvCxnSpPr>
          <p:cNvPr id="6" name="Egyenes összekötő 5">
            <a:extLst>
              <a:ext uri="{FF2B5EF4-FFF2-40B4-BE49-F238E27FC236}">
                <a16:creationId xmlns:a16="http://schemas.microsoft.com/office/drawing/2014/main" id="{57DE0EF2-F530-87CE-B721-2C329FC80D9F}"/>
              </a:ext>
            </a:extLst>
          </p:cNvPr>
          <p:cNvCxnSpPr/>
          <p:nvPr/>
        </p:nvCxnSpPr>
        <p:spPr>
          <a:xfrm>
            <a:off x="838200" y="1145220"/>
            <a:ext cx="10676138" cy="0"/>
          </a:xfrm>
          <a:prstGeom prst="line">
            <a:avLst/>
          </a:prstGeom>
          <a:ln>
            <a:solidFill>
              <a:srgbClr val="0128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áblázat 2">
                <a:extLst>
                  <a:ext uri="{FF2B5EF4-FFF2-40B4-BE49-F238E27FC236}">
                    <a16:creationId xmlns:a16="http://schemas.microsoft.com/office/drawing/2014/main" id="{F8A888F7-9939-D8E8-2807-76CD0201B71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61665767"/>
                  </p:ext>
                </p:extLst>
              </p:nvPr>
            </p:nvGraphicFramePr>
            <p:xfrm>
              <a:off x="505097" y="1724298"/>
              <a:ext cx="11181806" cy="1367864"/>
            </p:xfrm>
            <a:graphic>
              <a:graphicData uri="http://schemas.openxmlformats.org/drawingml/2006/table">
                <a:tbl>
                  <a:tblPr firstRow="1" bandRow="1">
                    <a:tableStyleId>{0E3FDE45-AF77-4B5C-9715-49D594BDF05E}</a:tableStyleId>
                  </a:tblPr>
                  <a:tblGrid>
                    <a:gridCol w="3727269">
                      <a:extLst>
                        <a:ext uri="{9D8B030D-6E8A-4147-A177-3AD203B41FA5}">
                          <a16:colId xmlns:a16="http://schemas.microsoft.com/office/drawing/2014/main" val="4283619804"/>
                        </a:ext>
                      </a:extLst>
                    </a:gridCol>
                    <a:gridCol w="7454537">
                      <a:extLst>
                        <a:ext uri="{9D8B030D-6E8A-4147-A177-3AD203B41FA5}">
                          <a16:colId xmlns:a16="http://schemas.microsoft.com/office/drawing/2014/main" val="3767538111"/>
                        </a:ext>
                      </a:extLst>
                    </a:gridCol>
                  </a:tblGrid>
                  <a:tr h="683932">
                    <a:tc>
                      <a:txBody>
                        <a:bodyPr/>
                        <a:lstStyle/>
                        <a:p>
                          <a:r>
                            <a:rPr lang="en-GB" sz="2400" noProof="0" dirty="0"/>
                            <a:t>Level of the semantics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noProof="0" dirty="0"/>
                            <a:t>Formal relation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22701177"/>
                      </a:ext>
                    </a:extLst>
                  </a:tr>
                  <a:tr h="683932">
                    <a:tc>
                      <a:txBody>
                        <a:bodyPr/>
                        <a:lstStyle/>
                        <a:p>
                          <a:r>
                            <a:rPr lang="en-GB" sz="2400" noProof="0" dirty="0"/>
                            <a:t>Sequential semantics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d>
                                  <m:dPr>
                                    <m:begChr m:val="⟨"/>
                                    <m:endChr m:val="⟩"/>
                                    <m:ctrlPr>
                                      <a:rPr lang="en-GB" sz="2400" b="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GB" sz="2400" b="0" i="1" noProof="0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  <m:r>
                                      <a:rPr lang="en-GB" sz="2400" b="0" i="1" noProof="0" smtClean="0">
                                        <a:latin typeface="Cambria Math" panose="02040503050406030204" pitchFamily="18" charset="0"/>
                                      </a:rPr>
                                      <m:t>, </m:t>
                                    </m:r>
                                    <m:r>
                                      <a:rPr lang="en-GB" sz="2400" b="0" i="1" noProof="0" smtClean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</m:d>
                                <m:r>
                                  <a:rPr lang="en-GB" sz="2400" b="0" i="1" noProof="0" smtClean="0">
                                    <a:latin typeface="Cambria Math" panose="02040503050406030204" pitchFamily="18" charset="0"/>
                                  </a:rPr>
                                  <m:t>→⟨</m:t>
                                </m:r>
                                <m:r>
                                  <a:rPr lang="en-GB" sz="2400" b="0" i="1" noProof="0" smtClean="0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  <m:r>
                                  <a:rPr lang="en-GB" sz="2400" b="0" i="1" noProof="0" smtClean="0">
                                    <a:latin typeface="Cambria Math" panose="02040503050406030204" pitchFamily="18" charset="0"/>
                                  </a:rPr>
                                  <m:t>′, </m:t>
                                </m:r>
                                <m:sSup>
                                  <m:sSupPr>
                                    <m:ctrlPr>
                                      <a:rPr lang="en-GB" sz="2400" b="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2400" b="0" i="1" noProof="0" smtClean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GB" sz="2400" b="0" i="1" noProof="0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GB" sz="2400" b="0" i="1" noProof="0" smtClean="0">
                                    <a:latin typeface="Cambria Math" panose="02040503050406030204" pitchFamily="18" charset="0"/>
                                  </a:rPr>
                                  <m:t>⟩</m:t>
                                </m:r>
                              </m:oMath>
                            </m:oMathPara>
                          </a14:m>
                          <a:endParaRPr lang="en-GB" sz="2400" noProof="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15408139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áblázat 2">
                <a:extLst>
                  <a:ext uri="{FF2B5EF4-FFF2-40B4-BE49-F238E27FC236}">
                    <a16:creationId xmlns:a16="http://schemas.microsoft.com/office/drawing/2014/main" id="{F8A888F7-9939-D8E8-2807-76CD0201B71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61665767"/>
                  </p:ext>
                </p:extLst>
              </p:nvPr>
            </p:nvGraphicFramePr>
            <p:xfrm>
              <a:off x="505097" y="1724298"/>
              <a:ext cx="11181806" cy="1367864"/>
            </p:xfrm>
            <a:graphic>
              <a:graphicData uri="http://schemas.openxmlformats.org/drawingml/2006/table">
                <a:tbl>
                  <a:tblPr firstRow="1" bandRow="1">
                    <a:tableStyleId>{0E3FDE45-AF77-4B5C-9715-49D594BDF05E}</a:tableStyleId>
                  </a:tblPr>
                  <a:tblGrid>
                    <a:gridCol w="3727269">
                      <a:extLst>
                        <a:ext uri="{9D8B030D-6E8A-4147-A177-3AD203B41FA5}">
                          <a16:colId xmlns:a16="http://schemas.microsoft.com/office/drawing/2014/main" val="4283619804"/>
                        </a:ext>
                      </a:extLst>
                    </a:gridCol>
                    <a:gridCol w="7454537">
                      <a:extLst>
                        <a:ext uri="{9D8B030D-6E8A-4147-A177-3AD203B41FA5}">
                          <a16:colId xmlns:a16="http://schemas.microsoft.com/office/drawing/2014/main" val="3767538111"/>
                        </a:ext>
                      </a:extLst>
                    </a:gridCol>
                  </a:tblGrid>
                  <a:tr h="683932">
                    <a:tc>
                      <a:txBody>
                        <a:bodyPr/>
                        <a:lstStyle/>
                        <a:p>
                          <a:r>
                            <a:rPr lang="en-GB" sz="2400" noProof="0" dirty="0"/>
                            <a:t>Level of the semantics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noProof="0" dirty="0"/>
                            <a:t>Formal relation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22701177"/>
                      </a:ext>
                    </a:extLst>
                  </a:tr>
                  <a:tr h="683932">
                    <a:tc>
                      <a:txBody>
                        <a:bodyPr/>
                        <a:lstStyle/>
                        <a:p>
                          <a:r>
                            <a:rPr lang="en-GB" sz="2400" noProof="0" dirty="0"/>
                            <a:t>Sequential semantics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0000" t="-100885" r="-82" b="-354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408139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Ellipszis 1">
                <a:extLst>
                  <a:ext uri="{FF2B5EF4-FFF2-40B4-BE49-F238E27FC236}">
                    <a16:creationId xmlns:a16="http://schemas.microsoft.com/office/drawing/2014/main" id="{2FAE9C8A-E95E-AD2E-B29B-0B9787A45A02}"/>
                  </a:ext>
                </a:extLst>
              </p:cNvPr>
              <p:cNvSpPr/>
              <p:nvPr/>
            </p:nvSpPr>
            <p:spPr>
              <a:xfrm>
                <a:off x="3069565" y="3236192"/>
                <a:ext cx="961534" cy="961534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hu-HU" sz="2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sz="2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𝜄</m:t>
                          </m:r>
                        </m:e>
                        <m:sub>
                          <m:r>
                            <a:rPr lang="hu-HU" sz="2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GB" sz="2400" dirty="0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2" name="Ellipszis 1">
                <a:extLst>
                  <a:ext uri="{FF2B5EF4-FFF2-40B4-BE49-F238E27FC236}">
                    <a16:creationId xmlns:a16="http://schemas.microsoft.com/office/drawing/2014/main" id="{2FAE9C8A-E95E-AD2E-B29B-0B9787A45A0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9565" y="3236192"/>
                <a:ext cx="961534" cy="961534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rgbClr val="00206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Ellipszis 4">
                <a:extLst>
                  <a:ext uri="{FF2B5EF4-FFF2-40B4-BE49-F238E27FC236}">
                    <a16:creationId xmlns:a16="http://schemas.microsoft.com/office/drawing/2014/main" id="{102B532D-A0A8-1D33-B147-C56732957A74}"/>
                  </a:ext>
                </a:extLst>
              </p:cNvPr>
              <p:cNvSpPr/>
              <p:nvPr/>
            </p:nvSpPr>
            <p:spPr>
              <a:xfrm>
                <a:off x="5796107" y="3228382"/>
                <a:ext cx="961534" cy="961534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hu-HU" sz="2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sz="2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𝜄</m:t>
                          </m:r>
                        </m:e>
                        <m:sub>
                          <m:r>
                            <a:rPr lang="hu-HU" sz="2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sz="2400" dirty="0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5" name="Ellipszis 4">
                <a:extLst>
                  <a:ext uri="{FF2B5EF4-FFF2-40B4-BE49-F238E27FC236}">
                    <a16:creationId xmlns:a16="http://schemas.microsoft.com/office/drawing/2014/main" id="{102B532D-A0A8-1D33-B147-C56732957A7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6107" y="3228382"/>
                <a:ext cx="961534" cy="961534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28575">
                <a:solidFill>
                  <a:srgbClr val="00206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Ellipszis 6">
                <a:extLst>
                  <a:ext uri="{FF2B5EF4-FFF2-40B4-BE49-F238E27FC236}">
                    <a16:creationId xmlns:a16="http://schemas.microsoft.com/office/drawing/2014/main" id="{060155A7-AF9E-6070-4036-DE85890DB06C}"/>
                  </a:ext>
                </a:extLst>
              </p:cNvPr>
              <p:cNvSpPr/>
              <p:nvPr/>
            </p:nvSpPr>
            <p:spPr>
              <a:xfrm>
                <a:off x="4031099" y="5277733"/>
                <a:ext cx="961534" cy="961534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hu-HU" sz="2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sz="2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𝜄</m:t>
                          </m:r>
                        </m:e>
                        <m:sub>
                          <m:r>
                            <a:rPr lang="hu-HU" sz="2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sz="2400" dirty="0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7" name="Ellipszis 6">
                <a:extLst>
                  <a:ext uri="{FF2B5EF4-FFF2-40B4-BE49-F238E27FC236}">
                    <a16:creationId xmlns:a16="http://schemas.microsoft.com/office/drawing/2014/main" id="{060155A7-AF9E-6070-4036-DE85890DB06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1099" y="5277733"/>
                <a:ext cx="961534" cy="961534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rgbClr val="00206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églalap: lekerekített 7">
            <a:extLst>
              <a:ext uri="{FF2B5EF4-FFF2-40B4-BE49-F238E27FC236}">
                <a16:creationId xmlns:a16="http://schemas.microsoft.com/office/drawing/2014/main" id="{C831452D-C98E-2CF2-4D9C-3AEB3FC93881}"/>
              </a:ext>
            </a:extLst>
          </p:cNvPr>
          <p:cNvSpPr/>
          <p:nvPr/>
        </p:nvSpPr>
        <p:spPr>
          <a:xfrm>
            <a:off x="3069565" y="4391876"/>
            <a:ext cx="961534" cy="272524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 err="1">
                <a:solidFill>
                  <a:srgbClr val="002060"/>
                </a:solidFill>
              </a:rPr>
              <a:t>Mailbox</a:t>
            </a:r>
            <a:endParaRPr lang="en-GB" dirty="0">
              <a:solidFill>
                <a:srgbClr val="002060"/>
              </a:solidFill>
            </a:endParaRPr>
          </a:p>
        </p:txBody>
      </p:sp>
      <p:sp>
        <p:nvSpPr>
          <p:cNvPr id="9" name="Téglalap: lekerekített 8">
            <a:extLst>
              <a:ext uri="{FF2B5EF4-FFF2-40B4-BE49-F238E27FC236}">
                <a16:creationId xmlns:a16="http://schemas.microsoft.com/office/drawing/2014/main" id="{520466F3-6709-7845-D83D-7031E9F729E0}"/>
              </a:ext>
            </a:extLst>
          </p:cNvPr>
          <p:cNvSpPr/>
          <p:nvPr/>
        </p:nvSpPr>
        <p:spPr>
          <a:xfrm>
            <a:off x="4031099" y="6416000"/>
            <a:ext cx="961534" cy="272524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 err="1">
                <a:solidFill>
                  <a:srgbClr val="002060"/>
                </a:solidFill>
              </a:rPr>
              <a:t>Mailbox</a:t>
            </a:r>
            <a:endParaRPr lang="en-GB" dirty="0">
              <a:solidFill>
                <a:srgbClr val="002060"/>
              </a:solidFill>
            </a:endParaRPr>
          </a:p>
        </p:txBody>
      </p:sp>
      <p:sp>
        <p:nvSpPr>
          <p:cNvPr id="10" name="Téglalap: lekerekített 9">
            <a:extLst>
              <a:ext uri="{FF2B5EF4-FFF2-40B4-BE49-F238E27FC236}">
                <a16:creationId xmlns:a16="http://schemas.microsoft.com/office/drawing/2014/main" id="{3CEAEC1D-8A2E-2525-6350-95F80F46EE2B}"/>
              </a:ext>
            </a:extLst>
          </p:cNvPr>
          <p:cNvSpPr/>
          <p:nvPr/>
        </p:nvSpPr>
        <p:spPr>
          <a:xfrm>
            <a:off x="5796107" y="4391876"/>
            <a:ext cx="961534" cy="272524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 err="1">
                <a:solidFill>
                  <a:srgbClr val="002060"/>
                </a:solidFill>
              </a:rPr>
              <a:t>Mailbox</a:t>
            </a:r>
            <a:endParaRPr lang="en-GB" dirty="0">
              <a:solidFill>
                <a:srgbClr val="002060"/>
              </a:solidFill>
            </a:endParaRPr>
          </a:p>
        </p:txBody>
      </p:sp>
      <p:cxnSp>
        <p:nvCxnSpPr>
          <p:cNvPr id="11" name="Egyenes összekötő nyíllal 10">
            <a:extLst>
              <a:ext uri="{FF2B5EF4-FFF2-40B4-BE49-F238E27FC236}">
                <a16:creationId xmlns:a16="http://schemas.microsoft.com/office/drawing/2014/main" id="{C1A4AA81-843A-7E85-169E-B54043F9BC09}"/>
              </a:ext>
            </a:extLst>
          </p:cNvPr>
          <p:cNvCxnSpPr>
            <a:cxnSpLocks/>
            <a:stCxn id="2" idx="6"/>
            <a:endCxn id="10" idx="1"/>
          </p:cNvCxnSpPr>
          <p:nvPr/>
        </p:nvCxnSpPr>
        <p:spPr>
          <a:xfrm>
            <a:off x="4031099" y="3716959"/>
            <a:ext cx="1765008" cy="811179"/>
          </a:xfrm>
          <a:prstGeom prst="straightConnector1">
            <a:avLst/>
          </a:prstGeom>
          <a:ln w="28575">
            <a:solidFill>
              <a:srgbClr val="00206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Egyenes összekötő nyíllal 11">
            <a:extLst>
              <a:ext uri="{FF2B5EF4-FFF2-40B4-BE49-F238E27FC236}">
                <a16:creationId xmlns:a16="http://schemas.microsoft.com/office/drawing/2014/main" id="{F1CEBB97-3CD5-B230-18BC-DF31AA564E92}"/>
              </a:ext>
            </a:extLst>
          </p:cNvPr>
          <p:cNvCxnSpPr>
            <a:cxnSpLocks/>
            <a:stCxn id="7" idx="0"/>
            <a:endCxn id="10" idx="1"/>
          </p:cNvCxnSpPr>
          <p:nvPr/>
        </p:nvCxnSpPr>
        <p:spPr>
          <a:xfrm flipV="1">
            <a:off x="4511866" y="4528138"/>
            <a:ext cx="1284241" cy="749595"/>
          </a:xfrm>
          <a:prstGeom prst="straightConnector1">
            <a:avLst/>
          </a:prstGeom>
          <a:ln w="28575">
            <a:solidFill>
              <a:srgbClr val="00206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Egyenes összekötő nyíllal 12">
            <a:extLst>
              <a:ext uri="{FF2B5EF4-FFF2-40B4-BE49-F238E27FC236}">
                <a16:creationId xmlns:a16="http://schemas.microsoft.com/office/drawing/2014/main" id="{2E799ED5-B7E9-6C52-8300-F2F9AA72F568}"/>
              </a:ext>
            </a:extLst>
          </p:cNvPr>
          <p:cNvCxnSpPr>
            <a:cxnSpLocks/>
            <a:stCxn id="10" idx="0"/>
            <a:endCxn id="5" idx="4"/>
          </p:cNvCxnSpPr>
          <p:nvPr/>
        </p:nvCxnSpPr>
        <p:spPr>
          <a:xfrm flipV="1">
            <a:off x="6276874" y="4189916"/>
            <a:ext cx="0" cy="201960"/>
          </a:xfrm>
          <a:prstGeom prst="straightConnector1">
            <a:avLst/>
          </a:prstGeom>
          <a:ln w="28575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Egyenes összekötő nyíllal 13">
            <a:extLst>
              <a:ext uri="{FF2B5EF4-FFF2-40B4-BE49-F238E27FC236}">
                <a16:creationId xmlns:a16="http://schemas.microsoft.com/office/drawing/2014/main" id="{F332DD4E-819F-0048-FE8A-455C3BF160E5}"/>
              </a:ext>
            </a:extLst>
          </p:cNvPr>
          <p:cNvCxnSpPr>
            <a:cxnSpLocks/>
            <a:stCxn id="9" idx="0"/>
            <a:endCxn id="7" idx="4"/>
          </p:cNvCxnSpPr>
          <p:nvPr/>
        </p:nvCxnSpPr>
        <p:spPr>
          <a:xfrm flipV="1">
            <a:off x="4511866" y="6239267"/>
            <a:ext cx="0" cy="176733"/>
          </a:xfrm>
          <a:prstGeom prst="straightConnector1">
            <a:avLst/>
          </a:prstGeom>
          <a:ln w="28575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Egyenes összekötő nyíllal 14">
            <a:extLst>
              <a:ext uri="{FF2B5EF4-FFF2-40B4-BE49-F238E27FC236}">
                <a16:creationId xmlns:a16="http://schemas.microsoft.com/office/drawing/2014/main" id="{E68EC2E9-6431-F3E2-E10E-B2CCEBC63FA1}"/>
              </a:ext>
            </a:extLst>
          </p:cNvPr>
          <p:cNvCxnSpPr>
            <a:cxnSpLocks/>
            <a:stCxn id="8" idx="0"/>
            <a:endCxn id="2" idx="4"/>
          </p:cNvCxnSpPr>
          <p:nvPr/>
        </p:nvCxnSpPr>
        <p:spPr>
          <a:xfrm flipV="1">
            <a:off x="3550332" y="4197726"/>
            <a:ext cx="0" cy="194150"/>
          </a:xfrm>
          <a:prstGeom prst="straightConnector1">
            <a:avLst/>
          </a:prstGeom>
          <a:ln w="28575">
            <a:solidFill>
              <a:srgbClr val="00206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Egyenes összekötő nyíllal 15">
            <a:extLst>
              <a:ext uri="{FF2B5EF4-FFF2-40B4-BE49-F238E27FC236}">
                <a16:creationId xmlns:a16="http://schemas.microsoft.com/office/drawing/2014/main" id="{B3CE7A6A-7487-DB18-F610-AB087A29D5BE}"/>
              </a:ext>
            </a:extLst>
          </p:cNvPr>
          <p:cNvCxnSpPr>
            <a:cxnSpLocks/>
            <a:stCxn id="7" idx="0"/>
            <a:endCxn id="8" idx="2"/>
          </p:cNvCxnSpPr>
          <p:nvPr/>
        </p:nvCxnSpPr>
        <p:spPr>
          <a:xfrm flipH="1" flipV="1">
            <a:off x="3550332" y="4664400"/>
            <a:ext cx="961534" cy="613333"/>
          </a:xfrm>
          <a:prstGeom prst="straightConnector1">
            <a:avLst/>
          </a:prstGeom>
          <a:ln w="28575">
            <a:solidFill>
              <a:srgbClr val="00206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Ellipszis 16">
                <a:extLst>
                  <a:ext uri="{FF2B5EF4-FFF2-40B4-BE49-F238E27FC236}">
                    <a16:creationId xmlns:a16="http://schemas.microsoft.com/office/drawing/2014/main" id="{56709C6E-8154-018F-6B86-7798EA3AA6A2}"/>
                  </a:ext>
                </a:extLst>
              </p:cNvPr>
              <p:cNvSpPr/>
              <p:nvPr/>
            </p:nvSpPr>
            <p:spPr>
              <a:xfrm>
                <a:off x="7814973" y="5277733"/>
                <a:ext cx="961534" cy="961534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hu-HU" sz="2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sz="2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𝜄</m:t>
                          </m:r>
                        </m:e>
                        <m:sub>
                          <m:r>
                            <a:rPr lang="hu-HU" sz="2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GB" sz="2400" dirty="0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17" name="Ellipszis 16">
                <a:extLst>
                  <a:ext uri="{FF2B5EF4-FFF2-40B4-BE49-F238E27FC236}">
                    <a16:creationId xmlns:a16="http://schemas.microsoft.com/office/drawing/2014/main" id="{56709C6E-8154-018F-6B86-7798EA3AA6A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4973" y="5277733"/>
                <a:ext cx="961534" cy="961534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rgbClr val="00206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églalap: lekerekített 17">
            <a:extLst>
              <a:ext uri="{FF2B5EF4-FFF2-40B4-BE49-F238E27FC236}">
                <a16:creationId xmlns:a16="http://schemas.microsoft.com/office/drawing/2014/main" id="{F46434F8-8351-A599-FDD9-F65399AC9BF4}"/>
              </a:ext>
            </a:extLst>
          </p:cNvPr>
          <p:cNvSpPr/>
          <p:nvPr/>
        </p:nvSpPr>
        <p:spPr>
          <a:xfrm>
            <a:off x="7814973" y="6416000"/>
            <a:ext cx="961534" cy="272524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 err="1">
                <a:solidFill>
                  <a:srgbClr val="002060"/>
                </a:solidFill>
              </a:rPr>
              <a:t>Mailbox</a:t>
            </a:r>
            <a:endParaRPr lang="en-GB" dirty="0">
              <a:solidFill>
                <a:srgbClr val="002060"/>
              </a:solidFill>
            </a:endParaRPr>
          </a:p>
        </p:txBody>
      </p:sp>
      <p:cxnSp>
        <p:nvCxnSpPr>
          <p:cNvPr id="19" name="Egyenes összekötő nyíllal 18">
            <a:extLst>
              <a:ext uri="{FF2B5EF4-FFF2-40B4-BE49-F238E27FC236}">
                <a16:creationId xmlns:a16="http://schemas.microsoft.com/office/drawing/2014/main" id="{916F4EBF-C2D9-EAF3-68E9-B615E13DF6EA}"/>
              </a:ext>
            </a:extLst>
          </p:cNvPr>
          <p:cNvCxnSpPr>
            <a:cxnSpLocks/>
            <a:stCxn id="18" idx="0"/>
            <a:endCxn id="17" idx="4"/>
          </p:cNvCxnSpPr>
          <p:nvPr/>
        </p:nvCxnSpPr>
        <p:spPr>
          <a:xfrm flipV="1">
            <a:off x="8295740" y="6239267"/>
            <a:ext cx="0" cy="176733"/>
          </a:xfrm>
          <a:prstGeom prst="straightConnector1">
            <a:avLst/>
          </a:prstGeom>
          <a:ln w="28575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Ábra 19" descr="Boríték egyszínű kitöltéssel">
            <a:extLst>
              <a:ext uri="{FF2B5EF4-FFF2-40B4-BE49-F238E27FC236}">
                <a16:creationId xmlns:a16="http://schemas.microsoft.com/office/drawing/2014/main" id="{D993D5D1-0E03-20D0-770E-37435DECF20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764033" y="3653568"/>
            <a:ext cx="457200" cy="457200"/>
          </a:xfrm>
          <a:prstGeom prst="rect">
            <a:avLst/>
          </a:prstGeom>
        </p:spPr>
      </p:pic>
      <p:pic>
        <p:nvPicPr>
          <p:cNvPr id="21" name="Ábra 20" descr="Boríték egyszínű kitöltéssel">
            <a:extLst>
              <a:ext uri="{FF2B5EF4-FFF2-40B4-BE49-F238E27FC236}">
                <a16:creationId xmlns:a16="http://schemas.microsoft.com/office/drawing/2014/main" id="{2453A36D-0949-E403-D85C-40AB2C2EDD9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043645" y="4591529"/>
            <a:ext cx="457200" cy="457200"/>
          </a:xfrm>
          <a:prstGeom prst="rect">
            <a:avLst/>
          </a:prstGeom>
        </p:spPr>
      </p:pic>
      <p:pic>
        <p:nvPicPr>
          <p:cNvPr id="22" name="Ábra 21" descr="Boríték egyszínű kitöltéssel">
            <a:extLst>
              <a:ext uri="{FF2B5EF4-FFF2-40B4-BE49-F238E27FC236}">
                <a16:creationId xmlns:a16="http://schemas.microsoft.com/office/drawing/2014/main" id="{3F169055-708C-F49C-A4E8-AB8B857985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12887" y="4788115"/>
            <a:ext cx="457200" cy="457200"/>
          </a:xfrm>
          <a:prstGeom prst="rect">
            <a:avLst/>
          </a:prstGeom>
        </p:spPr>
      </p:pic>
      <p:cxnSp>
        <p:nvCxnSpPr>
          <p:cNvPr id="25" name="Egyenes összekötő nyíllal 24">
            <a:extLst>
              <a:ext uri="{FF2B5EF4-FFF2-40B4-BE49-F238E27FC236}">
                <a16:creationId xmlns:a16="http://schemas.microsoft.com/office/drawing/2014/main" id="{F2E40AA9-D3B3-43E9-F0D2-556F44E95BA0}"/>
              </a:ext>
            </a:extLst>
          </p:cNvPr>
          <p:cNvCxnSpPr/>
          <p:nvPr/>
        </p:nvCxnSpPr>
        <p:spPr>
          <a:xfrm>
            <a:off x="4992633" y="5764303"/>
            <a:ext cx="2822340" cy="0"/>
          </a:xfrm>
          <a:prstGeom prst="straightConnector1">
            <a:avLst/>
          </a:prstGeom>
          <a:ln w="28575">
            <a:solidFill>
              <a:srgbClr val="002060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Ábra 25" descr="Hivatkozás körvonalas">
            <a:extLst>
              <a:ext uri="{FF2B5EF4-FFF2-40B4-BE49-F238E27FC236}">
                <a16:creationId xmlns:a16="http://schemas.microsoft.com/office/drawing/2014/main" id="{3232BC30-9365-4C78-44CC-F89F6F1CDC3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75203" y="5307104"/>
            <a:ext cx="457199" cy="45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1332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7" grpId="0" animBg="1"/>
      <p:bldP spid="8" grpId="0" animBg="1"/>
      <p:bldP spid="9" grpId="0" animBg="1"/>
      <p:bldP spid="10" grpId="0" animBg="1"/>
      <p:bldP spid="17" grpId="0" animBg="1"/>
      <p:bldP spid="1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9A9952-648A-3517-E4CC-475A4CEF8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zövegdoboz 2">
            <a:extLst>
              <a:ext uri="{FF2B5EF4-FFF2-40B4-BE49-F238E27FC236}">
                <a16:creationId xmlns:a16="http://schemas.microsoft.com/office/drawing/2014/main" id="{F639CE6F-7E8F-6B3F-FBA7-935564C741D7}"/>
              </a:ext>
            </a:extLst>
          </p:cNvPr>
          <p:cNvSpPr txBox="1"/>
          <p:nvPr/>
        </p:nvSpPr>
        <p:spPr>
          <a:xfrm>
            <a:off x="838200" y="399495"/>
            <a:ext cx="10515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6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Modular semantics</a:t>
            </a:r>
          </a:p>
        </p:txBody>
      </p:sp>
      <p:cxnSp>
        <p:nvCxnSpPr>
          <p:cNvPr id="6" name="Egyenes összekötő 5">
            <a:extLst>
              <a:ext uri="{FF2B5EF4-FFF2-40B4-BE49-F238E27FC236}">
                <a16:creationId xmlns:a16="http://schemas.microsoft.com/office/drawing/2014/main" id="{B8437ED1-2C8A-C74A-EC4E-1300455F81F9}"/>
              </a:ext>
            </a:extLst>
          </p:cNvPr>
          <p:cNvCxnSpPr/>
          <p:nvPr/>
        </p:nvCxnSpPr>
        <p:spPr>
          <a:xfrm>
            <a:off x="838200" y="1145220"/>
            <a:ext cx="10676138" cy="0"/>
          </a:xfrm>
          <a:prstGeom prst="line">
            <a:avLst/>
          </a:prstGeom>
          <a:ln>
            <a:solidFill>
              <a:srgbClr val="0128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áblázat 2">
                <a:extLst>
                  <a:ext uri="{FF2B5EF4-FFF2-40B4-BE49-F238E27FC236}">
                    <a16:creationId xmlns:a16="http://schemas.microsoft.com/office/drawing/2014/main" id="{FFE88B13-5152-F8BB-AF17-B6E54825AC06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05097" y="1724298"/>
              <a:ext cx="11181806" cy="1367864"/>
            </p:xfrm>
            <a:graphic>
              <a:graphicData uri="http://schemas.openxmlformats.org/drawingml/2006/table">
                <a:tbl>
                  <a:tblPr firstRow="1" bandRow="1">
                    <a:tableStyleId>{0E3FDE45-AF77-4B5C-9715-49D594BDF05E}</a:tableStyleId>
                  </a:tblPr>
                  <a:tblGrid>
                    <a:gridCol w="3727269">
                      <a:extLst>
                        <a:ext uri="{9D8B030D-6E8A-4147-A177-3AD203B41FA5}">
                          <a16:colId xmlns:a16="http://schemas.microsoft.com/office/drawing/2014/main" val="4283619804"/>
                        </a:ext>
                      </a:extLst>
                    </a:gridCol>
                    <a:gridCol w="7454537">
                      <a:extLst>
                        <a:ext uri="{9D8B030D-6E8A-4147-A177-3AD203B41FA5}">
                          <a16:colId xmlns:a16="http://schemas.microsoft.com/office/drawing/2014/main" val="3767538111"/>
                        </a:ext>
                      </a:extLst>
                    </a:gridCol>
                  </a:tblGrid>
                  <a:tr h="683932">
                    <a:tc>
                      <a:txBody>
                        <a:bodyPr/>
                        <a:lstStyle/>
                        <a:p>
                          <a:r>
                            <a:rPr lang="en-GB" sz="2400" noProof="0" dirty="0"/>
                            <a:t>Level of the semantics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noProof="0" dirty="0"/>
                            <a:t>Formal relation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22701177"/>
                      </a:ext>
                    </a:extLst>
                  </a:tr>
                  <a:tr h="683932">
                    <a:tc>
                      <a:txBody>
                        <a:bodyPr/>
                        <a:lstStyle/>
                        <a:p>
                          <a:r>
                            <a:rPr lang="en-GB" sz="2400" noProof="0" dirty="0"/>
                            <a:t>Sequential semantics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d>
                                  <m:dPr>
                                    <m:begChr m:val="⟨"/>
                                    <m:endChr m:val="⟩"/>
                                    <m:ctrlPr>
                                      <a:rPr lang="en-GB" sz="2400" b="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GB" sz="2400" b="0" i="1" noProof="0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  <m:r>
                                      <a:rPr lang="en-GB" sz="2400" b="0" i="1" noProof="0" smtClean="0">
                                        <a:latin typeface="Cambria Math" panose="02040503050406030204" pitchFamily="18" charset="0"/>
                                      </a:rPr>
                                      <m:t>, </m:t>
                                    </m:r>
                                    <m:r>
                                      <a:rPr lang="en-GB" sz="2400" b="0" i="1" noProof="0" smtClean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</m:d>
                                <m:r>
                                  <a:rPr lang="en-GB" sz="2400" b="0" i="1" noProof="0" smtClean="0">
                                    <a:latin typeface="Cambria Math" panose="02040503050406030204" pitchFamily="18" charset="0"/>
                                  </a:rPr>
                                  <m:t>→⟨</m:t>
                                </m:r>
                                <m:r>
                                  <a:rPr lang="en-GB" sz="2400" b="0" i="1" noProof="0" smtClean="0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  <m:r>
                                  <a:rPr lang="en-GB" sz="2400" b="0" i="1" noProof="0" smtClean="0">
                                    <a:latin typeface="Cambria Math" panose="02040503050406030204" pitchFamily="18" charset="0"/>
                                  </a:rPr>
                                  <m:t>′, </m:t>
                                </m:r>
                                <m:sSup>
                                  <m:sSupPr>
                                    <m:ctrlPr>
                                      <a:rPr lang="en-GB" sz="2400" b="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2400" b="0" i="1" noProof="0" smtClean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GB" sz="2400" b="0" i="1" noProof="0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GB" sz="2400" b="0" i="1" noProof="0" smtClean="0">
                                    <a:latin typeface="Cambria Math" panose="02040503050406030204" pitchFamily="18" charset="0"/>
                                  </a:rPr>
                                  <m:t>⟩</m:t>
                                </m:r>
                              </m:oMath>
                            </m:oMathPara>
                          </a14:m>
                          <a:endParaRPr lang="en-GB" sz="2400" noProof="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15408139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áblázat 2">
                <a:extLst>
                  <a:ext uri="{FF2B5EF4-FFF2-40B4-BE49-F238E27FC236}">
                    <a16:creationId xmlns:a16="http://schemas.microsoft.com/office/drawing/2014/main" id="{FFE88B13-5152-F8BB-AF17-B6E54825AC06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05097" y="1724298"/>
              <a:ext cx="11181806" cy="1367864"/>
            </p:xfrm>
            <a:graphic>
              <a:graphicData uri="http://schemas.openxmlformats.org/drawingml/2006/table">
                <a:tbl>
                  <a:tblPr firstRow="1" bandRow="1">
                    <a:tableStyleId>{0E3FDE45-AF77-4B5C-9715-49D594BDF05E}</a:tableStyleId>
                  </a:tblPr>
                  <a:tblGrid>
                    <a:gridCol w="3727269">
                      <a:extLst>
                        <a:ext uri="{9D8B030D-6E8A-4147-A177-3AD203B41FA5}">
                          <a16:colId xmlns:a16="http://schemas.microsoft.com/office/drawing/2014/main" val="4283619804"/>
                        </a:ext>
                      </a:extLst>
                    </a:gridCol>
                    <a:gridCol w="7454537">
                      <a:extLst>
                        <a:ext uri="{9D8B030D-6E8A-4147-A177-3AD203B41FA5}">
                          <a16:colId xmlns:a16="http://schemas.microsoft.com/office/drawing/2014/main" val="3767538111"/>
                        </a:ext>
                      </a:extLst>
                    </a:gridCol>
                  </a:tblGrid>
                  <a:tr h="683932">
                    <a:tc>
                      <a:txBody>
                        <a:bodyPr/>
                        <a:lstStyle/>
                        <a:p>
                          <a:r>
                            <a:rPr lang="en-GB" sz="2400" noProof="0" dirty="0"/>
                            <a:t>Level of the semantics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noProof="0" dirty="0"/>
                            <a:t>Formal relation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22701177"/>
                      </a:ext>
                    </a:extLst>
                  </a:tr>
                  <a:tr h="683932">
                    <a:tc>
                      <a:txBody>
                        <a:bodyPr/>
                        <a:lstStyle/>
                        <a:p>
                          <a:r>
                            <a:rPr lang="en-GB" sz="2400" noProof="0" dirty="0"/>
                            <a:t>Sequential semantics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0000" t="-100885" r="-82" b="-354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408139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Ellipszis 1">
                <a:extLst>
                  <a:ext uri="{FF2B5EF4-FFF2-40B4-BE49-F238E27FC236}">
                    <a16:creationId xmlns:a16="http://schemas.microsoft.com/office/drawing/2014/main" id="{D2B6B078-7929-AFA4-4C68-3EAADFDBF806}"/>
                  </a:ext>
                </a:extLst>
              </p:cNvPr>
              <p:cNvSpPr/>
              <p:nvPr/>
            </p:nvSpPr>
            <p:spPr>
              <a:xfrm>
                <a:off x="3069565" y="3236192"/>
                <a:ext cx="961534" cy="961534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hu-HU" sz="2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sz="2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𝜄</m:t>
                          </m:r>
                        </m:e>
                        <m:sub>
                          <m:r>
                            <a:rPr lang="hu-HU" sz="2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GB" sz="2400" dirty="0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2" name="Ellipszis 1">
                <a:extLst>
                  <a:ext uri="{FF2B5EF4-FFF2-40B4-BE49-F238E27FC236}">
                    <a16:creationId xmlns:a16="http://schemas.microsoft.com/office/drawing/2014/main" id="{D2B6B078-7929-AFA4-4C68-3EAADFDBF80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9565" y="3236192"/>
                <a:ext cx="961534" cy="961534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rgbClr val="00206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Ellipszis 4">
                <a:extLst>
                  <a:ext uri="{FF2B5EF4-FFF2-40B4-BE49-F238E27FC236}">
                    <a16:creationId xmlns:a16="http://schemas.microsoft.com/office/drawing/2014/main" id="{3AAD29E0-455E-773C-D48D-AAF835DBFBF3}"/>
                  </a:ext>
                </a:extLst>
              </p:cNvPr>
              <p:cNvSpPr/>
              <p:nvPr/>
            </p:nvSpPr>
            <p:spPr>
              <a:xfrm>
                <a:off x="5796107" y="3228382"/>
                <a:ext cx="961534" cy="961534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hu-HU" sz="2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sz="2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𝜄</m:t>
                          </m:r>
                        </m:e>
                        <m:sub>
                          <m:r>
                            <a:rPr lang="hu-HU" sz="2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sz="2400" dirty="0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5" name="Ellipszis 4">
                <a:extLst>
                  <a:ext uri="{FF2B5EF4-FFF2-40B4-BE49-F238E27FC236}">
                    <a16:creationId xmlns:a16="http://schemas.microsoft.com/office/drawing/2014/main" id="{3AAD29E0-455E-773C-D48D-AAF835DBFBF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6107" y="3228382"/>
                <a:ext cx="961534" cy="961534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28575">
                <a:solidFill>
                  <a:srgbClr val="00206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Ellipszis 6">
                <a:extLst>
                  <a:ext uri="{FF2B5EF4-FFF2-40B4-BE49-F238E27FC236}">
                    <a16:creationId xmlns:a16="http://schemas.microsoft.com/office/drawing/2014/main" id="{031923EB-F83C-9B4B-5FDF-4E660F6EA623}"/>
                  </a:ext>
                </a:extLst>
              </p:cNvPr>
              <p:cNvSpPr/>
              <p:nvPr/>
            </p:nvSpPr>
            <p:spPr>
              <a:xfrm>
                <a:off x="4031099" y="5277733"/>
                <a:ext cx="961534" cy="961534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hu-HU" sz="2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sz="2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𝜄</m:t>
                          </m:r>
                        </m:e>
                        <m:sub>
                          <m:r>
                            <a:rPr lang="hu-HU" sz="2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sz="2400" dirty="0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7" name="Ellipszis 6">
                <a:extLst>
                  <a:ext uri="{FF2B5EF4-FFF2-40B4-BE49-F238E27FC236}">
                    <a16:creationId xmlns:a16="http://schemas.microsoft.com/office/drawing/2014/main" id="{031923EB-F83C-9B4B-5FDF-4E660F6EA62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1099" y="5277733"/>
                <a:ext cx="961534" cy="961534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rgbClr val="00206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églalap: lekerekített 7">
            <a:extLst>
              <a:ext uri="{FF2B5EF4-FFF2-40B4-BE49-F238E27FC236}">
                <a16:creationId xmlns:a16="http://schemas.microsoft.com/office/drawing/2014/main" id="{BEDD3D10-AAA5-2157-4C19-6219369EFA5B}"/>
              </a:ext>
            </a:extLst>
          </p:cNvPr>
          <p:cNvSpPr/>
          <p:nvPr/>
        </p:nvSpPr>
        <p:spPr>
          <a:xfrm>
            <a:off x="3069565" y="4391876"/>
            <a:ext cx="961534" cy="272524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 err="1">
                <a:solidFill>
                  <a:srgbClr val="002060"/>
                </a:solidFill>
              </a:rPr>
              <a:t>Mailbox</a:t>
            </a:r>
            <a:endParaRPr lang="en-GB" dirty="0">
              <a:solidFill>
                <a:srgbClr val="002060"/>
              </a:solidFill>
            </a:endParaRPr>
          </a:p>
        </p:txBody>
      </p:sp>
      <p:sp>
        <p:nvSpPr>
          <p:cNvPr id="9" name="Téglalap: lekerekített 8">
            <a:extLst>
              <a:ext uri="{FF2B5EF4-FFF2-40B4-BE49-F238E27FC236}">
                <a16:creationId xmlns:a16="http://schemas.microsoft.com/office/drawing/2014/main" id="{B25F07F2-2E5C-D77E-692B-EC3210BC850F}"/>
              </a:ext>
            </a:extLst>
          </p:cNvPr>
          <p:cNvSpPr/>
          <p:nvPr/>
        </p:nvSpPr>
        <p:spPr>
          <a:xfrm>
            <a:off x="4031099" y="6416000"/>
            <a:ext cx="961534" cy="272524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 err="1">
                <a:solidFill>
                  <a:srgbClr val="002060"/>
                </a:solidFill>
              </a:rPr>
              <a:t>Mailbox</a:t>
            </a:r>
            <a:endParaRPr lang="en-GB" dirty="0">
              <a:solidFill>
                <a:srgbClr val="002060"/>
              </a:solidFill>
            </a:endParaRPr>
          </a:p>
        </p:txBody>
      </p:sp>
      <p:sp>
        <p:nvSpPr>
          <p:cNvPr id="10" name="Téglalap: lekerekített 9">
            <a:extLst>
              <a:ext uri="{FF2B5EF4-FFF2-40B4-BE49-F238E27FC236}">
                <a16:creationId xmlns:a16="http://schemas.microsoft.com/office/drawing/2014/main" id="{6B9C7EA4-4CC4-6B2C-E251-7A9497E534A2}"/>
              </a:ext>
            </a:extLst>
          </p:cNvPr>
          <p:cNvSpPr/>
          <p:nvPr/>
        </p:nvSpPr>
        <p:spPr>
          <a:xfrm>
            <a:off x="5796107" y="4391876"/>
            <a:ext cx="961534" cy="272524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 err="1">
                <a:solidFill>
                  <a:srgbClr val="002060"/>
                </a:solidFill>
              </a:rPr>
              <a:t>Mailbox</a:t>
            </a:r>
            <a:endParaRPr lang="en-GB" dirty="0">
              <a:solidFill>
                <a:srgbClr val="002060"/>
              </a:solidFill>
            </a:endParaRPr>
          </a:p>
        </p:txBody>
      </p:sp>
      <p:cxnSp>
        <p:nvCxnSpPr>
          <p:cNvPr id="11" name="Egyenes összekötő nyíllal 10">
            <a:extLst>
              <a:ext uri="{FF2B5EF4-FFF2-40B4-BE49-F238E27FC236}">
                <a16:creationId xmlns:a16="http://schemas.microsoft.com/office/drawing/2014/main" id="{61681F1B-32AA-91BC-CDA8-800B16EB974C}"/>
              </a:ext>
            </a:extLst>
          </p:cNvPr>
          <p:cNvCxnSpPr>
            <a:cxnSpLocks/>
            <a:stCxn id="2" idx="6"/>
            <a:endCxn id="10" idx="1"/>
          </p:cNvCxnSpPr>
          <p:nvPr/>
        </p:nvCxnSpPr>
        <p:spPr>
          <a:xfrm>
            <a:off x="4031099" y="3716959"/>
            <a:ext cx="1765008" cy="811179"/>
          </a:xfrm>
          <a:prstGeom prst="straightConnector1">
            <a:avLst/>
          </a:prstGeom>
          <a:ln w="28575">
            <a:solidFill>
              <a:srgbClr val="00206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Egyenes összekötő nyíllal 11">
            <a:extLst>
              <a:ext uri="{FF2B5EF4-FFF2-40B4-BE49-F238E27FC236}">
                <a16:creationId xmlns:a16="http://schemas.microsoft.com/office/drawing/2014/main" id="{EF1DB797-F87D-155D-DEE4-44CE8C37E8D0}"/>
              </a:ext>
            </a:extLst>
          </p:cNvPr>
          <p:cNvCxnSpPr>
            <a:cxnSpLocks/>
            <a:stCxn id="7" idx="0"/>
            <a:endCxn id="10" idx="1"/>
          </p:cNvCxnSpPr>
          <p:nvPr/>
        </p:nvCxnSpPr>
        <p:spPr>
          <a:xfrm flipV="1">
            <a:off x="4511866" y="4528138"/>
            <a:ext cx="1284241" cy="749595"/>
          </a:xfrm>
          <a:prstGeom prst="straightConnector1">
            <a:avLst/>
          </a:prstGeom>
          <a:ln w="28575">
            <a:solidFill>
              <a:srgbClr val="00206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Egyenes összekötő nyíllal 12">
            <a:extLst>
              <a:ext uri="{FF2B5EF4-FFF2-40B4-BE49-F238E27FC236}">
                <a16:creationId xmlns:a16="http://schemas.microsoft.com/office/drawing/2014/main" id="{337C52FF-D6BD-0B6A-30F8-A5B088AF6D33}"/>
              </a:ext>
            </a:extLst>
          </p:cNvPr>
          <p:cNvCxnSpPr>
            <a:cxnSpLocks/>
            <a:stCxn id="10" idx="0"/>
            <a:endCxn id="5" idx="4"/>
          </p:cNvCxnSpPr>
          <p:nvPr/>
        </p:nvCxnSpPr>
        <p:spPr>
          <a:xfrm flipV="1">
            <a:off x="6276874" y="4189916"/>
            <a:ext cx="0" cy="201960"/>
          </a:xfrm>
          <a:prstGeom prst="straightConnector1">
            <a:avLst/>
          </a:prstGeom>
          <a:ln w="28575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Egyenes összekötő nyíllal 13">
            <a:extLst>
              <a:ext uri="{FF2B5EF4-FFF2-40B4-BE49-F238E27FC236}">
                <a16:creationId xmlns:a16="http://schemas.microsoft.com/office/drawing/2014/main" id="{0EBFE759-C631-43FA-FF86-B9214BB412A2}"/>
              </a:ext>
            </a:extLst>
          </p:cNvPr>
          <p:cNvCxnSpPr>
            <a:cxnSpLocks/>
            <a:stCxn id="9" idx="0"/>
            <a:endCxn id="7" idx="4"/>
          </p:cNvCxnSpPr>
          <p:nvPr/>
        </p:nvCxnSpPr>
        <p:spPr>
          <a:xfrm flipV="1">
            <a:off x="4511866" y="6239267"/>
            <a:ext cx="0" cy="176733"/>
          </a:xfrm>
          <a:prstGeom prst="straightConnector1">
            <a:avLst/>
          </a:prstGeom>
          <a:ln w="28575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Egyenes összekötő nyíllal 14">
            <a:extLst>
              <a:ext uri="{FF2B5EF4-FFF2-40B4-BE49-F238E27FC236}">
                <a16:creationId xmlns:a16="http://schemas.microsoft.com/office/drawing/2014/main" id="{31CD70B8-6E5F-8F7F-9E03-03F7A1896488}"/>
              </a:ext>
            </a:extLst>
          </p:cNvPr>
          <p:cNvCxnSpPr>
            <a:cxnSpLocks/>
            <a:stCxn id="8" idx="0"/>
            <a:endCxn id="2" idx="4"/>
          </p:cNvCxnSpPr>
          <p:nvPr/>
        </p:nvCxnSpPr>
        <p:spPr>
          <a:xfrm flipV="1">
            <a:off x="3550332" y="4197726"/>
            <a:ext cx="0" cy="194150"/>
          </a:xfrm>
          <a:prstGeom prst="straightConnector1">
            <a:avLst/>
          </a:prstGeom>
          <a:ln w="28575">
            <a:solidFill>
              <a:srgbClr val="00206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Egyenes összekötő nyíllal 15">
            <a:extLst>
              <a:ext uri="{FF2B5EF4-FFF2-40B4-BE49-F238E27FC236}">
                <a16:creationId xmlns:a16="http://schemas.microsoft.com/office/drawing/2014/main" id="{BA010A06-59C1-2DB5-9E1E-263C36649AF6}"/>
              </a:ext>
            </a:extLst>
          </p:cNvPr>
          <p:cNvCxnSpPr>
            <a:cxnSpLocks/>
            <a:stCxn id="7" idx="0"/>
            <a:endCxn id="8" idx="2"/>
          </p:cNvCxnSpPr>
          <p:nvPr/>
        </p:nvCxnSpPr>
        <p:spPr>
          <a:xfrm flipH="1" flipV="1">
            <a:off x="3550332" y="4664400"/>
            <a:ext cx="961534" cy="613333"/>
          </a:xfrm>
          <a:prstGeom prst="straightConnector1">
            <a:avLst/>
          </a:prstGeom>
          <a:ln w="28575">
            <a:solidFill>
              <a:srgbClr val="00206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Ellipszis 16">
                <a:extLst>
                  <a:ext uri="{FF2B5EF4-FFF2-40B4-BE49-F238E27FC236}">
                    <a16:creationId xmlns:a16="http://schemas.microsoft.com/office/drawing/2014/main" id="{3B0D9012-B6E3-B06E-1C80-FC4EF67922B5}"/>
                  </a:ext>
                </a:extLst>
              </p:cNvPr>
              <p:cNvSpPr/>
              <p:nvPr/>
            </p:nvSpPr>
            <p:spPr>
              <a:xfrm>
                <a:off x="7814973" y="5277733"/>
                <a:ext cx="961534" cy="961534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hu-HU" sz="2400" b="0" i="1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sz="2400" b="0" i="1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𝜄</m:t>
                          </m:r>
                        </m:e>
                        <m:sub>
                          <m:r>
                            <a:rPr lang="hu-HU" sz="2400" b="0" i="1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GB" sz="2400" dirty="0">
                  <a:solidFill>
                    <a:schemeClr val="bg1">
                      <a:lumMod val="8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7" name="Ellipszis 16">
                <a:extLst>
                  <a:ext uri="{FF2B5EF4-FFF2-40B4-BE49-F238E27FC236}">
                    <a16:creationId xmlns:a16="http://schemas.microsoft.com/office/drawing/2014/main" id="{3B0D9012-B6E3-B06E-1C80-FC4EF67922B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4973" y="5277733"/>
                <a:ext cx="961534" cy="961534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bg1">
                    <a:lumMod val="85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églalap: lekerekített 17">
            <a:extLst>
              <a:ext uri="{FF2B5EF4-FFF2-40B4-BE49-F238E27FC236}">
                <a16:creationId xmlns:a16="http://schemas.microsoft.com/office/drawing/2014/main" id="{E36F8811-FD6F-F4C1-3E8A-8C7E40FF734D}"/>
              </a:ext>
            </a:extLst>
          </p:cNvPr>
          <p:cNvSpPr/>
          <p:nvPr/>
        </p:nvSpPr>
        <p:spPr>
          <a:xfrm>
            <a:off x="7814973" y="6416000"/>
            <a:ext cx="961534" cy="272524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 err="1">
                <a:solidFill>
                  <a:schemeClr val="bg1">
                    <a:lumMod val="85000"/>
                  </a:schemeClr>
                </a:solidFill>
              </a:rPr>
              <a:t>Mailbox</a:t>
            </a:r>
            <a:endParaRPr lang="en-GB" dirty="0">
              <a:solidFill>
                <a:schemeClr val="bg1">
                  <a:lumMod val="85000"/>
                </a:schemeClr>
              </a:solidFill>
            </a:endParaRPr>
          </a:p>
        </p:txBody>
      </p:sp>
      <p:cxnSp>
        <p:nvCxnSpPr>
          <p:cNvPr id="19" name="Egyenes összekötő nyíllal 18">
            <a:extLst>
              <a:ext uri="{FF2B5EF4-FFF2-40B4-BE49-F238E27FC236}">
                <a16:creationId xmlns:a16="http://schemas.microsoft.com/office/drawing/2014/main" id="{842DB265-572F-2A3F-15E1-8E9777AC56ED}"/>
              </a:ext>
            </a:extLst>
          </p:cNvPr>
          <p:cNvCxnSpPr>
            <a:cxnSpLocks/>
            <a:stCxn id="18" idx="0"/>
            <a:endCxn id="17" idx="4"/>
          </p:cNvCxnSpPr>
          <p:nvPr/>
        </p:nvCxnSpPr>
        <p:spPr>
          <a:xfrm flipV="1">
            <a:off x="8295740" y="6239267"/>
            <a:ext cx="0" cy="176733"/>
          </a:xfrm>
          <a:prstGeom prst="straightConnector1">
            <a:avLst/>
          </a:prstGeom>
          <a:ln w="28575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Ábra 19" descr="Boríték egyszínű kitöltéssel">
            <a:extLst>
              <a:ext uri="{FF2B5EF4-FFF2-40B4-BE49-F238E27FC236}">
                <a16:creationId xmlns:a16="http://schemas.microsoft.com/office/drawing/2014/main" id="{4756EA35-4469-5A42-2721-4C350DFBEAC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764033" y="3653568"/>
            <a:ext cx="457200" cy="457200"/>
          </a:xfrm>
          <a:prstGeom prst="rect">
            <a:avLst/>
          </a:prstGeom>
        </p:spPr>
      </p:pic>
      <p:pic>
        <p:nvPicPr>
          <p:cNvPr id="21" name="Ábra 20" descr="Boríték egyszínű kitöltéssel">
            <a:extLst>
              <a:ext uri="{FF2B5EF4-FFF2-40B4-BE49-F238E27FC236}">
                <a16:creationId xmlns:a16="http://schemas.microsoft.com/office/drawing/2014/main" id="{D35A2FC7-2596-4430-4575-CBD1C16A613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043645" y="4591529"/>
            <a:ext cx="457200" cy="457200"/>
          </a:xfrm>
          <a:prstGeom prst="rect">
            <a:avLst/>
          </a:prstGeom>
        </p:spPr>
      </p:pic>
      <p:pic>
        <p:nvPicPr>
          <p:cNvPr id="22" name="Ábra 21" descr="Boríték egyszínű kitöltéssel">
            <a:extLst>
              <a:ext uri="{FF2B5EF4-FFF2-40B4-BE49-F238E27FC236}">
                <a16:creationId xmlns:a16="http://schemas.microsoft.com/office/drawing/2014/main" id="{D9EF1575-FBEA-1E16-EA6B-7429424D034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12887" y="4788115"/>
            <a:ext cx="457200" cy="457200"/>
          </a:xfrm>
          <a:prstGeom prst="rect">
            <a:avLst/>
          </a:prstGeom>
        </p:spPr>
      </p:pic>
      <p:cxnSp>
        <p:nvCxnSpPr>
          <p:cNvPr id="25" name="Egyenes összekötő nyíllal 24">
            <a:extLst>
              <a:ext uri="{FF2B5EF4-FFF2-40B4-BE49-F238E27FC236}">
                <a16:creationId xmlns:a16="http://schemas.microsoft.com/office/drawing/2014/main" id="{A8F00FCC-7A00-AEB5-5E69-54AB221DDECF}"/>
              </a:ext>
            </a:extLst>
          </p:cNvPr>
          <p:cNvCxnSpPr/>
          <p:nvPr/>
        </p:nvCxnSpPr>
        <p:spPr>
          <a:xfrm>
            <a:off x="4992633" y="5764303"/>
            <a:ext cx="2822340" cy="0"/>
          </a:xfrm>
          <a:prstGeom prst="straightConnector1">
            <a:avLst/>
          </a:prstGeom>
          <a:ln w="28575">
            <a:solidFill>
              <a:srgbClr val="002060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Ábra 25" descr="Hivatkozás körvonalas">
            <a:extLst>
              <a:ext uri="{FF2B5EF4-FFF2-40B4-BE49-F238E27FC236}">
                <a16:creationId xmlns:a16="http://schemas.microsoft.com/office/drawing/2014/main" id="{B20E3FF1-5FE2-8381-5689-0C8FD7778E8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75203" y="5307104"/>
            <a:ext cx="457199" cy="457199"/>
          </a:xfrm>
          <a:prstGeom prst="rect">
            <a:avLst/>
          </a:prstGeom>
        </p:spPr>
      </p:pic>
      <p:pic>
        <p:nvPicPr>
          <p:cNvPr id="28" name="Ábra 27" descr="Koponya egyszínű kitöltéssel">
            <a:extLst>
              <a:ext uri="{FF2B5EF4-FFF2-40B4-BE49-F238E27FC236}">
                <a16:creationId xmlns:a16="http://schemas.microsoft.com/office/drawing/2014/main" id="{FF3BDCE8-4CFF-C0D1-AECA-6C1304F2109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838540" y="5312382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6013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B21188-1B76-7030-2501-FC313DB48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zövegdoboz 2">
            <a:extLst>
              <a:ext uri="{FF2B5EF4-FFF2-40B4-BE49-F238E27FC236}">
                <a16:creationId xmlns:a16="http://schemas.microsoft.com/office/drawing/2014/main" id="{FD2A0C62-1E95-683A-EEBC-8E1B7E13BB63}"/>
              </a:ext>
            </a:extLst>
          </p:cNvPr>
          <p:cNvSpPr txBox="1"/>
          <p:nvPr/>
        </p:nvSpPr>
        <p:spPr>
          <a:xfrm>
            <a:off x="838200" y="399495"/>
            <a:ext cx="10515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6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Modular semantics</a:t>
            </a:r>
          </a:p>
        </p:txBody>
      </p:sp>
      <p:cxnSp>
        <p:nvCxnSpPr>
          <p:cNvPr id="6" name="Egyenes összekötő 5">
            <a:extLst>
              <a:ext uri="{FF2B5EF4-FFF2-40B4-BE49-F238E27FC236}">
                <a16:creationId xmlns:a16="http://schemas.microsoft.com/office/drawing/2014/main" id="{8948F470-86B0-4CF7-484D-610140D3F881}"/>
              </a:ext>
            </a:extLst>
          </p:cNvPr>
          <p:cNvCxnSpPr/>
          <p:nvPr/>
        </p:nvCxnSpPr>
        <p:spPr>
          <a:xfrm>
            <a:off x="838200" y="1145220"/>
            <a:ext cx="10676138" cy="0"/>
          </a:xfrm>
          <a:prstGeom prst="line">
            <a:avLst/>
          </a:prstGeom>
          <a:ln>
            <a:solidFill>
              <a:srgbClr val="0128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áblázat 2">
                <a:extLst>
                  <a:ext uri="{FF2B5EF4-FFF2-40B4-BE49-F238E27FC236}">
                    <a16:creationId xmlns:a16="http://schemas.microsoft.com/office/drawing/2014/main" id="{B99E3615-C52B-3F22-AF9B-17BA6B32E3C4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05097" y="1724298"/>
              <a:ext cx="11181806" cy="1367864"/>
            </p:xfrm>
            <a:graphic>
              <a:graphicData uri="http://schemas.openxmlformats.org/drawingml/2006/table">
                <a:tbl>
                  <a:tblPr firstRow="1" bandRow="1">
                    <a:tableStyleId>{0E3FDE45-AF77-4B5C-9715-49D594BDF05E}</a:tableStyleId>
                  </a:tblPr>
                  <a:tblGrid>
                    <a:gridCol w="3727269">
                      <a:extLst>
                        <a:ext uri="{9D8B030D-6E8A-4147-A177-3AD203B41FA5}">
                          <a16:colId xmlns:a16="http://schemas.microsoft.com/office/drawing/2014/main" val="4283619804"/>
                        </a:ext>
                      </a:extLst>
                    </a:gridCol>
                    <a:gridCol w="7454537">
                      <a:extLst>
                        <a:ext uri="{9D8B030D-6E8A-4147-A177-3AD203B41FA5}">
                          <a16:colId xmlns:a16="http://schemas.microsoft.com/office/drawing/2014/main" val="3767538111"/>
                        </a:ext>
                      </a:extLst>
                    </a:gridCol>
                  </a:tblGrid>
                  <a:tr h="683932">
                    <a:tc>
                      <a:txBody>
                        <a:bodyPr/>
                        <a:lstStyle/>
                        <a:p>
                          <a:r>
                            <a:rPr lang="en-GB" sz="2400" noProof="0" dirty="0"/>
                            <a:t>Level of the semantics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noProof="0" dirty="0"/>
                            <a:t>Formal relation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22701177"/>
                      </a:ext>
                    </a:extLst>
                  </a:tr>
                  <a:tr h="683932">
                    <a:tc>
                      <a:txBody>
                        <a:bodyPr/>
                        <a:lstStyle/>
                        <a:p>
                          <a:r>
                            <a:rPr lang="en-GB" sz="2400" noProof="0" dirty="0"/>
                            <a:t>Sequential semantics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d>
                                  <m:dPr>
                                    <m:begChr m:val="⟨"/>
                                    <m:endChr m:val="⟩"/>
                                    <m:ctrlPr>
                                      <a:rPr lang="en-GB" sz="2400" b="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GB" sz="2400" b="0" i="1" noProof="0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  <m:r>
                                      <a:rPr lang="en-GB" sz="2400" b="0" i="1" noProof="0" smtClean="0">
                                        <a:latin typeface="Cambria Math" panose="02040503050406030204" pitchFamily="18" charset="0"/>
                                      </a:rPr>
                                      <m:t>, </m:t>
                                    </m:r>
                                    <m:r>
                                      <a:rPr lang="en-GB" sz="2400" b="0" i="1" noProof="0" smtClean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</m:d>
                                <m:r>
                                  <a:rPr lang="en-GB" sz="2400" b="0" i="1" noProof="0" smtClean="0">
                                    <a:latin typeface="Cambria Math" panose="02040503050406030204" pitchFamily="18" charset="0"/>
                                  </a:rPr>
                                  <m:t>→⟨</m:t>
                                </m:r>
                                <m:r>
                                  <a:rPr lang="en-GB" sz="2400" b="0" i="1" noProof="0" smtClean="0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  <m:r>
                                  <a:rPr lang="en-GB" sz="2400" b="0" i="1" noProof="0" smtClean="0">
                                    <a:latin typeface="Cambria Math" panose="02040503050406030204" pitchFamily="18" charset="0"/>
                                  </a:rPr>
                                  <m:t>′, </m:t>
                                </m:r>
                                <m:sSup>
                                  <m:sSupPr>
                                    <m:ctrlPr>
                                      <a:rPr lang="en-GB" sz="2400" b="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2400" b="0" i="1" noProof="0" smtClean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GB" sz="2400" b="0" i="1" noProof="0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GB" sz="2400" b="0" i="1" noProof="0" smtClean="0">
                                    <a:latin typeface="Cambria Math" panose="02040503050406030204" pitchFamily="18" charset="0"/>
                                  </a:rPr>
                                  <m:t>⟩</m:t>
                                </m:r>
                              </m:oMath>
                            </m:oMathPara>
                          </a14:m>
                          <a:endParaRPr lang="en-GB" sz="2400" noProof="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15408139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áblázat 2">
                <a:extLst>
                  <a:ext uri="{FF2B5EF4-FFF2-40B4-BE49-F238E27FC236}">
                    <a16:creationId xmlns:a16="http://schemas.microsoft.com/office/drawing/2014/main" id="{B99E3615-C52B-3F22-AF9B-17BA6B32E3C4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05097" y="1724298"/>
              <a:ext cx="11181806" cy="1367864"/>
            </p:xfrm>
            <a:graphic>
              <a:graphicData uri="http://schemas.openxmlformats.org/drawingml/2006/table">
                <a:tbl>
                  <a:tblPr firstRow="1" bandRow="1">
                    <a:tableStyleId>{0E3FDE45-AF77-4B5C-9715-49D594BDF05E}</a:tableStyleId>
                  </a:tblPr>
                  <a:tblGrid>
                    <a:gridCol w="3727269">
                      <a:extLst>
                        <a:ext uri="{9D8B030D-6E8A-4147-A177-3AD203B41FA5}">
                          <a16:colId xmlns:a16="http://schemas.microsoft.com/office/drawing/2014/main" val="4283619804"/>
                        </a:ext>
                      </a:extLst>
                    </a:gridCol>
                    <a:gridCol w="7454537">
                      <a:extLst>
                        <a:ext uri="{9D8B030D-6E8A-4147-A177-3AD203B41FA5}">
                          <a16:colId xmlns:a16="http://schemas.microsoft.com/office/drawing/2014/main" val="3767538111"/>
                        </a:ext>
                      </a:extLst>
                    </a:gridCol>
                  </a:tblGrid>
                  <a:tr h="683932">
                    <a:tc>
                      <a:txBody>
                        <a:bodyPr/>
                        <a:lstStyle/>
                        <a:p>
                          <a:r>
                            <a:rPr lang="en-GB" sz="2400" noProof="0" dirty="0"/>
                            <a:t>Level of the semantics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noProof="0" dirty="0"/>
                            <a:t>Formal relation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22701177"/>
                      </a:ext>
                    </a:extLst>
                  </a:tr>
                  <a:tr h="683932">
                    <a:tc>
                      <a:txBody>
                        <a:bodyPr/>
                        <a:lstStyle/>
                        <a:p>
                          <a:r>
                            <a:rPr lang="en-GB" sz="2400" noProof="0" dirty="0"/>
                            <a:t>Sequential semantics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0000" t="-100885" r="-82" b="-354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408139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Ellipszis 1">
                <a:extLst>
                  <a:ext uri="{FF2B5EF4-FFF2-40B4-BE49-F238E27FC236}">
                    <a16:creationId xmlns:a16="http://schemas.microsoft.com/office/drawing/2014/main" id="{5B7B80FE-3C38-A896-4956-695584F5F1A1}"/>
                  </a:ext>
                </a:extLst>
              </p:cNvPr>
              <p:cNvSpPr/>
              <p:nvPr/>
            </p:nvSpPr>
            <p:spPr>
              <a:xfrm>
                <a:off x="3069565" y="3236192"/>
                <a:ext cx="961534" cy="961534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hu-HU" sz="2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sz="2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𝜄</m:t>
                          </m:r>
                        </m:e>
                        <m:sub>
                          <m:r>
                            <a:rPr lang="hu-HU" sz="2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GB" sz="2400" dirty="0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2" name="Ellipszis 1">
                <a:extLst>
                  <a:ext uri="{FF2B5EF4-FFF2-40B4-BE49-F238E27FC236}">
                    <a16:creationId xmlns:a16="http://schemas.microsoft.com/office/drawing/2014/main" id="{5B7B80FE-3C38-A896-4956-695584F5F1A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9565" y="3236192"/>
                <a:ext cx="961534" cy="961534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rgbClr val="00206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Ellipszis 4">
                <a:extLst>
                  <a:ext uri="{FF2B5EF4-FFF2-40B4-BE49-F238E27FC236}">
                    <a16:creationId xmlns:a16="http://schemas.microsoft.com/office/drawing/2014/main" id="{EF50B80B-74E7-B58A-A64F-3AF9406E6F29}"/>
                  </a:ext>
                </a:extLst>
              </p:cNvPr>
              <p:cNvSpPr/>
              <p:nvPr/>
            </p:nvSpPr>
            <p:spPr>
              <a:xfrm>
                <a:off x="5796107" y="3228382"/>
                <a:ext cx="961534" cy="961534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hu-HU" sz="2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sz="2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𝜄</m:t>
                          </m:r>
                        </m:e>
                        <m:sub>
                          <m:r>
                            <a:rPr lang="hu-HU" sz="2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sz="2400" dirty="0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5" name="Ellipszis 4">
                <a:extLst>
                  <a:ext uri="{FF2B5EF4-FFF2-40B4-BE49-F238E27FC236}">
                    <a16:creationId xmlns:a16="http://schemas.microsoft.com/office/drawing/2014/main" id="{EF50B80B-74E7-B58A-A64F-3AF9406E6F2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6107" y="3228382"/>
                <a:ext cx="961534" cy="961534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28575">
                <a:solidFill>
                  <a:srgbClr val="00206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Ellipszis 6">
                <a:extLst>
                  <a:ext uri="{FF2B5EF4-FFF2-40B4-BE49-F238E27FC236}">
                    <a16:creationId xmlns:a16="http://schemas.microsoft.com/office/drawing/2014/main" id="{2653776D-7B58-D132-DF9F-699FDC8F5651}"/>
                  </a:ext>
                </a:extLst>
              </p:cNvPr>
              <p:cNvSpPr/>
              <p:nvPr/>
            </p:nvSpPr>
            <p:spPr>
              <a:xfrm>
                <a:off x="4031099" y="5277733"/>
                <a:ext cx="961534" cy="961534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hu-HU" sz="2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sz="2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𝜄</m:t>
                          </m:r>
                        </m:e>
                        <m:sub>
                          <m:r>
                            <a:rPr lang="hu-HU" sz="2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sz="2400" dirty="0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7" name="Ellipszis 6">
                <a:extLst>
                  <a:ext uri="{FF2B5EF4-FFF2-40B4-BE49-F238E27FC236}">
                    <a16:creationId xmlns:a16="http://schemas.microsoft.com/office/drawing/2014/main" id="{2653776D-7B58-D132-DF9F-699FDC8F56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1099" y="5277733"/>
                <a:ext cx="961534" cy="961534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rgbClr val="00206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églalap: lekerekített 7">
            <a:extLst>
              <a:ext uri="{FF2B5EF4-FFF2-40B4-BE49-F238E27FC236}">
                <a16:creationId xmlns:a16="http://schemas.microsoft.com/office/drawing/2014/main" id="{B051571B-48BF-7F6E-B4C9-1E195175DE3C}"/>
              </a:ext>
            </a:extLst>
          </p:cNvPr>
          <p:cNvSpPr/>
          <p:nvPr/>
        </p:nvSpPr>
        <p:spPr>
          <a:xfrm>
            <a:off x="3069565" y="4391876"/>
            <a:ext cx="961534" cy="272524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 err="1">
                <a:solidFill>
                  <a:srgbClr val="002060"/>
                </a:solidFill>
              </a:rPr>
              <a:t>Mailbox</a:t>
            </a:r>
            <a:endParaRPr lang="en-GB" dirty="0">
              <a:solidFill>
                <a:srgbClr val="002060"/>
              </a:solidFill>
            </a:endParaRPr>
          </a:p>
        </p:txBody>
      </p:sp>
      <p:sp>
        <p:nvSpPr>
          <p:cNvPr id="9" name="Téglalap: lekerekített 8">
            <a:extLst>
              <a:ext uri="{FF2B5EF4-FFF2-40B4-BE49-F238E27FC236}">
                <a16:creationId xmlns:a16="http://schemas.microsoft.com/office/drawing/2014/main" id="{D51A409C-A6FF-E765-EB6A-6C54E62B9E09}"/>
              </a:ext>
            </a:extLst>
          </p:cNvPr>
          <p:cNvSpPr/>
          <p:nvPr/>
        </p:nvSpPr>
        <p:spPr>
          <a:xfrm>
            <a:off x="4031099" y="6416000"/>
            <a:ext cx="961534" cy="272524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 err="1">
                <a:solidFill>
                  <a:srgbClr val="002060"/>
                </a:solidFill>
              </a:rPr>
              <a:t>Mailbox</a:t>
            </a:r>
            <a:endParaRPr lang="en-GB" dirty="0">
              <a:solidFill>
                <a:srgbClr val="002060"/>
              </a:solidFill>
            </a:endParaRPr>
          </a:p>
        </p:txBody>
      </p:sp>
      <p:sp>
        <p:nvSpPr>
          <p:cNvPr id="10" name="Téglalap: lekerekített 9">
            <a:extLst>
              <a:ext uri="{FF2B5EF4-FFF2-40B4-BE49-F238E27FC236}">
                <a16:creationId xmlns:a16="http://schemas.microsoft.com/office/drawing/2014/main" id="{628CE556-09BA-FB6C-6C5D-3739308453F8}"/>
              </a:ext>
            </a:extLst>
          </p:cNvPr>
          <p:cNvSpPr/>
          <p:nvPr/>
        </p:nvSpPr>
        <p:spPr>
          <a:xfrm>
            <a:off x="5796107" y="4391876"/>
            <a:ext cx="961534" cy="272524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 err="1">
                <a:solidFill>
                  <a:srgbClr val="002060"/>
                </a:solidFill>
              </a:rPr>
              <a:t>Mailbox</a:t>
            </a:r>
            <a:endParaRPr lang="en-GB" dirty="0">
              <a:solidFill>
                <a:srgbClr val="002060"/>
              </a:solidFill>
            </a:endParaRPr>
          </a:p>
        </p:txBody>
      </p:sp>
      <p:cxnSp>
        <p:nvCxnSpPr>
          <p:cNvPr id="11" name="Egyenes összekötő nyíllal 10">
            <a:extLst>
              <a:ext uri="{FF2B5EF4-FFF2-40B4-BE49-F238E27FC236}">
                <a16:creationId xmlns:a16="http://schemas.microsoft.com/office/drawing/2014/main" id="{1F94CEA2-7DA5-67A3-3986-1F2880A1E748}"/>
              </a:ext>
            </a:extLst>
          </p:cNvPr>
          <p:cNvCxnSpPr>
            <a:cxnSpLocks/>
            <a:stCxn id="2" idx="6"/>
            <a:endCxn id="10" idx="1"/>
          </p:cNvCxnSpPr>
          <p:nvPr/>
        </p:nvCxnSpPr>
        <p:spPr>
          <a:xfrm>
            <a:off x="4031099" y="3716959"/>
            <a:ext cx="1765008" cy="811179"/>
          </a:xfrm>
          <a:prstGeom prst="straightConnector1">
            <a:avLst/>
          </a:prstGeom>
          <a:ln w="28575">
            <a:solidFill>
              <a:srgbClr val="00206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Egyenes összekötő nyíllal 11">
            <a:extLst>
              <a:ext uri="{FF2B5EF4-FFF2-40B4-BE49-F238E27FC236}">
                <a16:creationId xmlns:a16="http://schemas.microsoft.com/office/drawing/2014/main" id="{E38A001B-2CAB-C140-CFC0-8C54B4FFAD38}"/>
              </a:ext>
            </a:extLst>
          </p:cNvPr>
          <p:cNvCxnSpPr>
            <a:cxnSpLocks/>
            <a:stCxn id="7" idx="0"/>
            <a:endCxn id="10" idx="1"/>
          </p:cNvCxnSpPr>
          <p:nvPr/>
        </p:nvCxnSpPr>
        <p:spPr>
          <a:xfrm flipV="1">
            <a:off x="4511866" y="4528138"/>
            <a:ext cx="1284241" cy="749595"/>
          </a:xfrm>
          <a:prstGeom prst="straightConnector1">
            <a:avLst/>
          </a:prstGeom>
          <a:ln w="28575">
            <a:solidFill>
              <a:srgbClr val="00206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Egyenes összekötő nyíllal 12">
            <a:extLst>
              <a:ext uri="{FF2B5EF4-FFF2-40B4-BE49-F238E27FC236}">
                <a16:creationId xmlns:a16="http://schemas.microsoft.com/office/drawing/2014/main" id="{DB9BB63E-AE12-50BA-523C-2A8F846F1BF2}"/>
              </a:ext>
            </a:extLst>
          </p:cNvPr>
          <p:cNvCxnSpPr>
            <a:cxnSpLocks/>
            <a:stCxn id="10" idx="0"/>
            <a:endCxn id="5" idx="4"/>
          </p:cNvCxnSpPr>
          <p:nvPr/>
        </p:nvCxnSpPr>
        <p:spPr>
          <a:xfrm flipV="1">
            <a:off x="6276874" y="4189916"/>
            <a:ext cx="0" cy="201960"/>
          </a:xfrm>
          <a:prstGeom prst="straightConnector1">
            <a:avLst/>
          </a:prstGeom>
          <a:ln w="28575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Egyenes összekötő nyíllal 13">
            <a:extLst>
              <a:ext uri="{FF2B5EF4-FFF2-40B4-BE49-F238E27FC236}">
                <a16:creationId xmlns:a16="http://schemas.microsoft.com/office/drawing/2014/main" id="{459C5F53-B824-C165-0E74-9AC18618531D}"/>
              </a:ext>
            </a:extLst>
          </p:cNvPr>
          <p:cNvCxnSpPr>
            <a:cxnSpLocks/>
            <a:stCxn id="9" idx="0"/>
            <a:endCxn id="7" idx="4"/>
          </p:cNvCxnSpPr>
          <p:nvPr/>
        </p:nvCxnSpPr>
        <p:spPr>
          <a:xfrm flipV="1">
            <a:off x="4511866" y="6239267"/>
            <a:ext cx="0" cy="176733"/>
          </a:xfrm>
          <a:prstGeom prst="straightConnector1">
            <a:avLst/>
          </a:prstGeom>
          <a:ln w="28575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Egyenes összekötő nyíllal 14">
            <a:extLst>
              <a:ext uri="{FF2B5EF4-FFF2-40B4-BE49-F238E27FC236}">
                <a16:creationId xmlns:a16="http://schemas.microsoft.com/office/drawing/2014/main" id="{874BD02E-06CC-CD51-3661-2544941B4BE6}"/>
              </a:ext>
            </a:extLst>
          </p:cNvPr>
          <p:cNvCxnSpPr>
            <a:cxnSpLocks/>
            <a:stCxn id="8" idx="0"/>
            <a:endCxn id="2" idx="4"/>
          </p:cNvCxnSpPr>
          <p:nvPr/>
        </p:nvCxnSpPr>
        <p:spPr>
          <a:xfrm flipV="1">
            <a:off x="3550332" y="4197726"/>
            <a:ext cx="0" cy="194150"/>
          </a:xfrm>
          <a:prstGeom prst="straightConnector1">
            <a:avLst/>
          </a:prstGeom>
          <a:ln w="28575">
            <a:solidFill>
              <a:srgbClr val="00206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Egyenes összekötő nyíllal 15">
            <a:extLst>
              <a:ext uri="{FF2B5EF4-FFF2-40B4-BE49-F238E27FC236}">
                <a16:creationId xmlns:a16="http://schemas.microsoft.com/office/drawing/2014/main" id="{902BF7FE-E594-91CD-E662-F7049E420722}"/>
              </a:ext>
            </a:extLst>
          </p:cNvPr>
          <p:cNvCxnSpPr>
            <a:cxnSpLocks/>
            <a:stCxn id="7" idx="0"/>
            <a:endCxn id="8" idx="2"/>
          </p:cNvCxnSpPr>
          <p:nvPr/>
        </p:nvCxnSpPr>
        <p:spPr>
          <a:xfrm flipH="1" flipV="1">
            <a:off x="3550332" y="4664400"/>
            <a:ext cx="961534" cy="613333"/>
          </a:xfrm>
          <a:prstGeom prst="straightConnector1">
            <a:avLst/>
          </a:prstGeom>
          <a:ln w="28575">
            <a:solidFill>
              <a:srgbClr val="00206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Ellipszis 16">
                <a:extLst>
                  <a:ext uri="{FF2B5EF4-FFF2-40B4-BE49-F238E27FC236}">
                    <a16:creationId xmlns:a16="http://schemas.microsoft.com/office/drawing/2014/main" id="{E99DF3F0-D310-7CD3-5912-9A94F1733C23}"/>
                  </a:ext>
                </a:extLst>
              </p:cNvPr>
              <p:cNvSpPr/>
              <p:nvPr/>
            </p:nvSpPr>
            <p:spPr>
              <a:xfrm>
                <a:off x="7814973" y="5277733"/>
                <a:ext cx="961534" cy="961534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hu-HU" sz="2400" b="0" i="1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sz="2400" b="0" i="1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𝜄</m:t>
                          </m:r>
                        </m:e>
                        <m:sub>
                          <m:r>
                            <a:rPr lang="hu-HU" sz="2400" b="0" i="1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GB" sz="2400" dirty="0">
                  <a:solidFill>
                    <a:schemeClr val="bg1">
                      <a:lumMod val="8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7" name="Ellipszis 16">
                <a:extLst>
                  <a:ext uri="{FF2B5EF4-FFF2-40B4-BE49-F238E27FC236}">
                    <a16:creationId xmlns:a16="http://schemas.microsoft.com/office/drawing/2014/main" id="{E99DF3F0-D310-7CD3-5912-9A94F1733C2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4973" y="5277733"/>
                <a:ext cx="961534" cy="961534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bg1">
                    <a:lumMod val="85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églalap: lekerekített 17">
            <a:extLst>
              <a:ext uri="{FF2B5EF4-FFF2-40B4-BE49-F238E27FC236}">
                <a16:creationId xmlns:a16="http://schemas.microsoft.com/office/drawing/2014/main" id="{43CB06AE-1778-C137-C9E9-9A4ABA97EBDA}"/>
              </a:ext>
            </a:extLst>
          </p:cNvPr>
          <p:cNvSpPr/>
          <p:nvPr/>
        </p:nvSpPr>
        <p:spPr>
          <a:xfrm>
            <a:off x="7814973" y="6416000"/>
            <a:ext cx="961534" cy="272524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 err="1">
                <a:solidFill>
                  <a:schemeClr val="bg1">
                    <a:lumMod val="85000"/>
                  </a:schemeClr>
                </a:solidFill>
              </a:rPr>
              <a:t>Mailbox</a:t>
            </a:r>
            <a:endParaRPr lang="en-GB" dirty="0">
              <a:solidFill>
                <a:schemeClr val="bg1">
                  <a:lumMod val="85000"/>
                </a:schemeClr>
              </a:solidFill>
            </a:endParaRPr>
          </a:p>
        </p:txBody>
      </p:sp>
      <p:cxnSp>
        <p:nvCxnSpPr>
          <p:cNvPr id="19" name="Egyenes összekötő nyíllal 18">
            <a:extLst>
              <a:ext uri="{FF2B5EF4-FFF2-40B4-BE49-F238E27FC236}">
                <a16:creationId xmlns:a16="http://schemas.microsoft.com/office/drawing/2014/main" id="{25488E20-3107-1815-91FF-6317281186D0}"/>
              </a:ext>
            </a:extLst>
          </p:cNvPr>
          <p:cNvCxnSpPr>
            <a:cxnSpLocks/>
            <a:stCxn id="18" idx="0"/>
            <a:endCxn id="17" idx="4"/>
          </p:cNvCxnSpPr>
          <p:nvPr/>
        </p:nvCxnSpPr>
        <p:spPr>
          <a:xfrm flipV="1">
            <a:off x="8295740" y="6239267"/>
            <a:ext cx="0" cy="176733"/>
          </a:xfrm>
          <a:prstGeom prst="straightConnector1">
            <a:avLst/>
          </a:prstGeom>
          <a:ln w="28575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Ábra 19" descr="Boríték egyszínű kitöltéssel">
            <a:extLst>
              <a:ext uri="{FF2B5EF4-FFF2-40B4-BE49-F238E27FC236}">
                <a16:creationId xmlns:a16="http://schemas.microsoft.com/office/drawing/2014/main" id="{CCA8F4D5-09B6-1B62-A62D-E84DFD0587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764033" y="3653568"/>
            <a:ext cx="457200" cy="457200"/>
          </a:xfrm>
          <a:prstGeom prst="rect">
            <a:avLst/>
          </a:prstGeom>
        </p:spPr>
      </p:pic>
      <p:pic>
        <p:nvPicPr>
          <p:cNvPr id="21" name="Ábra 20" descr="Boríték egyszínű kitöltéssel">
            <a:extLst>
              <a:ext uri="{FF2B5EF4-FFF2-40B4-BE49-F238E27FC236}">
                <a16:creationId xmlns:a16="http://schemas.microsoft.com/office/drawing/2014/main" id="{C501130B-43B5-4E0F-468F-60E6BC97DD1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043645" y="4591529"/>
            <a:ext cx="457200" cy="457200"/>
          </a:xfrm>
          <a:prstGeom prst="rect">
            <a:avLst/>
          </a:prstGeom>
        </p:spPr>
      </p:pic>
      <p:pic>
        <p:nvPicPr>
          <p:cNvPr id="22" name="Ábra 21" descr="Boríték egyszínű kitöltéssel">
            <a:extLst>
              <a:ext uri="{FF2B5EF4-FFF2-40B4-BE49-F238E27FC236}">
                <a16:creationId xmlns:a16="http://schemas.microsoft.com/office/drawing/2014/main" id="{75716915-0192-DB08-17E6-1AF6AFFD0BB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12887" y="4788115"/>
            <a:ext cx="457200" cy="457200"/>
          </a:xfrm>
          <a:prstGeom prst="rect">
            <a:avLst/>
          </a:prstGeom>
        </p:spPr>
      </p:pic>
      <p:cxnSp>
        <p:nvCxnSpPr>
          <p:cNvPr id="25" name="Egyenes összekötő nyíllal 24">
            <a:extLst>
              <a:ext uri="{FF2B5EF4-FFF2-40B4-BE49-F238E27FC236}">
                <a16:creationId xmlns:a16="http://schemas.microsoft.com/office/drawing/2014/main" id="{D6C5CF9F-3457-6B6C-1424-18D8FD36D702}"/>
              </a:ext>
            </a:extLst>
          </p:cNvPr>
          <p:cNvCxnSpPr/>
          <p:nvPr/>
        </p:nvCxnSpPr>
        <p:spPr>
          <a:xfrm>
            <a:off x="4992633" y="5764303"/>
            <a:ext cx="2822340" cy="0"/>
          </a:xfrm>
          <a:prstGeom prst="straightConnector1">
            <a:avLst/>
          </a:prstGeom>
          <a:ln w="28575">
            <a:solidFill>
              <a:srgbClr val="002060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Ábra 25" descr="Hivatkozás körvonalas">
            <a:extLst>
              <a:ext uri="{FF2B5EF4-FFF2-40B4-BE49-F238E27FC236}">
                <a16:creationId xmlns:a16="http://schemas.microsoft.com/office/drawing/2014/main" id="{A3C798EC-115A-B308-9F23-23DCE17CD42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75203" y="5307104"/>
            <a:ext cx="457199" cy="457199"/>
          </a:xfrm>
          <a:prstGeom prst="rect">
            <a:avLst/>
          </a:prstGeom>
        </p:spPr>
      </p:pic>
      <p:pic>
        <p:nvPicPr>
          <p:cNvPr id="28" name="Ábra 27" descr="Koponya egyszínű kitöltéssel">
            <a:extLst>
              <a:ext uri="{FF2B5EF4-FFF2-40B4-BE49-F238E27FC236}">
                <a16:creationId xmlns:a16="http://schemas.microsoft.com/office/drawing/2014/main" id="{BAADC377-15B5-82D9-2FF1-1B479DD4C03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838540" y="5312382"/>
            <a:ext cx="914400" cy="914400"/>
          </a:xfrm>
          <a:prstGeom prst="rect">
            <a:avLst/>
          </a:prstGeom>
        </p:spPr>
      </p:pic>
      <p:cxnSp>
        <p:nvCxnSpPr>
          <p:cNvPr id="23" name="Egyenes összekötő nyíllal 22">
            <a:extLst>
              <a:ext uri="{FF2B5EF4-FFF2-40B4-BE49-F238E27FC236}">
                <a16:creationId xmlns:a16="http://schemas.microsoft.com/office/drawing/2014/main" id="{3D346827-475C-637A-8D8B-50A165F49797}"/>
              </a:ext>
            </a:extLst>
          </p:cNvPr>
          <p:cNvCxnSpPr>
            <a:cxnSpLocks/>
          </p:cNvCxnSpPr>
          <p:nvPr/>
        </p:nvCxnSpPr>
        <p:spPr>
          <a:xfrm flipH="1">
            <a:off x="4992633" y="5764907"/>
            <a:ext cx="282234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65624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CE9394-2CDA-0BF5-4802-FA578DD534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zövegdoboz 2">
            <a:extLst>
              <a:ext uri="{FF2B5EF4-FFF2-40B4-BE49-F238E27FC236}">
                <a16:creationId xmlns:a16="http://schemas.microsoft.com/office/drawing/2014/main" id="{4102D32C-3F67-B7A0-2914-33B2A646DD0F}"/>
              </a:ext>
            </a:extLst>
          </p:cNvPr>
          <p:cNvSpPr txBox="1"/>
          <p:nvPr/>
        </p:nvSpPr>
        <p:spPr>
          <a:xfrm>
            <a:off x="838200" y="399495"/>
            <a:ext cx="10515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6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Modular semantics</a:t>
            </a:r>
          </a:p>
        </p:txBody>
      </p:sp>
      <p:cxnSp>
        <p:nvCxnSpPr>
          <p:cNvPr id="6" name="Egyenes összekötő 5">
            <a:extLst>
              <a:ext uri="{FF2B5EF4-FFF2-40B4-BE49-F238E27FC236}">
                <a16:creationId xmlns:a16="http://schemas.microsoft.com/office/drawing/2014/main" id="{63714C18-35F9-486A-AAA7-87DB8B5BB5B7}"/>
              </a:ext>
            </a:extLst>
          </p:cNvPr>
          <p:cNvCxnSpPr/>
          <p:nvPr/>
        </p:nvCxnSpPr>
        <p:spPr>
          <a:xfrm>
            <a:off x="838200" y="1145220"/>
            <a:ext cx="10676138" cy="0"/>
          </a:xfrm>
          <a:prstGeom prst="line">
            <a:avLst/>
          </a:prstGeom>
          <a:ln>
            <a:solidFill>
              <a:srgbClr val="0128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áblázat 2">
                <a:extLst>
                  <a:ext uri="{FF2B5EF4-FFF2-40B4-BE49-F238E27FC236}">
                    <a16:creationId xmlns:a16="http://schemas.microsoft.com/office/drawing/2014/main" id="{6E3C6670-0BD5-5197-7E4A-A54D27529C73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05097" y="1724298"/>
              <a:ext cx="11181806" cy="1367864"/>
            </p:xfrm>
            <a:graphic>
              <a:graphicData uri="http://schemas.openxmlformats.org/drawingml/2006/table">
                <a:tbl>
                  <a:tblPr firstRow="1" bandRow="1">
                    <a:tableStyleId>{0E3FDE45-AF77-4B5C-9715-49D594BDF05E}</a:tableStyleId>
                  </a:tblPr>
                  <a:tblGrid>
                    <a:gridCol w="3727269">
                      <a:extLst>
                        <a:ext uri="{9D8B030D-6E8A-4147-A177-3AD203B41FA5}">
                          <a16:colId xmlns:a16="http://schemas.microsoft.com/office/drawing/2014/main" val="4283619804"/>
                        </a:ext>
                      </a:extLst>
                    </a:gridCol>
                    <a:gridCol w="7454537">
                      <a:extLst>
                        <a:ext uri="{9D8B030D-6E8A-4147-A177-3AD203B41FA5}">
                          <a16:colId xmlns:a16="http://schemas.microsoft.com/office/drawing/2014/main" val="3767538111"/>
                        </a:ext>
                      </a:extLst>
                    </a:gridCol>
                  </a:tblGrid>
                  <a:tr h="683932">
                    <a:tc>
                      <a:txBody>
                        <a:bodyPr/>
                        <a:lstStyle/>
                        <a:p>
                          <a:r>
                            <a:rPr lang="en-GB" sz="2400" noProof="0" dirty="0"/>
                            <a:t>Level of the semantics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noProof="0" dirty="0"/>
                            <a:t>Formal relation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22701177"/>
                      </a:ext>
                    </a:extLst>
                  </a:tr>
                  <a:tr h="683932">
                    <a:tc>
                      <a:txBody>
                        <a:bodyPr/>
                        <a:lstStyle/>
                        <a:p>
                          <a:r>
                            <a:rPr lang="en-GB" sz="2400" noProof="0" dirty="0"/>
                            <a:t>Sequential semantics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d>
                                  <m:dPr>
                                    <m:begChr m:val="⟨"/>
                                    <m:endChr m:val="⟩"/>
                                    <m:ctrlPr>
                                      <a:rPr lang="en-GB" sz="2400" b="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GB" sz="2400" b="0" i="1" noProof="0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  <m:r>
                                      <a:rPr lang="en-GB" sz="2400" b="0" i="1" noProof="0" smtClean="0">
                                        <a:latin typeface="Cambria Math" panose="02040503050406030204" pitchFamily="18" charset="0"/>
                                      </a:rPr>
                                      <m:t>, </m:t>
                                    </m:r>
                                    <m:r>
                                      <a:rPr lang="en-GB" sz="2400" b="0" i="1" noProof="0" smtClean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</m:d>
                                <m:r>
                                  <a:rPr lang="en-GB" sz="2400" b="0" i="1" noProof="0" smtClean="0">
                                    <a:latin typeface="Cambria Math" panose="02040503050406030204" pitchFamily="18" charset="0"/>
                                  </a:rPr>
                                  <m:t>→⟨</m:t>
                                </m:r>
                                <m:r>
                                  <a:rPr lang="en-GB" sz="2400" b="0" i="1" noProof="0" smtClean="0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  <m:r>
                                  <a:rPr lang="en-GB" sz="2400" b="0" i="1" noProof="0" smtClean="0">
                                    <a:latin typeface="Cambria Math" panose="02040503050406030204" pitchFamily="18" charset="0"/>
                                  </a:rPr>
                                  <m:t>′, </m:t>
                                </m:r>
                                <m:sSup>
                                  <m:sSupPr>
                                    <m:ctrlPr>
                                      <a:rPr lang="en-GB" sz="2400" b="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2400" b="0" i="1" noProof="0" smtClean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GB" sz="2400" b="0" i="1" noProof="0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GB" sz="2400" b="0" i="1" noProof="0" smtClean="0">
                                    <a:latin typeface="Cambria Math" panose="02040503050406030204" pitchFamily="18" charset="0"/>
                                  </a:rPr>
                                  <m:t>⟩</m:t>
                                </m:r>
                              </m:oMath>
                            </m:oMathPara>
                          </a14:m>
                          <a:endParaRPr lang="en-GB" sz="2400" noProof="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15408139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áblázat 2">
                <a:extLst>
                  <a:ext uri="{FF2B5EF4-FFF2-40B4-BE49-F238E27FC236}">
                    <a16:creationId xmlns:a16="http://schemas.microsoft.com/office/drawing/2014/main" id="{6E3C6670-0BD5-5197-7E4A-A54D27529C73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05097" y="1724298"/>
              <a:ext cx="11181806" cy="1367864"/>
            </p:xfrm>
            <a:graphic>
              <a:graphicData uri="http://schemas.openxmlformats.org/drawingml/2006/table">
                <a:tbl>
                  <a:tblPr firstRow="1" bandRow="1">
                    <a:tableStyleId>{0E3FDE45-AF77-4B5C-9715-49D594BDF05E}</a:tableStyleId>
                  </a:tblPr>
                  <a:tblGrid>
                    <a:gridCol w="3727269">
                      <a:extLst>
                        <a:ext uri="{9D8B030D-6E8A-4147-A177-3AD203B41FA5}">
                          <a16:colId xmlns:a16="http://schemas.microsoft.com/office/drawing/2014/main" val="4283619804"/>
                        </a:ext>
                      </a:extLst>
                    </a:gridCol>
                    <a:gridCol w="7454537">
                      <a:extLst>
                        <a:ext uri="{9D8B030D-6E8A-4147-A177-3AD203B41FA5}">
                          <a16:colId xmlns:a16="http://schemas.microsoft.com/office/drawing/2014/main" val="3767538111"/>
                        </a:ext>
                      </a:extLst>
                    </a:gridCol>
                  </a:tblGrid>
                  <a:tr h="683932">
                    <a:tc>
                      <a:txBody>
                        <a:bodyPr/>
                        <a:lstStyle/>
                        <a:p>
                          <a:r>
                            <a:rPr lang="en-GB" sz="2400" noProof="0" dirty="0"/>
                            <a:t>Level of the semantics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noProof="0" dirty="0"/>
                            <a:t>Formal relation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22701177"/>
                      </a:ext>
                    </a:extLst>
                  </a:tr>
                  <a:tr h="683932">
                    <a:tc>
                      <a:txBody>
                        <a:bodyPr/>
                        <a:lstStyle/>
                        <a:p>
                          <a:r>
                            <a:rPr lang="en-GB" sz="2400" noProof="0" dirty="0"/>
                            <a:t>Sequential semantics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0000" t="-100885" r="-82" b="-354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408139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Ellipszis 1">
                <a:extLst>
                  <a:ext uri="{FF2B5EF4-FFF2-40B4-BE49-F238E27FC236}">
                    <a16:creationId xmlns:a16="http://schemas.microsoft.com/office/drawing/2014/main" id="{7B8E9E49-5980-C236-A8BB-CB1895524474}"/>
                  </a:ext>
                </a:extLst>
              </p:cNvPr>
              <p:cNvSpPr/>
              <p:nvPr/>
            </p:nvSpPr>
            <p:spPr>
              <a:xfrm>
                <a:off x="3069565" y="3236192"/>
                <a:ext cx="961534" cy="961534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hu-HU" sz="2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sz="2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𝜄</m:t>
                          </m:r>
                        </m:e>
                        <m:sub>
                          <m:r>
                            <a:rPr lang="hu-HU" sz="2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GB" sz="2400" dirty="0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2" name="Ellipszis 1">
                <a:extLst>
                  <a:ext uri="{FF2B5EF4-FFF2-40B4-BE49-F238E27FC236}">
                    <a16:creationId xmlns:a16="http://schemas.microsoft.com/office/drawing/2014/main" id="{7B8E9E49-5980-C236-A8BB-CB189552447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9565" y="3236192"/>
                <a:ext cx="961534" cy="961534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rgbClr val="00206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Ellipszis 4">
                <a:extLst>
                  <a:ext uri="{FF2B5EF4-FFF2-40B4-BE49-F238E27FC236}">
                    <a16:creationId xmlns:a16="http://schemas.microsoft.com/office/drawing/2014/main" id="{BD833C02-A44A-4765-2BC1-3E4F881A3BBD}"/>
                  </a:ext>
                </a:extLst>
              </p:cNvPr>
              <p:cNvSpPr/>
              <p:nvPr/>
            </p:nvSpPr>
            <p:spPr>
              <a:xfrm>
                <a:off x="5796107" y="3228382"/>
                <a:ext cx="961534" cy="961534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hu-HU" sz="2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sz="2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𝜄</m:t>
                          </m:r>
                        </m:e>
                        <m:sub>
                          <m:r>
                            <a:rPr lang="hu-HU" sz="2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sz="2400" dirty="0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5" name="Ellipszis 4">
                <a:extLst>
                  <a:ext uri="{FF2B5EF4-FFF2-40B4-BE49-F238E27FC236}">
                    <a16:creationId xmlns:a16="http://schemas.microsoft.com/office/drawing/2014/main" id="{BD833C02-A44A-4765-2BC1-3E4F881A3BB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6107" y="3228382"/>
                <a:ext cx="961534" cy="961534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28575">
                <a:solidFill>
                  <a:srgbClr val="00206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Ellipszis 6">
                <a:extLst>
                  <a:ext uri="{FF2B5EF4-FFF2-40B4-BE49-F238E27FC236}">
                    <a16:creationId xmlns:a16="http://schemas.microsoft.com/office/drawing/2014/main" id="{3910BF83-3182-AD5D-5D20-33ADA244152A}"/>
                  </a:ext>
                </a:extLst>
              </p:cNvPr>
              <p:cNvSpPr/>
              <p:nvPr/>
            </p:nvSpPr>
            <p:spPr>
              <a:xfrm>
                <a:off x="4031099" y="5277733"/>
                <a:ext cx="961534" cy="961534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hu-HU" sz="2400" b="0" i="1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sz="2400" b="0" i="1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𝜄</m:t>
                          </m:r>
                        </m:e>
                        <m:sub>
                          <m:r>
                            <a:rPr lang="hu-HU" sz="2400" b="0" i="1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sz="2400" dirty="0">
                  <a:solidFill>
                    <a:schemeClr val="bg1">
                      <a:lumMod val="8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7" name="Ellipszis 6">
                <a:extLst>
                  <a:ext uri="{FF2B5EF4-FFF2-40B4-BE49-F238E27FC236}">
                    <a16:creationId xmlns:a16="http://schemas.microsoft.com/office/drawing/2014/main" id="{3910BF83-3182-AD5D-5D20-33ADA244152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1099" y="5277733"/>
                <a:ext cx="961534" cy="961534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bg1">
                    <a:lumMod val="85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églalap: lekerekített 7">
            <a:extLst>
              <a:ext uri="{FF2B5EF4-FFF2-40B4-BE49-F238E27FC236}">
                <a16:creationId xmlns:a16="http://schemas.microsoft.com/office/drawing/2014/main" id="{84301F9B-6B8C-07FD-B614-CEFBF8102000}"/>
              </a:ext>
            </a:extLst>
          </p:cNvPr>
          <p:cNvSpPr/>
          <p:nvPr/>
        </p:nvSpPr>
        <p:spPr>
          <a:xfrm>
            <a:off x="3069565" y="4391876"/>
            <a:ext cx="961534" cy="272524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 err="1">
                <a:solidFill>
                  <a:srgbClr val="002060"/>
                </a:solidFill>
              </a:rPr>
              <a:t>Mailbox</a:t>
            </a:r>
            <a:endParaRPr lang="en-GB" dirty="0">
              <a:solidFill>
                <a:srgbClr val="002060"/>
              </a:solidFill>
            </a:endParaRPr>
          </a:p>
        </p:txBody>
      </p:sp>
      <p:sp>
        <p:nvSpPr>
          <p:cNvPr id="9" name="Téglalap: lekerekített 8">
            <a:extLst>
              <a:ext uri="{FF2B5EF4-FFF2-40B4-BE49-F238E27FC236}">
                <a16:creationId xmlns:a16="http://schemas.microsoft.com/office/drawing/2014/main" id="{538B53FB-08A8-DBDD-75E4-378648AC8AF2}"/>
              </a:ext>
            </a:extLst>
          </p:cNvPr>
          <p:cNvSpPr/>
          <p:nvPr/>
        </p:nvSpPr>
        <p:spPr>
          <a:xfrm>
            <a:off x="4031099" y="6416000"/>
            <a:ext cx="961534" cy="272524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 err="1">
                <a:solidFill>
                  <a:schemeClr val="bg1">
                    <a:lumMod val="85000"/>
                  </a:schemeClr>
                </a:solidFill>
              </a:rPr>
              <a:t>Mailbox</a:t>
            </a:r>
            <a:endParaRPr lang="en-GB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0" name="Téglalap: lekerekített 9">
            <a:extLst>
              <a:ext uri="{FF2B5EF4-FFF2-40B4-BE49-F238E27FC236}">
                <a16:creationId xmlns:a16="http://schemas.microsoft.com/office/drawing/2014/main" id="{0F382B76-1EC2-46F3-8575-B30F6AB21F07}"/>
              </a:ext>
            </a:extLst>
          </p:cNvPr>
          <p:cNvSpPr/>
          <p:nvPr/>
        </p:nvSpPr>
        <p:spPr>
          <a:xfrm>
            <a:off x="5796107" y="4391876"/>
            <a:ext cx="961534" cy="272524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 err="1">
                <a:solidFill>
                  <a:srgbClr val="002060"/>
                </a:solidFill>
              </a:rPr>
              <a:t>Mailbox</a:t>
            </a:r>
            <a:endParaRPr lang="en-GB" dirty="0">
              <a:solidFill>
                <a:srgbClr val="002060"/>
              </a:solidFill>
            </a:endParaRPr>
          </a:p>
        </p:txBody>
      </p:sp>
      <p:cxnSp>
        <p:nvCxnSpPr>
          <p:cNvPr id="11" name="Egyenes összekötő nyíllal 10">
            <a:extLst>
              <a:ext uri="{FF2B5EF4-FFF2-40B4-BE49-F238E27FC236}">
                <a16:creationId xmlns:a16="http://schemas.microsoft.com/office/drawing/2014/main" id="{22FF5B86-A348-9D1E-FFAE-B7F0DA876C97}"/>
              </a:ext>
            </a:extLst>
          </p:cNvPr>
          <p:cNvCxnSpPr>
            <a:cxnSpLocks/>
            <a:stCxn id="2" idx="6"/>
            <a:endCxn id="10" idx="1"/>
          </p:cNvCxnSpPr>
          <p:nvPr/>
        </p:nvCxnSpPr>
        <p:spPr>
          <a:xfrm>
            <a:off x="4031099" y="3716959"/>
            <a:ext cx="1765008" cy="811179"/>
          </a:xfrm>
          <a:prstGeom prst="straightConnector1">
            <a:avLst/>
          </a:prstGeom>
          <a:ln w="28575">
            <a:solidFill>
              <a:srgbClr val="00206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Egyenes összekötő nyíllal 11">
            <a:extLst>
              <a:ext uri="{FF2B5EF4-FFF2-40B4-BE49-F238E27FC236}">
                <a16:creationId xmlns:a16="http://schemas.microsoft.com/office/drawing/2014/main" id="{0BB85B3A-977A-35C7-FAA2-698F1D45ECB2}"/>
              </a:ext>
            </a:extLst>
          </p:cNvPr>
          <p:cNvCxnSpPr>
            <a:cxnSpLocks/>
            <a:stCxn id="7" idx="0"/>
            <a:endCxn id="10" idx="1"/>
          </p:cNvCxnSpPr>
          <p:nvPr/>
        </p:nvCxnSpPr>
        <p:spPr>
          <a:xfrm flipV="1">
            <a:off x="4511866" y="4528138"/>
            <a:ext cx="1284241" cy="749595"/>
          </a:xfrm>
          <a:prstGeom prst="straightConnector1">
            <a:avLst/>
          </a:prstGeom>
          <a:ln w="28575">
            <a:solidFill>
              <a:srgbClr val="00206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Egyenes összekötő nyíllal 12">
            <a:extLst>
              <a:ext uri="{FF2B5EF4-FFF2-40B4-BE49-F238E27FC236}">
                <a16:creationId xmlns:a16="http://schemas.microsoft.com/office/drawing/2014/main" id="{30612CD1-3BA6-E59E-A075-C7445E576F71}"/>
              </a:ext>
            </a:extLst>
          </p:cNvPr>
          <p:cNvCxnSpPr>
            <a:cxnSpLocks/>
            <a:stCxn id="10" idx="0"/>
            <a:endCxn id="5" idx="4"/>
          </p:cNvCxnSpPr>
          <p:nvPr/>
        </p:nvCxnSpPr>
        <p:spPr>
          <a:xfrm flipV="1">
            <a:off x="6276874" y="4189916"/>
            <a:ext cx="0" cy="201960"/>
          </a:xfrm>
          <a:prstGeom prst="straightConnector1">
            <a:avLst/>
          </a:prstGeom>
          <a:ln w="28575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Egyenes összekötő nyíllal 13">
            <a:extLst>
              <a:ext uri="{FF2B5EF4-FFF2-40B4-BE49-F238E27FC236}">
                <a16:creationId xmlns:a16="http://schemas.microsoft.com/office/drawing/2014/main" id="{485E3BC0-16DD-082D-839F-6C4C10B6834F}"/>
              </a:ext>
            </a:extLst>
          </p:cNvPr>
          <p:cNvCxnSpPr>
            <a:cxnSpLocks/>
            <a:stCxn id="9" idx="0"/>
            <a:endCxn id="7" idx="4"/>
          </p:cNvCxnSpPr>
          <p:nvPr/>
        </p:nvCxnSpPr>
        <p:spPr>
          <a:xfrm flipV="1">
            <a:off x="4511866" y="6239267"/>
            <a:ext cx="0" cy="176733"/>
          </a:xfrm>
          <a:prstGeom prst="straightConnector1">
            <a:avLst/>
          </a:prstGeom>
          <a:ln w="28575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Egyenes összekötő nyíllal 14">
            <a:extLst>
              <a:ext uri="{FF2B5EF4-FFF2-40B4-BE49-F238E27FC236}">
                <a16:creationId xmlns:a16="http://schemas.microsoft.com/office/drawing/2014/main" id="{A335FD32-82AB-6DAA-2A17-EC91845DB3A2}"/>
              </a:ext>
            </a:extLst>
          </p:cNvPr>
          <p:cNvCxnSpPr>
            <a:cxnSpLocks/>
            <a:stCxn id="8" idx="0"/>
            <a:endCxn id="2" idx="4"/>
          </p:cNvCxnSpPr>
          <p:nvPr/>
        </p:nvCxnSpPr>
        <p:spPr>
          <a:xfrm flipV="1">
            <a:off x="3550332" y="4197726"/>
            <a:ext cx="0" cy="194150"/>
          </a:xfrm>
          <a:prstGeom prst="straightConnector1">
            <a:avLst/>
          </a:prstGeom>
          <a:ln w="28575">
            <a:solidFill>
              <a:srgbClr val="00206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Egyenes összekötő nyíllal 15">
            <a:extLst>
              <a:ext uri="{FF2B5EF4-FFF2-40B4-BE49-F238E27FC236}">
                <a16:creationId xmlns:a16="http://schemas.microsoft.com/office/drawing/2014/main" id="{D927453C-15C4-7817-BB2B-214F42C6B315}"/>
              </a:ext>
            </a:extLst>
          </p:cNvPr>
          <p:cNvCxnSpPr>
            <a:cxnSpLocks/>
            <a:stCxn id="7" idx="0"/>
            <a:endCxn id="8" idx="2"/>
          </p:cNvCxnSpPr>
          <p:nvPr/>
        </p:nvCxnSpPr>
        <p:spPr>
          <a:xfrm flipH="1" flipV="1">
            <a:off x="3550332" y="4664400"/>
            <a:ext cx="961534" cy="613333"/>
          </a:xfrm>
          <a:prstGeom prst="straightConnector1">
            <a:avLst/>
          </a:prstGeom>
          <a:ln w="28575">
            <a:solidFill>
              <a:srgbClr val="00206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Ellipszis 16">
                <a:extLst>
                  <a:ext uri="{FF2B5EF4-FFF2-40B4-BE49-F238E27FC236}">
                    <a16:creationId xmlns:a16="http://schemas.microsoft.com/office/drawing/2014/main" id="{98220FBD-4A7B-7A67-0B47-743CF82A6F81}"/>
                  </a:ext>
                </a:extLst>
              </p:cNvPr>
              <p:cNvSpPr/>
              <p:nvPr/>
            </p:nvSpPr>
            <p:spPr>
              <a:xfrm>
                <a:off x="7814973" y="5277733"/>
                <a:ext cx="961534" cy="961534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hu-HU" sz="2400" b="0" i="1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sz="2400" b="0" i="1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𝜄</m:t>
                          </m:r>
                        </m:e>
                        <m:sub>
                          <m:r>
                            <a:rPr lang="hu-HU" sz="2400" b="0" i="1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GB" sz="2400" dirty="0">
                  <a:solidFill>
                    <a:schemeClr val="bg1">
                      <a:lumMod val="8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7" name="Ellipszis 16">
                <a:extLst>
                  <a:ext uri="{FF2B5EF4-FFF2-40B4-BE49-F238E27FC236}">
                    <a16:creationId xmlns:a16="http://schemas.microsoft.com/office/drawing/2014/main" id="{98220FBD-4A7B-7A67-0B47-743CF82A6F8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4973" y="5277733"/>
                <a:ext cx="961534" cy="961534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bg1">
                    <a:lumMod val="85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églalap: lekerekített 17">
            <a:extLst>
              <a:ext uri="{FF2B5EF4-FFF2-40B4-BE49-F238E27FC236}">
                <a16:creationId xmlns:a16="http://schemas.microsoft.com/office/drawing/2014/main" id="{1C4FEEF1-9B4C-6D82-A03F-F15862D69152}"/>
              </a:ext>
            </a:extLst>
          </p:cNvPr>
          <p:cNvSpPr/>
          <p:nvPr/>
        </p:nvSpPr>
        <p:spPr>
          <a:xfrm>
            <a:off x="7814973" y="6416000"/>
            <a:ext cx="961534" cy="272524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 err="1">
                <a:solidFill>
                  <a:schemeClr val="bg1">
                    <a:lumMod val="85000"/>
                  </a:schemeClr>
                </a:solidFill>
              </a:rPr>
              <a:t>Mailbox</a:t>
            </a:r>
            <a:endParaRPr lang="en-GB" dirty="0">
              <a:solidFill>
                <a:schemeClr val="bg1">
                  <a:lumMod val="85000"/>
                </a:schemeClr>
              </a:solidFill>
            </a:endParaRPr>
          </a:p>
        </p:txBody>
      </p:sp>
      <p:cxnSp>
        <p:nvCxnSpPr>
          <p:cNvPr id="19" name="Egyenes összekötő nyíllal 18">
            <a:extLst>
              <a:ext uri="{FF2B5EF4-FFF2-40B4-BE49-F238E27FC236}">
                <a16:creationId xmlns:a16="http://schemas.microsoft.com/office/drawing/2014/main" id="{2E391A7F-BC7E-F7F8-8EA2-441EABA9D7C8}"/>
              </a:ext>
            </a:extLst>
          </p:cNvPr>
          <p:cNvCxnSpPr>
            <a:cxnSpLocks/>
            <a:stCxn id="18" idx="0"/>
            <a:endCxn id="17" idx="4"/>
          </p:cNvCxnSpPr>
          <p:nvPr/>
        </p:nvCxnSpPr>
        <p:spPr>
          <a:xfrm flipV="1">
            <a:off x="8295740" y="6239267"/>
            <a:ext cx="0" cy="176733"/>
          </a:xfrm>
          <a:prstGeom prst="straightConnector1">
            <a:avLst/>
          </a:prstGeom>
          <a:ln w="28575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Ábra 19" descr="Boríték egyszínű kitöltéssel">
            <a:extLst>
              <a:ext uri="{FF2B5EF4-FFF2-40B4-BE49-F238E27FC236}">
                <a16:creationId xmlns:a16="http://schemas.microsoft.com/office/drawing/2014/main" id="{47871EF6-684D-3AA6-C1AF-38318F40133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764033" y="3653568"/>
            <a:ext cx="457200" cy="457200"/>
          </a:xfrm>
          <a:prstGeom prst="rect">
            <a:avLst/>
          </a:prstGeom>
        </p:spPr>
      </p:pic>
      <p:pic>
        <p:nvPicPr>
          <p:cNvPr id="21" name="Ábra 20" descr="Boríték egyszínű kitöltéssel">
            <a:extLst>
              <a:ext uri="{FF2B5EF4-FFF2-40B4-BE49-F238E27FC236}">
                <a16:creationId xmlns:a16="http://schemas.microsoft.com/office/drawing/2014/main" id="{75B75D5D-6835-9A1C-FEAC-931CB9F3D83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043645" y="4591529"/>
            <a:ext cx="457200" cy="457200"/>
          </a:xfrm>
          <a:prstGeom prst="rect">
            <a:avLst/>
          </a:prstGeom>
        </p:spPr>
      </p:pic>
      <p:pic>
        <p:nvPicPr>
          <p:cNvPr id="22" name="Ábra 21" descr="Boríték egyszínű kitöltéssel">
            <a:extLst>
              <a:ext uri="{FF2B5EF4-FFF2-40B4-BE49-F238E27FC236}">
                <a16:creationId xmlns:a16="http://schemas.microsoft.com/office/drawing/2014/main" id="{BBB055EB-AC80-7B9A-133E-0C07BB23639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12887" y="4788115"/>
            <a:ext cx="457200" cy="457200"/>
          </a:xfrm>
          <a:prstGeom prst="rect">
            <a:avLst/>
          </a:prstGeom>
        </p:spPr>
      </p:pic>
      <p:cxnSp>
        <p:nvCxnSpPr>
          <p:cNvPr id="25" name="Egyenes összekötő nyíllal 24">
            <a:extLst>
              <a:ext uri="{FF2B5EF4-FFF2-40B4-BE49-F238E27FC236}">
                <a16:creationId xmlns:a16="http://schemas.microsoft.com/office/drawing/2014/main" id="{4DE513C5-F634-1BB5-4117-A7DE281F0B7E}"/>
              </a:ext>
            </a:extLst>
          </p:cNvPr>
          <p:cNvCxnSpPr/>
          <p:nvPr/>
        </p:nvCxnSpPr>
        <p:spPr>
          <a:xfrm>
            <a:off x="4992633" y="5764303"/>
            <a:ext cx="2822340" cy="0"/>
          </a:xfrm>
          <a:prstGeom prst="straightConnector1">
            <a:avLst/>
          </a:prstGeom>
          <a:ln w="28575">
            <a:solidFill>
              <a:srgbClr val="002060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Ábra 25" descr="Hivatkozás körvonalas">
            <a:extLst>
              <a:ext uri="{FF2B5EF4-FFF2-40B4-BE49-F238E27FC236}">
                <a16:creationId xmlns:a16="http://schemas.microsoft.com/office/drawing/2014/main" id="{6EA820A9-4464-87FD-E439-69DEDE924D7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75203" y="5307104"/>
            <a:ext cx="457199" cy="457199"/>
          </a:xfrm>
          <a:prstGeom prst="rect">
            <a:avLst/>
          </a:prstGeom>
        </p:spPr>
      </p:pic>
      <p:pic>
        <p:nvPicPr>
          <p:cNvPr id="28" name="Ábra 27" descr="Koponya egyszínű kitöltéssel">
            <a:extLst>
              <a:ext uri="{FF2B5EF4-FFF2-40B4-BE49-F238E27FC236}">
                <a16:creationId xmlns:a16="http://schemas.microsoft.com/office/drawing/2014/main" id="{2ADC7651-D0A3-159D-0C30-3FF63E77220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838540" y="5312382"/>
            <a:ext cx="914400" cy="914400"/>
          </a:xfrm>
          <a:prstGeom prst="rect">
            <a:avLst/>
          </a:prstGeom>
        </p:spPr>
      </p:pic>
      <p:cxnSp>
        <p:nvCxnSpPr>
          <p:cNvPr id="23" name="Egyenes összekötő nyíllal 22">
            <a:extLst>
              <a:ext uri="{FF2B5EF4-FFF2-40B4-BE49-F238E27FC236}">
                <a16:creationId xmlns:a16="http://schemas.microsoft.com/office/drawing/2014/main" id="{C1D64E25-4232-F930-D15D-B62F8C7B4456}"/>
              </a:ext>
            </a:extLst>
          </p:cNvPr>
          <p:cNvCxnSpPr>
            <a:cxnSpLocks/>
          </p:cNvCxnSpPr>
          <p:nvPr/>
        </p:nvCxnSpPr>
        <p:spPr>
          <a:xfrm flipH="1">
            <a:off x="4992633" y="5764907"/>
            <a:ext cx="282234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Ábra 26" descr="Koponya egyszínű kitöltéssel">
            <a:extLst>
              <a:ext uri="{FF2B5EF4-FFF2-40B4-BE49-F238E27FC236}">
                <a16:creationId xmlns:a16="http://schemas.microsoft.com/office/drawing/2014/main" id="{43D36346-AF01-0849-832D-4E1EBE690D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072954" y="5296021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47202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D3F960-8D3F-91EF-09D4-691350526A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zövegdoboz 2">
            <a:extLst>
              <a:ext uri="{FF2B5EF4-FFF2-40B4-BE49-F238E27FC236}">
                <a16:creationId xmlns:a16="http://schemas.microsoft.com/office/drawing/2014/main" id="{0D948F29-987C-CFDF-170E-9D0659E30370}"/>
              </a:ext>
            </a:extLst>
          </p:cNvPr>
          <p:cNvSpPr txBox="1"/>
          <p:nvPr/>
        </p:nvSpPr>
        <p:spPr>
          <a:xfrm>
            <a:off x="838200" y="399495"/>
            <a:ext cx="10515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6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Modular semantics</a:t>
            </a:r>
          </a:p>
        </p:txBody>
      </p:sp>
      <p:cxnSp>
        <p:nvCxnSpPr>
          <p:cNvPr id="6" name="Egyenes összekötő 5">
            <a:extLst>
              <a:ext uri="{FF2B5EF4-FFF2-40B4-BE49-F238E27FC236}">
                <a16:creationId xmlns:a16="http://schemas.microsoft.com/office/drawing/2014/main" id="{D9A4BB9F-2A6C-5DFD-B301-3DB89F39D965}"/>
              </a:ext>
            </a:extLst>
          </p:cNvPr>
          <p:cNvCxnSpPr/>
          <p:nvPr/>
        </p:nvCxnSpPr>
        <p:spPr>
          <a:xfrm>
            <a:off x="838200" y="1145220"/>
            <a:ext cx="10676138" cy="0"/>
          </a:xfrm>
          <a:prstGeom prst="line">
            <a:avLst/>
          </a:prstGeom>
          <a:ln>
            <a:solidFill>
              <a:srgbClr val="0128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áblázat 2">
                <a:extLst>
                  <a:ext uri="{FF2B5EF4-FFF2-40B4-BE49-F238E27FC236}">
                    <a16:creationId xmlns:a16="http://schemas.microsoft.com/office/drawing/2014/main" id="{F9EF935F-5C45-EC4A-A9DA-4017B40D40A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63743343"/>
                  </p:ext>
                </p:extLst>
              </p:nvPr>
            </p:nvGraphicFramePr>
            <p:xfrm>
              <a:off x="505097" y="1724298"/>
              <a:ext cx="11181806" cy="2294401"/>
            </p:xfrm>
            <a:graphic>
              <a:graphicData uri="http://schemas.openxmlformats.org/drawingml/2006/table">
                <a:tbl>
                  <a:tblPr firstRow="1" bandRow="1">
                    <a:tableStyleId>{0E3FDE45-AF77-4B5C-9715-49D594BDF05E}</a:tableStyleId>
                  </a:tblPr>
                  <a:tblGrid>
                    <a:gridCol w="3727269">
                      <a:extLst>
                        <a:ext uri="{9D8B030D-6E8A-4147-A177-3AD203B41FA5}">
                          <a16:colId xmlns:a16="http://schemas.microsoft.com/office/drawing/2014/main" val="4283619804"/>
                        </a:ext>
                      </a:extLst>
                    </a:gridCol>
                    <a:gridCol w="7454537">
                      <a:extLst>
                        <a:ext uri="{9D8B030D-6E8A-4147-A177-3AD203B41FA5}">
                          <a16:colId xmlns:a16="http://schemas.microsoft.com/office/drawing/2014/main" val="3767538111"/>
                        </a:ext>
                      </a:extLst>
                    </a:gridCol>
                  </a:tblGrid>
                  <a:tr h="683932">
                    <a:tc>
                      <a:txBody>
                        <a:bodyPr/>
                        <a:lstStyle/>
                        <a:p>
                          <a:r>
                            <a:rPr lang="en-GB" sz="2400" noProof="0" dirty="0"/>
                            <a:t>Level of the semantics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noProof="0" dirty="0"/>
                            <a:t>Formal relation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22701177"/>
                      </a:ext>
                    </a:extLst>
                  </a:tr>
                  <a:tr h="683932">
                    <a:tc>
                      <a:txBody>
                        <a:bodyPr/>
                        <a:lstStyle/>
                        <a:p>
                          <a:r>
                            <a:rPr lang="en-GB" sz="2400" noProof="0" dirty="0"/>
                            <a:t>Sequential semantics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d>
                                  <m:dPr>
                                    <m:begChr m:val="⟨"/>
                                    <m:endChr m:val="⟩"/>
                                    <m:ctrlPr>
                                      <a:rPr lang="en-GB" sz="2400" b="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GB" sz="2400" b="0" i="1" noProof="0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  <m:r>
                                      <a:rPr lang="en-GB" sz="2400" b="0" i="1" noProof="0" smtClean="0">
                                        <a:latin typeface="Cambria Math" panose="02040503050406030204" pitchFamily="18" charset="0"/>
                                      </a:rPr>
                                      <m:t>, </m:t>
                                    </m:r>
                                    <m:r>
                                      <a:rPr lang="en-GB" sz="2400" b="0" i="1" noProof="0" smtClean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</m:d>
                                <m:r>
                                  <a:rPr lang="en-GB" sz="2400" b="0" i="1" noProof="0" smtClean="0">
                                    <a:latin typeface="Cambria Math" panose="02040503050406030204" pitchFamily="18" charset="0"/>
                                  </a:rPr>
                                  <m:t>→⟨</m:t>
                                </m:r>
                                <m:r>
                                  <a:rPr lang="en-GB" sz="2400" b="0" i="1" noProof="0" smtClean="0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  <m:r>
                                  <a:rPr lang="en-GB" sz="2400" b="0" i="1" noProof="0" smtClean="0">
                                    <a:latin typeface="Cambria Math" panose="02040503050406030204" pitchFamily="18" charset="0"/>
                                  </a:rPr>
                                  <m:t>′, </m:t>
                                </m:r>
                                <m:sSup>
                                  <m:sSupPr>
                                    <m:ctrlPr>
                                      <a:rPr lang="en-GB" sz="2400" b="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2400" b="0" i="1" noProof="0" smtClean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GB" sz="2400" b="0" i="1" noProof="0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GB" sz="2400" b="0" i="1" noProof="0" smtClean="0">
                                    <a:latin typeface="Cambria Math" panose="02040503050406030204" pitchFamily="18" charset="0"/>
                                  </a:rPr>
                                  <m:t>⟩</m:t>
                                </m:r>
                              </m:oMath>
                            </m:oMathPara>
                          </a14:m>
                          <a:endParaRPr lang="en-GB" sz="2400" noProof="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154081398"/>
                      </a:ext>
                    </a:extLst>
                  </a:tr>
                  <a:tr h="926537">
                    <a:tc>
                      <a:txBody>
                        <a:bodyPr/>
                        <a:lstStyle/>
                        <a:p>
                          <a:r>
                            <a:rPr lang="en-GB" sz="2400" noProof="0" dirty="0"/>
                            <a:t>Process-local semantics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d>
                                  <m:dPr>
                                    <m:ctrlPr>
                                      <a:rPr lang="en-GB" sz="2400" b="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GB" sz="2400" b="0" i="1" noProof="0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  <m:r>
                                      <a:rPr lang="en-GB" sz="2400" b="0" i="1" noProof="0" smtClean="0">
                                        <a:latin typeface="Cambria Math" panose="02040503050406030204" pitchFamily="18" charset="0"/>
                                      </a:rPr>
                                      <m:t>, </m:t>
                                    </m:r>
                                    <m:r>
                                      <a:rPr lang="en-GB" sz="2400" b="0" i="1" noProof="0" smtClean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  <m:r>
                                      <a:rPr lang="en-GB" sz="2400" b="0" i="1" noProof="0" smtClean="0">
                                        <a:latin typeface="Cambria Math" panose="02040503050406030204" pitchFamily="18" charset="0"/>
                                      </a:rPr>
                                      <m:t>, </m:t>
                                    </m:r>
                                    <m:r>
                                      <a:rPr lang="en-GB" sz="2400" b="0" i="1" noProof="0" smtClean="0">
                                        <a:latin typeface="Cambria Math" panose="02040503050406030204" pitchFamily="18" charset="0"/>
                                      </a:rPr>
                                      <m:t>𝑚𝑏</m:t>
                                    </m:r>
                                    <m:r>
                                      <a:rPr lang="en-GB" sz="2400" b="0" i="1" noProof="0" smtClean="0">
                                        <a:latin typeface="Cambria Math" panose="02040503050406030204" pitchFamily="18" charset="0"/>
                                      </a:rPr>
                                      <m:t>, </m:t>
                                    </m:r>
                                    <m:r>
                                      <a:rPr lang="en-GB" sz="2400" b="0" i="1" noProof="0" smtClean="0">
                                        <a:latin typeface="Cambria Math" panose="02040503050406030204" pitchFamily="18" charset="0"/>
                                      </a:rPr>
                                      <m:t>𝑙𝑖𝑛𝑘𝑠</m:t>
                                    </m:r>
                                    <m:r>
                                      <a:rPr lang="en-GB" sz="2400" b="0" i="1" noProof="0" smtClean="0">
                                        <a:latin typeface="Cambria Math" panose="02040503050406030204" pitchFamily="18" charset="0"/>
                                      </a:rPr>
                                      <m:t>, </m:t>
                                    </m:r>
                                    <m:r>
                                      <a:rPr lang="en-GB" sz="2400" b="0" i="1" noProof="0" smtClean="0">
                                        <a:latin typeface="Cambria Math" panose="02040503050406030204" pitchFamily="18" charset="0"/>
                                      </a:rPr>
                                      <m:t>𝑓𝑙𝑎𝑔</m:t>
                                    </m:r>
                                  </m:e>
                                </m:d>
                                <m:groupChr>
                                  <m:groupChrPr>
                                    <m:chr m:val="→"/>
                                    <m:pos m:val="bot"/>
                                    <m:vertJc m:val="bot"/>
                                    <m:ctrlPr>
                                      <a:rPr lang="en-GB" sz="2400" b="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groupChrPr>
                                  <m:e>
                                    <m:r>
                                      <m:rPr>
                                        <m:brk m:alnAt="2"/>
                                      </m:rPr>
                                      <a:rPr lang="en-GB" sz="2400" b="0" i="1" noProof="0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</m:groupChr>
                                <m:d>
                                  <m:dPr>
                                    <m:ctrlPr>
                                      <a:rPr lang="en-GB" sz="2400" b="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GB" sz="2400" b="0" i="1" noProof="0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  <m:r>
                                      <a:rPr lang="en-GB" sz="2400" b="0" i="1" noProof="0" smtClean="0">
                                        <a:latin typeface="Cambria Math" panose="02040503050406030204" pitchFamily="18" charset="0"/>
                                      </a:rPr>
                                      <m:t>′, </m:t>
                                    </m:r>
                                    <m:r>
                                      <a:rPr lang="en-GB" sz="2400" b="0" i="1" noProof="0" smtClean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  <m:r>
                                      <a:rPr lang="en-GB" sz="2400" b="0" i="1" noProof="0" smtClean="0">
                                        <a:latin typeface="Cambria Math" panose="02040503050406030204" pitchFamily="18" charset="0"/>
                                      </a:rPr>
                                      <m:t>′, </m:t>
                                    </m:r>
                                    <m:r>
                                      <a:rPr lang="en-GB" sz="2400" b="0" i="1" noProof="0" smtClean="0">
                                        <a:latin typeface="Cambria Math" panose="02040503050406030204" pitchFamily="18" charset="0"/>
                                      </a:rPr>
                                      <m:t>𝑚𝑏</m:t>
                                    </m:r>
                                    <m:r>
                                      <a:rPr lang="en-GB" sz="2400" b="0" i="1" noProof="0" smtClean="0">
                                        <a:latin typeface="Cambria Math" panose="02040503050406030204" pitchFamily="18" charset="0"/>
                                      </a:rPr>
                                      <m:t>′, </m:t>
                                    </m:r>
                                    <m:r>
                                      <a:rPr lang="en-GB" sz="2400" b="0" i="1" noProof="0" smtClean="0">
                                        <a:latin typeface="Cambria Math" panose="02040503050406030204" pitchFamily="18" charset="0"/>
                                      </a:rPr>
                                      <m:t>𝑙𝑖𝑛𝑘𝑠</m:t>
                                    </m:r>
                                    <m:r>
                                      <a:rPr lang="en-GB" sz="2400" b="0" i="1" noProof="0" smtClean="0">
                                        <a:latin typeface="Cambria Math" panose="02040503050406030204" pitchFamily="18" charset="0"/>
                                      </a:rPr>
                                      <m:t>′, </m:t>
                                    </m:r>
                                    <m:r>
                                      <a:rPr lang="en-GB" sz="2400" b="0" i="1" noProof="0" smtClean="0">
                                        <a:latin typeface="Cambria Math" panose="02040503050406030204" pitchFamily="18" charset="0"/>
                                      </a:rPr>
                                      <m:t>𝑓𝑙𝑎𝑔</m:t>
                                    </m:r>
                                    <m:r>
                                      <a:rPr lang="en-GB" sz="2400" b="0" i="1" noProof="0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GB" sz="2400" noProof="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7523985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áblázat 2">
                <a:extLst>
                  <a:ext uri="{FF2B5EF4-FFF2-40B4-BE49-F238E27FC236}">
                    <a16:creationId xmlns:a16="http://schemas.microsoft.com/office/drawing/2014/main" id="{F9EF935F-5C45-EC4A-A9DA-4017B40D40A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63743343"/>
                  </p:ext>
                </p:extLst>
              </p:nvPr>
            </p:nvGraphicFramePr>
            <p:xfrm>
              <a:off x="505097" y="1724298"/>
              <a:ext cx="11181806" cy="2294401"/>
            </p:xfrm>
            <a:graphic>
              <a:graphicData uri="http://schemas.openxmlformats.org/drawingml/2006/table">
                <a:tbl>
                  <a:tblPr firstRow="1" bandRow="1">
                    <a:tableStyleId>{0E3FDE45-AF77-4B5C-9715-49D594BDF05E}</a:tableStyleId>
                  </a:tblPr>
                  <a:tblGrid>
                    <a:gridCol w="3727269">
                      <a:extLst>
                        <a:ext uri="{9D8B030D-6E8A-4147-A177-3AD203B41FA5}">
                          <a16:colId xmlns:a16="http://schemas.microsoft.com/office/drawing/2014/main" val="4283619804"/>
                        </a:ext>
                      </a:extLst>
                    </a:gridCol>
                    <a:gridCol w="7454537">
                      <a:extLst>
                        <a:ext uri="{9D8B030D-6E8A-4147-A177-3AD203B41FA5}">
                          <a16:colId xmlns:a16="http://schemas.microsoft.com/office/drawing/2014/main" val="3767538111"/>
                        </a:ext>
                      </a:extLst>
                    </a:gridCol>
                  </a:tblGrid>
                  <a:tr h="683932">
                    <a:tc>
                      <a:txBody>
                        <a:bodyPr/>
                        <a:lstStyle/>
                        <a:p>
                          <a:r>
                            <a:rPr lang="en-GB" sz="2400" noProof="0" dirty="0"/>
                            <a:t>Level of the semantics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noProof="0" dirty="0"/>
                            <a:t>Formal relation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22701177"/>
                      </a:ext>
                    </a:extLst>
                  </a:tr>
                  <a:tr h="683932">
                    <a:tc>
                      <a:txBody>
                        <a:bodyPr/>
                        <a:lstStyle/>
                        <a:p>
                          <a:r>
                            <a:rPr lang="en-GB" sz="2400" noProof="0" dirty="0"/>
                            <a:t>Sequential semantics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0000" t="-101786" r="-82" b="-1375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4081398"/>
                      </a:ext>
                    </a:extLst>
                  </a:tr>
                  <a:tr h="926537">
                    <a:tc>
                      <a:txBody>
                        <a:bodyPr/>
                        <a:lstStyle/>
                        <a:p>
                          <a:r>
                            <a:rPr lang="en-GB" sz="2400" noProof="0" dirty="0"/>
                            <a:t>Process-local semantics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0000" t="-147712" r="-82" b="-6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7523985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Ellipszis 21">
                <a:extLst>
                  <a:ext uri="{FF2B5EF4-FFF2-40B4-BE49-F238E27FC236}">
                    <a16:creationId xmlns:a16="http://schemas.microsoft.com/office/drawing/2014/main" id="{D5E51DAB-3BCD-EDDC-4BB1-E9E79F28C7E1}"/>
                  </a:ext>
                </a:extLst>
              </p:cNvPr>
              <p:cNvSpPr/>
              <p:nvPr/>
            </p:nvSpPr>
            <p:spPr>
              <a:xfrm>
                <a:off x="7249697" y="5332597"/>
                <a:ext cx="961534" cy="961534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hu-HU" sz="2400" b="0" i="1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sz="2400" b="0" i="1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𝜄</m:t>
                          </m:r>
                        </m:e>
                        <m:sub>
                          <m:r>
                            <a:rPr lang="hu-HU" sz="2400" b="0" i="1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sz="2400" dirty="0">
                  <a:solidFill>
                    <a:schemeClr val="bg1">
                      <a:lumMod val="8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22" name="Ellipszis 21">
                <a:extLst>
                  <a:ext uri="{FF2B5EF4-FFF2-40B4-BE49-F238E27FC236}">
                    <a16:creationId xmlns:a16="http://schemas.microsoft.com/office/drawing/2014/main" id="{D5E51DAB-3BCD-EDDC-4BB1-E9E79F28C7E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9697" y="5332597"/>
                <a:ext cx="961534" cy="961534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bg1">
                    <a:lumMod val="85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églalap: lekerekített 22">
            <a:extLst>
              <a:ext uri="{FF2B5EF4-FFF2-40B4-BE49-F238E27FC236}">
                <a16:creationId xmlns:a16="http://schemas.microsoft.com/office/drawing/2014/main" id="{C871B049-2A95-174A-0025-0F18A5F797F4}"/>
              </a:ext>
            </a:extLst>
          </p:cNvPr>
          <p:cNvSpPr/>
          <p:nvPr/>
        </p:nvSpPr>
        <p:spPr>
          <a:xfrm>
            <a:off x="7249697" y="6470864"/>
            <a:ext cx="961534" cy="272524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 err="1">
                <a:solidFill>
                  <a:schemeClr val="bg1">
                    <a:lumMod val="85000"/>
                  </a:schemeClr>
                </a:solidFill>
              </a:rPr>
              <a:t>Mailbox</a:t>
            </a:r>
            <a:endParaRPr lang="en-GB" dirty="0">
              <a:solidFill>
                <a:schemeClr val="bg1">
                  <a:lumMod val="85000"/>
                </a:schemeClr>
              </a:solidFill>
            </a:endParaRPr>
          </a:p>
        </p:txBody>
      </p:sp>
      <p:cxnSp>
        <p:nvCxnSpPr>
          <p:cNvPr id="24" name="Egyenes összekötő nyíllal 23">
            <a:extLst>
              <a:ext uri="{FF2B5EF4-FFF2-40B4-BE49-F238E27FC236}">
                <a16:creationId xmlns:a16="http://schemas.microsoft.com/office/drawing/2014/main" id="{4DAFE25C-1706-9B9C-4269-59F342E012DD}"/>
              </a:ext>
            </a:extLst>
          </p:cNvPr>
          <p:cNvCxnSpPr>
            <a:cxnSpLocks/>
            <a:stCxn id="23" idx="0"/>
            <a:endCxn id="22" idx="4"/>
          </p:cNvCxnSpPr>
          <p:nvPr/>
        </p:nvCxnSpPr>
        <p:spPr>
          <a:xfrm flipV="1">
            <a:off x="7730464" y="6294131"/>
            <a:ext cx="0" cy="176733"/>
          </a:xfrm>
          <a:prstGeom prst="straightConnector1">
            <a:avLst/>
          </a:prstGeom>
          <a:ln w="28575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Ellipszis 24">
                <a:extLst>
                  <a:ext uri="{FF2B5EF4-FFF2-40B4-BE49-F238E27FC236}">
                    <a16:creationId xmlns:a16="http://schemas.microsoft.com/office/drawing/2014/main" id="{12C894FA-0B42-A4C2-B1AC-39F6D87202B7}"/>
                  </a:ext>
                </a:extLst>
              </p:cNvPr>
              <p:cNvSpPr/>
              <p:nvPr/>
            </p:nvSpPr>
            <p:spPr>
              <a:xfrm>
                <a:off x="11033571" y="5332597"/>
                <a:ext cx="961534" cy="961534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hu-HU" sz="2400" b="0" i="1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sz="2400" b="0" i="1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𝜄</m:t>
                          </m:r>
                        </m:e>
                        <m:sub>
                          <m:r>
                            <a:rPr lang="hu-HU" sz="2400" b="0" i="1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GB" sz="2400" dirty="0">
                  <a:solidFill>
                    <a:schemeClr val="bg1">
                      <a:lumMod val="8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25" name="Ellipszis 24">
                <a:extLst>
                  <a:ext uri="{FF2B5EF4-FFF2-40B4-BE49-F238E27FC236}">
                    <a16:creationId xmlns:a16="http://schemas.microsoft.com/office/drawing/2014/main" id="{12C894FA-0B42-A4C2-B1AC-39F6D87202B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33571" y="5332597"/>
                <a:ext cx="961534" cy="961534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28575">
                <a:solidFill>
                  <a:schemeClr val="bg1">
                    <a:lumMod val="85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églalap: lekerekített 25">
            <a:extLst>
              <a:ext uri="{FF2B5EF4-FFF2-40B4-BE49-F238E27FC236}">
                <a16:creationId xmlns:a16="http://schemas.microsoft.com/office/drawing/2014/main" id="{8824237A-143A-99EA-9046-06E3A01A304E}"/>
              </a:ext>
            </a:extLst>
          </p:cNvPr>
          <p:cNvSpPr/>
          <p:nvPr/>
        </p:nvSpPr>
        <p:spPr>
          <a:xfrm>
            <a:off x="11033571" y="6470864"/>
            <a:ext cx="961534" cy="272524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 err="1">
                <a:solidFill>
                  <a:schemeClr val="bg1">
                    <a:lumMod val="85000"/>
                  </a:schemeClr>
                </a:solidFill>
              </a:rPr>
              <a:t>Mailbox</a:t>
            </a:r>
            <a:endParaRPr lang="en-GB" dirty="0">
              <a:solidFill>
                <a:schemeClr val="bg1">
                  <a:lumMod val="85000"/>
                </a:schemeClr>
              </a:solidFill>
            </a:endParaRPr>
          </a:p>
        </p:txBody>
      </p:sp>
      <p:cxnSp>
        <p:nvCxnSpPr>
          <p:cNvPr id="27" name="Egyenes összekötő nyíllal 26">
            <a:extLst>
              <a:ext uri="{FF2B5EF4-FFF2-40B4-BE49-F238E27FC236}">
                <a16:creationId xmlns:a16="http://schemas.microsoft.com/office/drawing/2014/main" id="{AC7274BF-82F0-D69A-0257-543C0DC59E03}"/>
              </a:ext>
            </a:extLst>
          </p:cNvPr>
          <p:cNvCxnSpPr>
            <a:cxnSpLocks/>
            <a:stCxn id="26" idx="0"/>
            <a:endCxn id="25" idx="4"/>
          </p:cNvCxnSpPr>
          <p:nvPr/>
        </p:nvCxnSpPr>
        <p:spPr>
          <a:xfrm flipV="1">
            <a:off x="11514338" y="6294131"/>
            <a:ext cx="0" cy="176733"/>
          </a:xfrm>
          <a:prstGeom prst="straightConnector1">
            <a:avLst/>
          </a:prstGeom>
          <a:ln w="28575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Egyenes összekötő nyíllal 27">
            <a:extLst>
              <a:ext uri="{FF2B5EF4-FFF2-40B4-BE49-F238E27FC236}">
                <a16:creationId xmlns:a16="http://schemas.microsoft.com/office/drawing/2014/main" id="{A747554E-ED62-0E6A-27BD-A800CDE6176A}"/>
              </a:ext>
            </a:extLst>
          </p:cNvPr>
          <p:cNvCxnSpPr/>
          <p:nvPr/>
        </p:nvCxnSpPr>
        <p:spPr>
          <a:xfrm>
            <a:off x="8211231" y="5819167"/>
            <a:ext cx="2822340" cy="0"/>
          </a:xfrm>
          <a:prstGeom prst="straightConnector1">
            <a:avLst/>
          </a:prstGeom>
          <a:ln w="28575">
            <a:solidFill>
              <a:srgbClr val="002060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Ábra 28" descr="Hivatkozás körvonalas">
            <a:extLst>
              <a:ext uri="{FF2B5EF4-FFF2-40B4-BE49-F238E27FC236}">
                <a16:creationId xmlns:a16="http://schemas.microsoft.com/office/drawing/2014/main" id="{D891C1DC-A674-41CF-13FE-5EBD9DBAF0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93801" y="5361968"/>
            <a:ext cx="457199" cy="457199"/>
          </a:xfrm>
          <a:prstGeom prst="rect">
            <a:avLst/>
          </a:prstGeom>
        </p:spPr>
      </p:pic>
      <p:pic>
        <p:nvPicPr>
          <p:cNvPr id="30" name="Ábra 29" descr="Koponya egyszínű kitöltéssel">
            <a:extLst>
              <a:ext uri="{FF2B5EF4-FFF2-40B4-BE49-F238E27FC236}">
                <a16:creationId xmlns:a16="http://schemas.microsoft.com/office/drawing/2014/main" id="{01CECBB9-2849-6825-D49A-804601B2002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057138" y="5367246"/>
            <a:ext cx="914400" cy="914400"/>
          </a:xfrm>
          <a:prstGeom prst="rect">
            <a:avLst/>
          </a:prstGeom>
        </p:spPr>
      </p:pic>
      <p:cxnSp>
        <p:nvCxnSpPr>
          <p:cNvPr id="31" name="Egyenes összekötő nyíllal 30">
            <a:extLst>
              <a:ext uri="{FF2B5EF4-FFF2-40B4-BE49-F238E27FC236}">
                <a16:creationId xmlns:a16="http://schemas.microsoft.com/office/drawing/2014/main" id="{4084B6B4-C64D-E1B5-7625-8AA5288100F3}"/>
              </a:ext>
            </a:extLst>
          </p:cNvPr>
          <p:cNvCxnSpPr>
            <a:cxnSpLocks/>
          </p:cNvCxnSpPr>
          <p:nvPr/>
        </p:nvCxnSpPr>
        <p:spPr>
          <a:xfrm flipH="1">
            <a:off x="8211231" y="5819771"/>
            <a:ext cx="282234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Ábra 31" descr="Koponya egyszínű kitöltéssel">
            <a:extLst>
              <a:ext uri="{FF2B5EF4-FFF2-40B4-BE49-F238E27FC236}">
                <a16:creationId xmlns:a16="http://schemas.microsoft.com/office/drawing/2014/main" id="{9345748B-5774-D5A8-212A-313E403CE2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91552" y="5350885"/>
            <a:ext cx="914400" cy="914400"/>
          </a:xfrm>
          <a:prstGeom prst="rect">
            <a:avLst/>
          </a:prstGeom>
        </p:spPr>
      </p:pic>
      <p:pic>
        <p:nvPicPr>
          <p:cNvPr id="33" name="Kép 32">
            <a:extLst>
              <a:ext uri="{FF2B5EF4-FFF2-40B4-BE49-F238E27FC236}">
                <a16:creationId xmlns:a16="http://schemas.microsoft.com/office/drawing/2014/main" id="{6BBF67EE-5506-196B-5714-949ACC20984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6828" y="3913580"/>
            <a:ext cx="8019124" cy="141871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551444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5" grpId="0" animBg="1"/>
      <p:bldP spid="2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731F48-7187-4F64-1CE1-497654C687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zövegdoboz 2">
            <a:extLst>
              <a:ext uri="{FF2B5EF4-FFF2-40B4-BE49-F238E27FC236}">
                <a16:creationId xmlns:a16="http://schemas.microsoft.com/office/drawing/2014/main" id="{444E3015-0F02-B936-B238-0555DB55F5D9}"/>
              </a:ext>
            </a:extLst>
          </p:cNvPr>
          <p:cNvSpPr txBox="1"/>
          <p:nvPr/>
        </p:nvSpPr>
        <p:spPr>
          <a:xfrm>
            <a:off x="838200" y="399495"/>
            <a:ext cx="10515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6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Modular semantics</a:t>
            </a:r>
          </a:p>
        </p:txBody>
      </p:sp>
      <p:cxnSp>
        <p:nvCxnSpPr>
          <p:cNvPr id="6" name="Egyenes összekötő 5">
            <a:extLst>
              <a:ext uri="{FF2B5EF4-FFF2-40B4-BE49-F238E27FC236}">
                <a16:creationId xmlns:a16="http://schemas.microsoft.com/office/drawing/2014/main" id="{301EDCE2-6CE9-7D02-6D76-1D3B311C74BF}"/>
              </a:ext>
            </a:extLst>
          </p:cNvPr>
          <p:cNvCxnSpPr/>
          <p:nvPr/>
        </p:nvCxnSpPr>
        <p:spPr>
          <a:xfrm>
            <a:off x="838200" y="1145220"/>
            <a:ext cx="10676138" cy="0"/>
          </a:xfrm>
          <a:prstGeom prst="line">
            <a:avLst/>
          </a:prstGeom>
          <a:ln>
            <a:solidFill>
              <a:srgbClr val="0128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áblázat 2">
                <a:extLst>
                  <a:ext uri="{FF2B5EF4-FFF2-40B4-BE49-F238E27FC236}">
                    <a16:creationId xmlns:a16="http://schemas.microsoft.com/office/drawing/2014/main" id="{A10228E7-E626-9748-EF7F-DD63A24EC9BE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05097" y="1724298"/>
              <a:ext cx="11181806" cy="2294401"/>
            </p:xfrm>
            <a:graphic>
              <a:graphicData uri="http://schemas.openxmlformats.org/drawingml/2006/table">
                <a:tbl>
                  <a:tblPr firstRow="1" bandRow="1">
                    <a:tableStyleId>{0E3FDE45-AF77-4B5C-9715-49D594BDF05E}</a:tableStyleId>
                  </a:tblPr>
                  <a:tblGrid>
                    <a:gridCol w="3727269">
                      <a:extLst>
                        <a:ext uri="{9D8B030D-6E8A-4147-A177-3AD203B41FA5}">
                          <a16:colId xmlns:a16="http://schemas.microsoft.com/office/drawing/2014/main" val="4283619804"/>
                        </a:ext>
                      </a:extLst>
                    </a:gridCol>
                    <a:gridCol w="7454537">
                      <a:extLst>
                        <a:ext uri="{9D8B030D-6E8A-4147-A177-3AD203B41FA5}">
                          <a16:colId xmlns:a16="http://schemas.microsoft.com/office/drawing/2014/main" val="3767538111"/>
                        </a:ext>
                      </a:extLst>
                    </a:gridCol>
                  </a:tblGrid>
                  <a:tr h="683932">
                    <a:tc>
                      <a:txBody>
                        <a:bodyPr/>
                        <a:lstStyle/>
                        <a:p>
                          <a:r>
                            <a:rPr lang="en-GB" sz="2400" noProof="0" dirty="0"/>
                            <a:t>Level of the semantics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noProof="0" dirty="0"/>
                            <a:t>Formal relation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22701177"/>
                      </a:ext>
                    </a:extLst>
                  </a:tr>
                  <a:tr h="683932">
                    <a:tc>
                      <a:txBody>
                        <a:bodyPr/>
                        <a:lstStyle/>
                        <a:p>
                          <a:r>
                            <a:rPr lang="en-GB" sz="2400" noProof="0" dirty="0"/>
                            <a:t>Sequential semantics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d>
                                  <m:dPr>
                                    <m:begChr m:val="⟨"/>
                                    <m:endChr m:val="⟩"/>
                                    <m:ctrlPr>
                                      <a:rPr lang="en-GB" sz="2400" b="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GB" sz="2400" b="0" i="1" noProof="0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  <m:r>
                                      <a:rPr lang="en-GB" sz="2400" b="0" i="1" noProof="0" smtClean="0">
                                        <a:latin typeface="Cambria Math" panose="02040503050406030204" pitchFamily="18" charset="0"/>
                                      </a:rPr>
                                      <m:t>, </m:t>
                                    </m:r>
                                    <m:r>
                                      <a:rPr lang="en-GB" sz="2400" b="0" i="1" noProof="0" smtClean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</m:d>
                                <m:r>
                                  <a:rPr lang="en-GB" sz="2400" b="0" i="1" noProof="0" smtClean="0">
                                    <a:latin typeface="Cambria Math" panose="02040503050406030204" pitchFamily="18" charset="0"/>
                                  </a:rPr>
                                  <m:t>→⟨</m:t>
                                </m:r>
                                <m:r>
                                  <a:rPr lang="en-GB" sz="2400" b="0" i="1" noProof="0" smtClean="0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  <m:r>
                                  <a:rPr lang="en-GB" sz="2400" b="0" i="1" noProof="0" smtClean="0">
                                    <a:latin typeface="Cambria Math" panose="02040503050406030204" pitchFamily="18" charset="0"/>
                                  </a:rPr>
                                  <m:t>′, </m:t>
                                </m:r>
                                <m:sSup>
                                  <m:sSupPr>
                                    <m:ctrlPr>
                                      <a:rPr lang="en-GB" sz="2400" b="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2400" b="0" i="1" noProof="0" smtClean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GB" sz="2400" b="0" i="1" noProof="0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GB" sz="2400" b="0" i="1" noProof="0" smtClean="0">
                                    <a:latin typeface="Cambria Math" panose="02040503050406030204" pitchFamily="18" charset="0"/>
                                  </a:rPr>
                                  <m:t>⟩</m:t>
                                </m:r>
                              </m:oMath>
                            </m:oMathPara>
                          </a14:m>
                          <a:endParaRPr lang="en-GB" sz="2400" noProof="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154081398"/>
                      </a:ext>
                    </a:extLst>
                  </a:tr>
                  <a:tr h="926537">
                    <a:tc>
                      <a:txBody>
                        <a:bodyPr/>
                        <a:lstStyle/>
                        <a:p>
                          <a:r>
                            <a:rPr lang="en-GB" sz="2400" noProof="0" dirty="0"/>
                            <a:t>Process-local semantics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d>
                                  <m:dPr>
                                    <m:ctrlPr>
                                      <a:rPr lang="en-GB" sz="2400" b="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GB" sz="2400" b="0" i="1" noProof="0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  <m:r>
                                      <a:rPr lang="en-GB" sz="2400" b="0" i="1" noProof="0" smtClean="0">
                                        <a:latin typeface="Cambria Math" panose="02040503050406030204" pitchFamily="18" charset="0"/>
                                      </a:rPr>
                                      <m:t>, </m:t>
                                    </m:r>
                                    <m:r>
                                      <a:rPr lang="en-GB" sz="2400" b="0" i="1" noProof="0" smtClean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  <m:r>
                                      <a:rPr lang="en-GB" sz="2400" b="0" i="1" noProof="0" smtClean="0">
                                        <a:latin typeface="Cambria Math" panose="02040503050406030204" pitchFamily="18" charset="0"/>
                                      </a:rPr>
                                      <m:t>, </m:t>
                                    </m:r>
                                    <m:r>
                                      <a:rPr lang="en-GB" sz="2400" b="0" i="1" noProof="0" smtClean="0">
                                        <a:latin typeface="Cambria Math" panose="02040503050406030204" pitchFamily="18" charset="0"/>
                                      </a:rPr>
                                      <m:t>𝑚𝑏</m:t>
                                    </m:r>
                                    <m:r>
                                      <a:rPr lang="en-GB" sz="2400" b="0" i="1" noProof="0" smtClean="0">
                                        <a:latin typeface="Cambria Math" panose="02040503050406030204" pitchFamily="18" charset="0"/>
                                      </a:rPr>
                                      <m:t>, </m:t>
                                    </m:r>
                                    <m:r>
                                      <a:rPr lang="en-GB" sz="2400" b="0" i="1" noProof="0" smtClean="0">
                                        <a:latin typeface="Cambria Math" panose="02040503050406030204" pitchFamily="18" charset="0"/>
                                      </a:rPr>
                                      <m:t>𝑙𝑖𝑛𝑘𝑠</m:t>
                                    </m:r>
                                    <m:r>
                                      <a:rPr lang="en-GB" sz="2400" b="0" i="1" noProof="0" smtClean="0">
                                        <a:latin typeface="Cambria Math" panose="02040503050406030204" pitchFamily="18" charset="0"/>
                                      </a:rPr>
                                      <m:t>, </m:t>
                                    </m:r>
                                    <m:r>
                                      <a:rPr lang="en-GB" sz="2400" b="0" i="1" noProof="0" smtClean="0">
                                        <a:latin typeface="Cambria Math" panose="02040503050406030204" pitchFamily="18" charset="0"/>
                                      </a:rPr>
                                      <m:t>𝑓𝑙𝑎𝑔</m:t>
                                    </m:r>
                                  </m:e>
                                </m:d>
                                <m:groupChr>
                                  <m:groupChrPr>
                                    <m:chr m:val="→"/>
                                    <m:pos m:val="bot"/>
                                    <m:vertJc m:val="bot"/>
                                    <m:ctrlPr>
                                      <a:rPr lang="en-GB" sz="2400" b="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groupChrPr>
                                  <m:e>
                                    <m:r>
                                      <m:rPr>
                                        <m:brk m:alnAt="2"/>
                                      </m:rPr>
                                      <a:rPr lang="en-GB" sz="2400" b="0" i="1" noProof="0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</m:groupChr>
                                <m:d>
                                  <m:dPr>
                                    <m:ctrlPr>
                                      <a:rPr lang="en-GB" sz="2400" b="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GB" sz="2400" b="0" i="1" noProof="0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  <m:r>
                                      <a:rPr lang="en-GB" sz="2400" b="0" i="1" noProof="0" smtClean="0">
                                        <a:latin typeface="Cambria Math" panose="02040503050406030204" pitchFamily="18" charset="0"/>
                                      </a:rPr>
                                      <m:t>′, </m:t>
                                    </m:r>
                                    <m:r>
                                      <a:rPr lang="en-GB" sz="2400" b="0" i="1" noProof="0" smtClean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  <m:r>
                                      <a:rPr lang="en-GB" sz="2400" b="0" i="1" noProof="0" smtClean="0">
                                        <a:latin typeface="Cambria Math" panose="02040503050406030204" pitchFamily="18" charset="0"/>
                                      </a:rPr>
                                      <m:t>′, </m:t>
                                    </m:r>
                                    <m:r>
                                      <a:rPr lang="en-GB" sz="2400" b="0" i="1" noProof="0" smtClean="0">
                                        <a:latin typeface="Cambria Math" panose="02040503050406030204" pitchFamily="18" charset="0"/>
                                      </a:rPr>
                                      <m:t>𝑚𝑏</m:t>
                                    </m:r>
                                    <m:r>
                                      <a:rPr lang="en-GB" sz="2400" b="0" i="1" noProof="0" smtClean="0">
                                        <a:latin typeface="Cambria Math" panose="02040503050406030204" pitchFamily="18" charset="0"/>
                                      </a:rPr>
                                      <m:t>′, </m:t>
                                    </m:r>
                                    <m:r>
                                      <a:rPr lang="en-GB" sz="2400" b="0" i="1" noProof="0" smtClean="0">
                                        <a:latin typeface="Cambria Math" panose="02040503050406030204" pitchFamily="18" charset="0"/>
                                      </a:rPr>
                                      <m:t>𝑙𝑖𝑛𝑘𝑠</m:t>
                                    </m:r>
                                    <m:r>
                                      <a:rPr lang="en-GB" sz="2400" b="0" i="1" noProof="0" smtClean="0">
                                        <a:latin typeface="Cambria Math" panose="02040503050406030204" pitchFamily="18" charset="0"/>
                                      </a:rPr>
                                      <m:t>′, </m:t>
                                    </m:r>
                                    <m:r>
                                      <a:rPr lang="en-GB" sz="2400" b="0" i="1" noProof="0" smtClean="0">
                                        <a:latin typeface="Cambria Math" panose="02040503050406030204" pitchFamily="18" charset="0"/>
                                      </a:rPr>
                                      <m:t>𝑓𝑙𝑎𝑔</m:t>
                                    </m:r>
                                    <m:r>
                                      <a:rPr lang="en-GB" sz="2400" b="0" i="1" noProof="0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GB" sz="2400" noProof="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7523985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áblázat 2">
                <a:extLst>
                  <a:ext uri="{FF2B5EF4-FFF2-40B4-BE49-F238E27FC236}">
                    <a16:creationId xmlns:a16="http://schemas.microsoft.com/office/drawing/2014/main" id="{A10228E7-E626-9748-EF7F-DD63A24EC9BE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05097" y="1724298"/>
              <a:ext cx="11181806" cy="2294401"/>
            </p:xfrm>
            <a:graphic>
              <a:graphicData uri="http://schemas.openxmlformats.org/drawingml/2006/table">
                <a:tbl>
                  <a:tblPr firstRow="1" bandRow="1">
                    <a:tableStyleId>{0E3FDE45-AF77-4B5C-9715-49D594BDF05E}</a:tableStyleId>
                  </a:tblPr>
                  <a:tblGrid>
                    <a:gridCol w="3727269">
                      <a:extLst>
                        <a:ext uri="{9D8B030D-6E8A-4147-A177-3AD203B41FA5}">
                          <a16:colId xmlns:a16="http://schemas.microsoft.com/office/drawing/2014/main" val="4283619804"/>
                        </a:ext>
                      </a:extLst>
                    </a:gridCol>
                    <a:gridCol w="7454537">
                      <a:extLst>
                        <a:ext uri="{9D8B030D-6E8A-4147-A177-3AD203B41FA5}">
                          <a16:colId xmlns:a16="http://schemas.microsoft.com/office/drawing/2014/main" val="3767538111"/>
                        </a:ext>
                      </a:extLst>
                    </a:gridCol>
                  </a:tblGrid>
                  <a:tr h="683932">
                    <a:tc>
                      <a:txBody>
                        <a:bodyPr/>
                        <a:lstStyle/>
                        <a:p>
                          <a:r>
                            <a:rPr lang="en-GB" sz="2400" noProof="0" dirty="0"/>
                            <a:t>Level of the semantics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noProof="0" dirty="0"/>
                            <a:t>Formal relation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22701177"/>
                      </a:ext>
                    </a:extLst>
                  </a:tr>
                  <a:tr h="683932">
                    <a:tc>
                      <a:txBody>
                        <a:bodyPr/>
                        <a:lstStyle/>
                        <a:p>
                          <a:r>
                            <a:rPr lang="en-GB" sz="2400" noProof="0" dirty="0"/>
                            <a:t>Sequential semantics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0000" t="-101786" r="-82" b="-1375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4081398"/>
                      </a:ext>
                    </a:extLst>
                  </a:tr>
                  <a:tr h="926537">
                    <a:tc>
                      <a:txBody>
                        <a:bodyPr/>
                        <a:lstStyle/>
                        <a:p>
                          <a:r>
                            <a:rPr lang="en-GB" sz="2400" noProof="0" dirty="0"/>
                            <a:t>Process-local semantics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0000" t="-147712" r="-82" b="-6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7523985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Ellipszis 21">
                <a:extLst>
                  <a:ext uri="{FF2B5EF4-FFF2-40B4-BE49-F238E27FC236}">
                    <a16:creationId xmlns:a16="http://schemas.microsoft.com/office/drawing/2014/main" id="{2C43B8AE-7909-ADA6-6E1E-3C9709327784}"/>
                  </a:ext>
                </a:extLst>
              </p:cNvPr>
              <p:cNvSpPr/>
              <p:nvPr/>
            </p:nvSpPr>
            <p:spPr>
              <a:xfrm>
                <a:off x="7249697" y="5332597"/>
                <a:ext cx="961534" cy="961534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rgbClr val="01285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hu-HU" sz="2400" b="0" i="1" smtClean="0">
                              <a:solidFill>
                                <a:srgbClr val="01285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sz="2400" b="0" i="1" smtClean="0">
                              <a:solidFill>
                                <a:srgbClr val="012851"/>
                              </a:solidFill>
                              <a:latin typeface="Cambria Math" panose="02040503050406030204" pitchFamily="18" charset="0"/>
                            </a:rPr>
                            <m:t>𝜄</m:t>
                          </m:r>
                        </m:e>
                        <m:sub>
                          <m:r>
                            <a:rPr lang="hu-HU" sz="2400" b="0" i="1" smtClean="0">
                              <a:solidFill>
                                <a:srgbClr val="01285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sz="2400" dirty="0">
                  <a:solidFill>
                    <a:srgbClr val="012851"/>
                  </a:solidFill>
                </a:endParaRPr>
              </a:p>
            </p:txBody>
          </p:sp>
        </mc:Choice>
        <mc:Fallback>
          <p:sp>
            <p:nvSpPr>
              <p:cNvPr id="22" name="Ellipszis 21">
                <a:extLst>
                  <a:ext uri="{FF2B5EF4-FFF2-40B4-BE49-F238E27FC236}">
                    <a16:creationId xmlns:a16="http://schemas.microsoft.com/office/drawing/2014/main" id="{2C43B8AE-7909-ADA6-6E1E-3C970932778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9697" y="5332597"/>
                <a:ext cx="961534" cy="961534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rgbClr val="01285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églalap: lekerekített 22">
            <a:extLst>
              <a:ext uri="{FF2B5EF4-FFF2-40B4-BE49-F238E27FC236}">
                <a16:creationId xmlns:a16="http://schemas.microsoft.com/office/drawing/2014/main" id="{6D9B3852-E15A-1E56-DE5F-8E49C124E460}"/>
              </a:ext>
            </a:extLst>
          </p:cNvPr>
          <p:cNvSpPr/>
          <p:nvPr/>
        </p:nvSpPr>
        <p:spPr>
          <a:xfrm>
            <a:off x="7249697" y="6470864"/>
            <a:ext cx="961534" cy="272524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0128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 err="1">
                <a:solidFill>
                  <a:srgbClr val="012851"/>
                </a:solidFill>
              </a:rPr>
              <a:t>Mailbox</a:t>
            </a:r>
            <a:endParaRPr lang="en-GB" dirty="0">
              <a:solidFill>
                <a:srgbClr val="012851"/>
              </a:solidFill>
            </a:endParaRPr>
          </a:p>
        </p:txBody>
      </p:sp>
      <p:cxnSp>
        <p:nvCxnSpPr>
          <p:cNvPr id="24" name="Egyenes összekötő nyíllal 23">
            <a:extLst>
              <a:ext uri="{FF2B5EF4-FFF2-40B4-BE49-F238E27FC236}">
                <a16:creationId xmlns:a16="http://schemas.microsoft.com/office/drawing/2014/main" id="{71B998A4-C946-5597-4CA4-E6264F0A9E8D}"/>
              </a:ext>
            </a:extLst>
          </p:cNvPr>
          <p:cNvCxnSpPr>
            <a:cxnSpLocks/>
            <a:stCxn id="23" idx="0"/>
            <a:endCxn id="22" idx="4"/>
          </p:cNvCxnSpPr>
          <p:nvPr/>
        </p:nvCxnSpPr>
        <p:spPr>
          <a:xfrm flipV="1">
            <a:off x="7730464" y="6294131"/>
            <a:ext cx="0" cy="176733"/>
          </a:xfrm>
          <a:prstGeom prst="straightConnector1">
            <a:avLst/>
          </a:prstGeom>
          <a:ln w="28575">
            <a:solidFill>
              <a:srgbClr val="01285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Ellipszis 24">
                <a:extLst>
                  <a:ext uri="{FF2B5EF4-FFF2-40B4-BE49-F238E27FC236}">
                    <a16:creationId xmlns:a16="http://schemas.microsoft.com/office/drawing/2014/main" id="{8BDEB31F-E4D2-F7AE-A297-1A4654081BE8}"/>
                  </a:ext>
                </a:extLst>
              </p:cNvPr>
              <p:cNvSpPr/>
              <p:nvPr/>
            </p:nvSpPr>
            <p:spPr>
              <a:xfrm>
                <a:off x="11033571" y="5332597"/>
                <a:ext cx="961534" cy="961534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hu-HU" sz="2400" b="0" i="1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sz="2400" b="0" i="1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𝜄</m:t>
                          </m:r>
                        </m:e>
                        <m:sub>
                          <m:r>
                            <a:rPr lang="hu-HU" sz="2400" b="0" i="1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GB" sz="2400" dirty="0">
                  <a:solidFill>
                    <a:schemeClr val="bg1">
                      <a:lumMod val="8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25" name="Ellipszis 24">
                <a:extLst>
                  <a:ext uri="{FF2B5EF4-FFF2-40B4-BE49-F238E27FC236}">
                    <a16:creationId xmlns:a16="http://schemas.microsoft.com/office/drawing/2014/main" id="{8BDEB31F-E4D2-F7AE-A297-1A4654081BE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33571" y="5332597"/>
                <a:ext cx="961534" cy="961534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28575">
                <a:solidFill>
                  <a:schemeClr val="bg1">
                    <a:lumMod val="85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églalap: lekerekített 25">
            <a:extLst>
              <a:ext uri="{FF2B5EF4-FFF2-40B4-BE49-F238E27FC236}">
                <a16:creationId xmlns:a16="http://schemas.microsoft.com/office/drawing/2014/main" id="{7101F571-B674-9747-C052-31328C4552D8}"/>
              </a:ext>
            </a:extLst>
          </p:cNvPr>
          <p:cNvSpPr/>
          <p:nvPr/>
        </p:nvSpPr>
        <p:spPr>
          <a:xfrm>
            <a:off x="11033571" y="6470864"/>
            <a:ext cx="961534" cy="272524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 err="1">
                <a:solidFill>
                  <a:schemeClr val="bg1">
                    <a:lumMod val="85000"/>
                  </a:schemeClr>
                </a:solidFill>
              </a:rPr>
              <a:t>Mailbox</a:t>
            </a:r>
            <a:endParaRPr lang="en-GB" dirty="0">
              <a:solidFill>
                <a:schemeClr val="bg1">
                  <a:lumMod val="85000"/>
                </a:schemeClr>
              </a:solidFill>
            </a:endParaRPr>
          </a:p>
        </p:txBody>
      </p:sp>
      <p:cxnSp>
        <p:nvCxnSpPr>
          <p:cNvPr id="27" name="Egyenes összekötő nyíllal 26">
            <a:extLst>
              <a:ext uri="{FF2B5EF4-FFF2-40B4-BE49-F238E27FC236}">
                <a16:creationId xmlns:a16="http://schemas.microsoft.com/office/drawing/2014/main" id="{DD7303F4-DFDE-6929-B1E6-8BB613F6DD00}"/>
              </a:ext>
            </a:extLst>
          </p:cNvPr>
          <p:cNvCxnSpPr>
            <a:cxnSpLocks/>
            <a:stCxn id="26" idx="0"/>
            <a:endCxn id="25" idx="4"/>
          </p:cNvCxnSpPr>
          <p:nvPr/>
        </p:nvCxnSpPr>
        <p:spPr>
          <a:xfrm flipV="1">
            <a:off x="11514338" y="6294131"/>
            <a:ext cx="0" cy="176733"/>
          </a:xfrm>
          <a:prstGeom prst="straightConnector1">
            <a:avLst/>
          </a:prstGeom>
          <a:ln w="28575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Egyenes összekötő nyíllal 27">
            <a:extLst>
              <a:ext uri="{FF2B5EF4-FFF2-40B4-BE49-F238E27FC236}">
                <a16:creationId xmlns:a16="http://schemas.microsoft.com/office/drawing/2014/main" id="{15F6DAF2-66ED-1741-7AD6-2D58AA560512}"/>
              </a:ext>
            </a:extLst>
          </p:cNvPr>
          <p:cNvCxnSpPr/>
          <p:nvPr/>
        </p:nvCxnSpPr>
        <p:spPr>
          <a:xfrm>
            <a:off x="8211231" y="5819167"/>
            <a:ext cx="2822340" cy="0"/>
          </a:xfrm>
          <a:prstGeom prst="straightConnector1">
            <a:avLst/>
          </a:prstGeom>
          <a:ln w="28575">
            <a:solidFill>
              <a:srgbClr val="002060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Ábra 28" descr="Hivatkozás körvonalas">
            <a:extLst>
              <a:ext uri="{FF2B5EF4-FFF2-40B4-BE49-F238E27FC236}">
                <a16:creationId xmlns:a16="http://schemas.microsoft.com/office/drawing/2014/main" id="{CAB84EF6-CA95-D37B-0D46-7F6C7F59640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93801" y="5361968"/>
            <a:ext cx="457199" cy="457199"/>
          </a:xfrm>
          <a:prstGeom prst="rect">
            <a:avLst/>
          </a:prstGeom>
        </p:spPr>
      </p:pic>
      <p:pic>
        <p:nvPicPr>
          <p:cNvPr id="30" name="Ábra 29" descr="Koponya egyszínű kitöltéssel">
            <a:extLst>
              <a:ext uri="{FF2B5EF4-FFF2-40B4-BE49-F238E27FC236}">
                <a16:creationId xmlns:a16="http://schemas.microsoft.com/office/drawing/2014/main" id="{663363C3-F6B6-40B1-5985-12C753E5B3F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057138" y="5367246"/>
            <a:ext cx="914400" cy="914400"/>
          </a:xfrm>
          <a:prstGeom prst="rect">
            <a:avLst/>
          </a:prstGeom>
        </p:spPr>
      </p:pic>
      <p:cxnSp>
        <p:nvCxnSpPr>
          <p:cNvPr id="31" name="Egyenes összekötő nyíllal 30">
            <a:extLst>
              <a:ext uri="{FF2B5EF4-FFF2-40B4-BE49-F238E27FC236}">
                <a16:creationId xmlns:a16="http://schemas.microsoft.com/office/drawing/2014/main" id="{0CD9D3F6-849F-9A53-076A-1E33DB27A927}"/>
              </a:ext>
            </a:extLst>
          </p:cNvPr>
          <p:cNvCxnSpPr>
            <a:cxnSpLocks/>
            <a:endCxn id="23" idx="3"/>
          </p:cNvCxnSpPr>
          <p:nvPr/>
        </p:nvCxnSpPr>
        <p:spPr>
          <a:xfrm flipH="1">
            <a:off x="8211231" y="5819771"/>
            <a:ext cx="2822340" cy="78735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Kép 4">
            <a:extLst>
              <a:ext uri="{FF2B5EF4-FFF2-40B4-BE49-F238E27FC236}">
                <a16:creationId xmlns:a16="http://schemas.microsoft.com/office/drawing/2014/main" id="{5456D230-9501-7FC4-A847-1AA232A4B04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3327" y="4597776"/>
            <a:ext cx="5859127" cy="86578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080134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3C08613-F9A1-F318-0112-A6D533112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zövegdoboz 2">
            <a:extLst>
              <a:ext uri="{FF2B5EF4-FFF2-40B4-BE49-F238E27FC236}">
                <a16:creationId xmlns:a16="http://schemas.microsoft.com/office/drawing/2014/main" id="{04BB1DD9-99A0-928D-D10E-AE3691B915A6}"/>
              </a:ext>
            </a:extLst>
          </p:cNvPr>
          <p:cNvSpPr txBox="1"/>
          <p:nvPr/>
        </p:nvSpPr>
        <p:spPr>
          <a:xfrm>
            <a:off x="838200" y="399495"/>
            <a:ext cx="10515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6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Modular semantics</a:t>
            </a:r>
          </a:p>
        </p:txBody>
      </p:sp>
      <p:cxnSp>
        <p:nvCxnSpPr>
          <p:cNvPr id="6" name="Egyenes összekötő 5">
            <a:extLst>
              <a:ext uri="{FF2B5EF4-FFF2-40B4-BE49-F238E27FC236}">
                <a16:creationId xmlns:a16="http://schemas.microsoft.com/office/drawing/2014/main" id="{00BDA354-47F1-447E-690E-05FB2CC17AA6}"/>
              </a:ext>
            </a:extLst>
          </p:cNvPr>
          <p:cNvCxnSpPr/>
          <p:nvPr/>
        </p:nvCxnSpPr>
        <p:spPr>
          <a:xfrm>
            <a:off x="838200" y="1145220"/>
            <a:ext cx="10676138" cy="0"/>
          </a:xfrm>
          <a:prstGeom prst="line">
            <a:avLst/>
          </a:prstGeom>
          <a:ln>
            <a:solidFill>
              <a:srgbClr val="0128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áblázat 2">
                <a:extLst>
                  <a:ext uri="{FF2B5EF4-FFF2-40B4-BE49-F238E27FC236}">
                    <a16:creationId xmlns:a16="http://schemas.microsoft.com/office/drawing/2014/main" id="{3B6D0617-D91E-CDD1-5048-9A83F1AD947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05097" y="1724298"/>
              <a:ext cx="11181806" cy="2294401"/>
            </p:xfrm>
            <a:graphic>
              <a:graphicData uri="http://schemas.openxmlformats.org/drawingml/2006/table">
                <a:tbl>
                  <a:tblPr firstRow="1" bandRow="1">
                    <a:tableStyleId>{0E3FDE45-AF77-4B5C-9715-49D594BDF05E}</a:tableStyleId>
                  </a:tblPr>
                  <a:tblGrid>
                    <a:gridCol w="3727269">
                      <a:extLst>
                        <a:ext uri="{9D8B030D-6E8A-4147-A177-3AD203B41FA5}">
                          <a16:colId xmlns:a16="http://schemas.microsoft.com/office/drawing/2014/main" val="4283619804"/>
                        </a:ext>
                      </a:extLst>
                    </a:gridCol>
                    <a:gridCol w="7454537">
                      <a:extLst>
                        <a:ext uri="{9D8B030D-6E8A-4147-A177-3AD203B41FA5}">
                          <a16:colId xmlns:a16="http://schemas.microsoft.com/office/drawing/2014/main" val="3767538111"/>
                        </a:ext>
                      </a:extLst>
                    </a:gridCol>
                  </a:tblGrid>
                  <a:tr h="683932">
                    <a:tc>
                      <a:txBody>
                        <a:bodyPr/>
                        <a:lstStyle/>
                        <a:p>
                          <a:r>
                            <a:rPr lang="en-GB" sz="2400" noProof="0" dirty="0"/>
                            <a:t>Level of the semantics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noProof="0" dirty="0"/>
                            <a:t>Formal relation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22701177"/>
                      </a:ext>
                    </a:extLst>
                  </a:tr>
                  <a:tr h="683932">
                    <a:tc>
                      <a:txBody>
                        <a:bodyPr/>
                        <a:lstStyle/>
                        <a:p>
                          <a:r>
                            <a:rPr lang="en-GB" sz="2400" noProof="0" dirty="0"/>
                            <a:t>Sequential semantics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d>
                                  <m:dPr>
                                    <m:begChr m:val="⟨"/>
                                    <m:endChr m:val="⟩"/>
                                    <m:ctrlPr>
                                      <a:rPr lang="en-GB" sz="2400" b="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GB" sz="2400" b="0" i="1" noProof="0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  <m:r>
                                      <a:rPr lang="en-GB" sz="2400" b="0" i="1" noProof="0" smtClean="0">
                                        <a:latin typeface="Cambria Math" panose="02040503050406030204" pitchFamily="18" charset="0"/>
                                      </a:rPr>
                                      <m:t>, </m:t>
                                    </m:r>
                                    <m:r>
                                      <a:rPr lang="en-GB" sz="2400" b="0" i="1" noProof="0" smtClean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</m:d>
                                <m:r>
                                  <a:rPr lang="en-GB" sz="2400" b="0" i="1" noProof="0" smtClean="0">
                                    <a:latin typeface="Cambria Math" panose="02040503050406030204" pitchFamily="18" charset="0"/>
                                  </a:rPr>
                                  <m:t>→⟨</m:t>
                                </m:r>
                                <m:r>
                                  <a:rPr lang="en-GB" sz="2400" b="0" i="1" noProof="0" smtClean="0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  <m:r>
                                  <a:rPr lang="en-GB" sz="2400" b="0" i="1" noProof="0" smtClean="0">
                                    <a:latin typeface="Cambria Math" panose="02040503050406030204" pitchFamily="18" charset="0"/>
                                  </a:rPr>
                                  <m:t>′, </m:t>
                                </m:r>
                                <m:sSup>
                                  <m:sSupPr>
                                    <m:ctrlPr>
                                      <a:rPr lang="en-GB" sz="2400" b="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2400" b="0" i="1" noProof="0" smtClean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GB" sz="2400" b="0" i="1" noProof="0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GB" sz="2400" b="0" i="1" noProof="0" smtClean="0">
                                    <a:latin typeface="Cambria Math" panose="02040503050406030204" pitchFamily="18" charset="0"/>
                                  </a:rPr>
                                  <m:t>⟩</m:t>
                                </m:r>
                              </m:oMath>
                            </m:oMathPara>
                          </a14:m>
                          <a:endParaRPr lang="en-GB" sz="2400" noProof="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154081398"/>
                      </a:ext>
                    </a:extLst>
                  </a:tr>
                  <a:tr h="926537">
                    <a:tc>
                      <a:txBody>
                        <a:bodyPr/>
                        <a:lstStyle/>
                        <a:p>
                          <a:r>
                            <a:rPr lang="en-GB" sz="2400" noProof="0" dirty="0"/>
                            <a:t>Process-local semantics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d>
                                  <m:dPr>
                                    <m:ctrlPr>
                                      <a:rPr lang="en-GB" sz="2400" b="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GB" sz="2400" b="0" i="1" noProof="0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  <m:r>
                                      <a:rPr lang="en-GB" sz="2400" b="0" i="1" noProof="0" smtClean="0">
                                        <a:latin typeface="Cambria Math" panose="02040503050406030204" pitchFamily="18" charset="0"/>
                                      </a:rPr>
                                      <m:t>, </m:t>
                                    </m:r>
                                    <m:r>
                                      <a:rPr lang="en-GB" sz="2400" b="0" i="1" noProof="0" smtClean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  <m:r>
                                      <a:rPr lang="en-GB" sz="2400" b="0" i="1" noProof="0" smtClean="0">
                                        <a:latin typeface="Cambria Math" panose="02040503050406030204" pitchFamily="18" charset="0"/>
                                      </a:rPr>
                                      <m:t>, </m:t>
                                    </m:r>
                                    <m:r>
                                      <a:rPr lang="en-GB" sz="2400" b="0" i="1" noProof="0" smtClean="0">
                                        <a:latin typeface="Cambria Math" panose="02040503050406030204" pitchFamily="18" charset="0"/>
                                      </a:rPr>
                                      <m:t>𝑚𝑏</m:t>
                                    </m:r>
                                    <m:r>
                                      <a:rPr lang="en-GB" sz="2400" b="0" i="1" noProof="0" smtClean="0">
                                        <a:latin typeface="Cambria Math" panose="02040503050406030204" pitchFamily="18" charset="0"/>
                                      </a:rPr>
                                      <m:t>, </m:t>
                                    </m:r>
                                    <m:r>
                                      <a:rPr lang="en-GB" sz="2400" b="0" i="1" noProof="0" smtClean="0">
                                        <a:latin typeface="Cambria Math" panose="02040503050406030204" pitchFamily="18" charset="0"/>
                                      </a:rPr>
                                      <m:t>𝑙𝑖𝑛𝑘𝑠</m:t>
                                    </m:r>
                                    <m:r>
                                      <a:rPr lang="en-GB" sz="2400" b="0" i="1" noProof="0" smtClean="0">
                                        <a:latin typeface="Cambria Math" panose="02040503050406030204" pitchFamily="18" charset="0"/>
                                      </a:rPr>
                                      <m:t>, </m:t>
                                    </m:r>
                                    <m:r>
                                      <a:rPr lang="en-GB" sz="2400" b="0" i="1" noProof="0" smtClean="0">
                                        <a:latin typeface="Cambria Math" panose="02040503050406030204" pitchFamily="18" charset="0"/>
                                      </a:rPr>
                                      <m:t>𝑓𝑙𝑎𝑔</m:t>
                                    </m:r>
                                  </m:e>
                                </m:d>
                                <m:groupChr>
                                  <m:groupChrPr>
                                    <m:chr m:val="→"/>
                                    <m:pos m:val="bot"/>
                                    <m:vertJc m:val="bot"/>
                                    <m:ctrlPr>
                                      <a:rPr lang="en-GB" sz="2400" b="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groupChrPr>
                                  <m:e>
                                    <m:r>
                                      <m:rPr>
                                        <m:brk m:alnAt="2"/>
                                      </m:rPr>
                                      <a:rPr lang="en-GB" sz="2400" b="0" i="1" noProof="0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</m:groupChr>
                                <m:d>
                                  <m:dPr>
                                    <m:ctrlPr>
                                      <a:rPr lang="en-GB" sz="2400" b="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GB" sz="2400" b="0" i="1" noProof="0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  <m:r>
                                      <a:rPr lang="en-GB" sz="2400" b="0" i="1" noProof="0" smtClean="0">
                                        <a:latin typeface="Cambria Math" panose="02040503050406030204" pitchFamily="18" charset="0"/>
                                      </a:rPr>
                                      <m:t>′, </m:t>
                                    </m:r>
                                    <m:r>
                                      <a:rPr lang="en-GB" sz="2400" b="0" i="1" noProof="0" smtClean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  <m:r>
                                      <a:rPr lang="en-GB" sz="2400" b="0" i="1" noProof="0" smtClean="0">
                                        <a:latin typeface="Cambria Math" panose="02040503050406030204" pitchFamily="18" charset="0"/>
                                      </a:rPr>
                                      <m:t>′, </m:t>
                                    </m:r>
                                    <m:r>
                                      <a:rPr lang="en-GB" sz="2400" b="0" i="1" noProof="0" smtClean="0">
                                        <a:latin typeface="Cambria Math" panose="02040503050406030204" pitchFamily="18" charset="0"/>
                                      </a:rPr>
                                      <m:t>𝑚𝑏</m:t>
                                    </m:r>
                                    <m:r>
                                      <a:rPr lang="en-GB" sz="2400" b="0" i="1" noProof="0" smtClean="0">
                                        <a:latin typeface="Cambria Math" panose="02040503050406030204" pitchFamily="18" charset="0"/>
                                      </a:rPr>
                                      <m:t>′, </m:t>
                                    </m:r>
                                    <m:r>
                                      <a:rPr lang="en-GB" sz="2400" b="0" i="1" noProof="0" smtClean="0">
                                        <a:latin typeface="Cambria Math" panose="02040503050406030204" pitchFamily="18" charset="0"/>
                                      </a:rPr>
                                      <m:t>𝑙𝑖𝑛𝑘𝑠</m:t>
                                    </m:r>
                                    <m:r>
                                      <a:rPr lang="en-GB" sz="2400" b="0" i="1" noProof="0" smtClean="0">
                                        <a:latin typeface="Cambria Math" panose="02040503050406030204" pitchFamily="18" charset="0"/>
                                      </a:rPr>
                                      <m:t>′, </m:t>
                                    </m:r>
                                    <m:r>
                                      <a:rPr lang="en-GB" sz="2400" b="0" i="1" noProof="0" smtClean="0">
                                        <a:latin typeface="Cambria Math" panose="02040503050406030204" pitchFamily="18" charset="0"/>
                                      </a:rPr>
                                      <m:t>𝑓𝑙𝑎𝑔</m:t>
                                    </m:r>
                                    <m:r>
                                      <a:rPr lang="en-GB" sz="2400" b="0" i="1" noProof="0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GB" sz="2400" noProof="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7523985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áblázat 2">
                <a:extLst>
                  <a:ext uri="{FF2B5EF4-FFF2-40B4-BE49-F238E27FC236}">
                    <a16:creationId xmlns:a16="http://schemas.microsoft.com/office/drawing/2014/main" id="{3B6D0617-D91E-CDD1-5048-9A83F1AD947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05097" y="1724298"/>
              <a:ext cx="11181806" cy="2294401"/>
            </p:xfrm>
            <a:graphic>
              <a:graphicData uri="http://schemas.openxmlformats.org/drawingml/2006/table">
                <a:tbl>
                  <a:tblPr firstRow="1" bandRow="1">
                    <a:tableStyleId>{0E3FDE45-AF77-4B5C-9715-49D594BDF05E}</a:tableStyleId>
                  </a:tblPr>
                  <a:tblGrid>
                    <a:gridCol w="3727269">
                      <a:extLst>
                        <a:ext uri="{9D8B030D-6E8A-4147-A177-3AD203B41FA5}">
                          <a16:colId xmlns:a16="http://schemas.microsoft.com/office/drawing/2014/main" val="4283619804"/>
                        </a:ext>
                      </a:extLst>
                    </a:gridCol>
                    <a:gridCol w="7454537">
                      <a:extLst>
                        <a:ext uri="{9D8B030D-6E8A-4147-A177-3AD203B41FA5}">
                          <a16:colId xmlns:a16="http://schemas.microsoft.com/office/drawing/2014/main" val="3767538111"/>
                        </a:ext>
                      </a:extLst>
                    </a:gridCol>
                  </a:tblGrid>
                  <a:tr h="683932">
                    <a:tc>
                      <a:txBody>
                        <a:bodyPr/>
                        <a:lstStyle/>
                        <a:p>
                          <a:r>
                            <a:rPr lang="en-GB" sz="2400" noProof="0" dirty="0"/>
                            <a:t>Level of the semantics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noProof="0" dirty="0"/>
                            <a:t>Formal relation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22701177"/>
                      </a:ext>
                    </a:extLst>
                  </a:tr>
                  <a:tr h="683932">
                    <a:tc>
                      <a:txBody>
                        <a:bodyPr/>
                        <a:lstStyle/>
                        <a:p>
                          <a:r>
                            <a:rPr lang="en-GB" sz="2400" noProof="0" dirty="0"/>
                            <a:t>Sequential semantics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0000" t="-101786" r="-82" b="-1375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4081398"/>
                      </a:ext>
                    </a:extLst>
                  </a:tr>
                  <a:tr h="926537">
                    <a:tc>
                      <a:txBody>
                        <a:bodyPr/>
                        <a:lstStyle/>
                        <a:p>
                          <a:r>
                            <a:rPr lang="en-GB" sz="2400" noProof="0" dirty="0"/>
                            <a:t>Process-local semantics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0000" t="-147712" r="-82" b="-6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75239857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5" name="Kép 4">
            <a:extLst>
              <a:ext uri="{FF2B5EF4-FFF2-40B4-BE49-F238E27FC236}">
                <a16:creationId xmlns:a16="http://schemas.microsoft.com/office/drawing/2014/main" id="{90EB007F-9873-D814-A368-3902A4BD8A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097" y="4428277"/>
            <a:ext cx="5980942" cy="95754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Kép 7">
            <a:extLst>
              <a:ext uri="{FF2B5EF4-FFF2-40B4-BE49-F238E27FC236}">
                <a16:creationId xmlns:a16="http://schemas.microsoft.com/office/drawing/2014/main" id="{FE8575E0-8FE2-DCC9-8326-C1E2FCDC1A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097" y="5838570"/>
            <a:ext cx="5859127" cy="86578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Kép 9">
            <a:extLst>
              <a:ext uri="{FF2B5EF4-FFF2-40B4-BE49-F238E27FC236}">
                <a16:creationId xmlns:a16="http://schemas.microsoft.com/office/drawing/2014/main" id="{3CA548F9-B489-A4E6-FF99-7F5B83EB93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31336" y="4852744"/>
            <a:ext cx="8019124" cy="141871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91161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960D35-2DDC-DA0D-ABE3-A00065798B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zövegdoboz 2">
            <a:extLst>
              <a:ext uri="{FF2B5EF4-FFF2-40B4-BE49-F238E27FC236}">
                <a16:creationId xmlns:a16="http://schemas.microsoft.com/office/drawing/2014/main" id="{AE120390-8FBE-ED01-F61A-380471B8206A}"/>
              </a:ext>
            </a:extLst>
          </p:cNvPr>
          <p:cNvSpPr txBox="1"/>
          <p:nvPr/>
        </p:nvSpPr>
        <p:spPr>
          <a:xfrm>
            <a:off x="838200" y="399495"/>
            <a:ext cx="10515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6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Modular semantics</a:t>
            </a:r>
          </a:p>
        </p:txBody>
      </p:sp>
      <p:cxnSp>
        <p:nvCxnSpPr>
          <p:cNvPr id="6" name="Egyenes összekötő 5">
            <a:extLst>
              <a:ext uri="{FF2B5EF4-FFF2-40B4-BE49-F238E27FC236}">
                <a16:creationId xmlns:a16="http://schemas.microsoft.com/office/drawing/2014/main" id="{6260FA32-092F-CBE8-9DB7-1FD4F0D5B2C9}"/>
              </a:ext>
            </a:extLst>
          </p:cNvPr>
          <p:cNvCxnSpPr/>
          <p:nvPr/>
        </p:nvCxnSpPr>
        <p:spPr>
          <a:xfrm>
            <a:off x="838200" y="1145220"/>
            <a:ext cx="10676138" cy="0"/>
          </a:xfrm>
          <a:prstGeom prst="line">
            <a:avLst/>
          </a:prstGeom>
          <a:ln>
            <a:solidFill>
              <a:srgbClr val="0128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áblázat 2">
                <a:extLst>
                  <a:ext uri="{FF2B5EF4-FFF2-40B4-BE49-F238E27FC236}">
                    <a16:creationId xmlns:a16="http://schemas.microsoft.com/office/drawing/2014/main" id="{976C4BA1-C9FE-B4BB-2D46-1E9763150117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05097" y="1724298"/>
              <a:ext cx="11181806" cy="2978333"/>
            </p:xfrm>
            <a:graphic>
              <a:graphicData uri="http://schemas.openxmlformats.org/drawingml/2006/table">
                <a:tbl>
                  <a:tblPr firstRow="1" bandRow="1">
                    <a:tableStyleId>{0E3FDE45-AF77-4B5C-9715-49D594BDF05E}</a:tableStyleId>
                  </a:tblPr>
                  <a:tblGrid>
                    <a:gridCol w="3727269">
                      <a:extLst>
                        <a:ext uri="{9D8B030D-6E8A-4147-A177-3AD203B41FA5}">
                          <a16:colId xmlns:a16="http://schemas.microsoft.com/office/drawing/2014/main" val="4283619804"/>
                        </a:ext>
                      </a:extLst>
                    </a:gridCol>
                    <a:gridCol w="7454537">
                      <a:extLst>
                        <a:ext uri="{9D8B030D-6E8A-4147-A177-3AD203B41FA5}">
                          <a16:colId xmlns:a16="http://schemas.microsoft.com/office/drawing/2014/main" val="3767538111"/>
                        </a:ext>
                      </a:extLst>
                    </a:gridCol>
                  </a:tblGrid>
                  <a:tr h="683932">
                    <a:tc>
                      <a:txBody>
                        <a:bodyPr/>
                        <a:lstStyle/>
                        <a:p>
                          <a:r>
                            <a:rPr lang="en-GB" sz="2400" noProof="0" dirty="0"/>
                            <a:t>Level of the semantics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noProof="0" dirty="0"/>
                            <a:t>Formal relation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22701177"/>
                      </a:ext>
                    </a:extLst>
                  </a:tr>
                  <a:tr h="683932">
                    <a:tc>
                      <a:txBody>
                        <a:bodyPr/>
                        <a:lstStyle/>
                        <a:p>
                          <a:r>
                            <a:rPr lang="en-GB" sz="2400" noProof="0" dirty="0"/>
                            <a:t>Sequential semantics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d>
                                  <m:dPr>
                                    <m:begChr m:val="⟨"/>
                                    <m:endChr m:val="⟩"/>
                                    <m:ctrlPr>
                                      <a:rPr lang="en-GB" sz="2400" b="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GB" sz="2400" b="0" i="1" noProof="0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  <m:r>
                                      <a:rPr lang="en-GB" sz="2400" b="0" i="1" noProof="0" smtClean="0">
                                        <a:latin typeface="Cambria Math" panose="02040503050406030204" pitchFamily="18" charset="0"/>
                                      </a:rPr>
                                      <m:t>, </m:t>
                                    </m:r>
                                    <m:r>
                                      <a:rPr lang="en-GB" sz="2400" b="0" i="1" noProof="0" smtClean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</m:d>
                                <m:r>
                                  <a:rPr lang="en-GB" sz="2400" b="0" i="1" noProof="0" smtClean="0">
                                    <a:latin typeface="Cambria Math" panose="02040503050406030204" pitchFamily="18" charset="0"/>
                                  </a:rPr>
                                  <m:t>→⟨</m:t>
                                </m:r>
                                <m:r>
                                  <a:rPr lang="en-GB" sz="2400" b="0" i="1" noProof="0" smtClean="0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  <m:r>
                                  <a:rPr lang="en-GB" sz="2400" b="0" i="1" noProof="0" smtClean="0">
                                    <a:latin typeface="Cambria Math" panose="02040503050406030204" pitchFamily="18" charset="0"/>
                                  </a:rPr>
                                  <m:t>′, </m:t>
                                </m:r>
                                <m:sSup>
                                  <m:sSupPr>
                                    <m:ctrlPr>
                                      <a:rPr lang="en-GB" sz="2400" b="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2400" b="0" i="1" noProof="0" smtClean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GB" sz="2400" b="0" i="1" noProof="0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GB" sz="2400" b="0" i="1" noProof="0" smtClean="0">
                                    <a:latin typeface="Cambria Math" panose="02040503050406030204" pitchFamily="18" charset="0"/>
                                  </a:rPr>
                                  <m:t>⟩</m:t>
                                </m:r>
                              </m:oMath>
                            </m:oMathPara>
                          </a14:m>
                          <a:endParaRPr lang="en-GB" sz="2400" noProof="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154081398"/>
                      </a:ext>
                    </a:extLst>
                  </a:tr>
                  <a:tr h="926537">
                    <a:tc>
                      <a:txBody>
                        <a:bodyPr/>
                        <a:lstStyle/>
                        <a:p>
                          <a:r>
                            <a:rPr lang="en-GB" sz="2400" noProof="0" dirty="0"/>
                            <a:t>Process-local semantics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d>
                                  <m:dPr>
                                    <m:ctrlPr>
                                      <a:rPr lang="en-GB" sz="2400" b="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GB" sz="2400" b="0" i="1" noProof="0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  <m:r>
                                      <a:rPr lang="en-GB" sz="2400" b="0" i="1" noProof="0" smtClean="0">
                                        <a:latin typeface="Cambria Math" panose="02040503050406030204" pitchFamily="18" charset="0"/>
                                      </a:rPr>
                                      <m:t>, </m:t>
                                    </m:r>
                                    <m:r>
                                      <a:rPr lang="en-GB" sz="2400" b="0" i="1" noProof="0" smtClean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  <m:r>
                                      <a:rPr lang="en-GB" sz="2400" b="0" i="1" noProof="0" smtClean="0">
                                        <a:latin typeface="Cambria Math" panose="02040503050406030204" pitchFamily="18" charset="0"/>
                                      </a:rPr>
                                      <m:t>, </m:t>
                                    </m:r>
                                    <m:r>
                                      <a:rPr lang="en-GB" sz="2400" b="0" i="1" noProof="0" smtClean="0">
                                        <a:latin typeface="Cambria Math" panose="02040503050406030204" pitchFamily="18" charset="0"/>
                                      </a:rPr>
                                      <m:t>𝑚𝑏</m:t>
                                    </m:r>
                                    <m:r>
                                      <a:rPr lang="en-GB" sz="2400" b="0" i="1" noProof="0" smtClean="0">
                                        <a:latin typeface="Cambria Math" panose="02040503050406030204" pitchFamily="18" charset="0"/>
                                      </a:rPr>
                                      <m:t>, </m:t>
                                    </m:r>
                                    <m:r>
                                      <a:rPr lang="en-GB" sz="2400" b="0" i="1" noProof="0" smtClean="0">
                                        <a:latin typeface="Cambria Math" panose="02040503050406030204" pitchFamily="18" charset="0"/>
                                      </a:rPr>
                                      <m:t>𝑙𝑖𝑛𝑘𝑠</m:t>
                                    </m:r>
                                    <m:r>
                                      <a:rPr lang="en-GB" sz="2400" b="0" i="1" noProof="0" smtClean="0">
                                        <a:latin typeface="Cambria Math" panose="02040503050406030204" pitchFamily="18" charset="0"/>
                                      </a:rPr>
                                      <m:t>, </m:t>
                                    </m:r>
                                    <m:r>
                                      <a:rPr lang="en-GB" sz="2400" b="0" i="1" noProof="0" smtClean="0">
                                        <a:latin typeface="Cambria Math" panose="02040503050406030204" pitchFamily="18" charset="0"/>
                                      </a:rPr>
                                      <m:t>𝑓𝑙𝑎𝑔</m:t>
                                    </m:r>
                                  </m:e>
                                </m:d>
                                <m:groupChr>
                                  <m:groupChrPr>
                                    <m:chr m:val="→"/>
                                    <m:pos m:val="bot"/>
                                    <m:vertJc m:val="bot"/>
                                    <m:ctrlPr>
                                      <a:rPr lang="en-GB" sz="2400" b="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groupChrPr>
                                  <m:e>
                                    <m:r>
                                      <m:rPr>
                                        <m:brk m:alnAt="2"/>
                                      </m:rPr>
                                      <a:rPr lang="en-GB" sz="2400" b="0" i="1" noProof="0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</m:groupChr>
                                <m:d>
                                  <m:dPr>
                                    <m:ctrlPr>
                                      <a:rPr lang="en-GB" sz="2400" b="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GB" sz="2400" b="0" i="1" noProof="0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  <m:r>
                                      <a:rPr lang="en-GB" sz="2400" b="0" i="1" noProof="0" smtClean="0">
                                        <a:latin typeface="Cambria Math" panose="02040503050406030204" pitchFamily="18" charset="0"/>
                                      </a:rPr>
                                      <m:t>′, </m:t>
                                    </m:r>
                                    <m:r>
                                      <a:rPr lang="en-GB" sz="2400" b="0" i="1" noProof="0" smtClean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  <m:r>
                                      <a:rPr lang="en-GB" sz="2400" b="0" i="1" noProof="0" smtClean="0">
                                        <a:latin typeface="Cambria Math" panose="02040503050406030204" pitchFamily="18" charset="0"/>
                                      </a:rPr>
                                      <m:t>′, </m:t>
                                    </m:r>
                                    <m:r>
                                      <a:rPr lang="en-GB" sz="2400" b="0" i="1" noProof="0" smtClean="0">
                                        <a:latin typeface="Cambria Math" panose="02040503050406030204" pitchFamily="18" charset="0"/>
                                      </a:rPr>
                                      <m:t>𝑚𝑏</m:t>
                                    </m:r>
                                    <m:r>
                                      <a:rPr lang="en-GB" sz="2400" b="0" i="1" noProof="0" smtClean="0">
                                        <a:latin typeface="Cambria Math" panose="02040503050406030204" pitchFamily="18" charset="0"/>
                                      </a:rPr>
                                      <m:t>′, </m:t>
                                    </m:r>
                                    <m:r>
                                      <a:rPr lang="en-GB" sz="2400" b="0" i="1" noProof="0" smtClean="0">
                                        <a:latin typeface="Cambria Math" panose="02040503050406030204" pitchFamily="18" charset="0"/>
                                      </a:rPr>
                                      <m:t>𝑙𝑖𝑛𝑘𝑠</m:t>
                                    </m:r>
                                    <m:r>
                                      <a:rPr lang="en-GB" sz="2400" b="0" i="1" noProof="0" smtClean="0">
                                        <a:latin typeface="Cambria Math" panose="02040503050406030204" pitchFamily="18" charset="0"/>
                                      </a:rPr>
                                      <m:t>′, </m:t>
                                    </m:r>
                                    <m:r>
                                      <a:rPr lang="en-GB" sz="2400" b="0" i="1" noProof="0" smtClean="0">
                                        <a:latin typeface="Cambria Math" panose="02040503050406030204" pitchFamily="18" charset="0"/>
                                      </a:rPr>
                                      <m:t>𝑓𝑙𝑎𝑔</m:t>
                                    </m:r>
                                    <m:r>
                                      <a:rPr lang="en-GB" sz="2400" b="0" i="1" noProof="0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GB" sz="2400" noProof="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75239857"/>
                      </a:ext>
                    </a:extLst>
                  </a:tr>
                  <a:tr h="683932">
                    <a:tc>
                      <a:txBody>
                        <a:bodyPr/>
                        <a:lstStyle/>
                        <a:p>
                          <a:r>
                            <a:rPr lang="en-GB" sz="2400" noProof="0" dirty="0"/>
                            <a:t>Inter-process semantics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d>
                                  <m:dPr>
                                    <m:ctrlPr>
                                      <a:rPr lang="en-GB" sz="24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GB" sz="24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ℇ</m:t>
                                    </m:r>
                                    <m:r>
                                      <a:rPr lang="en-GB" sz="2400" b="0" i="1" noProof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GB" sz="2400" b="0" i="1" noProof="0" smtClean="0">
                                        <a:latin typeface="Cambria Math" panose="02040503050406030204" pitchFamily="18" charset="0"/>
                                      </a:rPr>
                                      <m:t>𝜄</m:t>
                                    </m:r>
                                    <m:r>
                                      <a:rPr lang="en-GB" sz="2400" b="0" i="1" noProof="0" smtClean="0">
                                        <a:latin typeface="Cambria Math" panose="02040503050406030204" pitchFamily="18" charset="0"/>
                                      </a:rPr>
                                      <m:t> :</m:t>
                                    </m:r>
                                    <m:r>
                                      <a:rPr lang="en-GB" sz="2400" b="0" i="1" noProof="0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  <m:r>
                                      <a:rPr lang="en-GB" sz="2400" b="0" i="1" noProof="0" smtClean="0">
                                        <a:latin typeface="Cambria Math" panose="02040503050406030204" pitchFamily="18" charset="0"/>
                                      </a:rPr>
                                      <m:t>∥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GB" sz="2400" b="0" i="0" noProof="0" smtClean="0">
                                        <a:latin typeface="Cambria Math" panose="02040503050406030204" pitchFamily="18" charset="0"/>
                                      </a:rPr>
                                      <m:t>Π</m:t>
                                    </m:r>
                                  </m:e>
                                </m:d>
                                <m:limLow>
                                  <m:limLowPr>
                                    <m:ctrlPr>
                                      <a:rPr lang="en-GB" sz="2400" b="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limLowPr>
                                  <m:e>
                                    <m:groupChr>
                                      <m:groupChrPr>
                                        <m:chr m:val="→"/>
                                        <m:pos m:val="bot"/>
                                        <m:vertJc m:val="bot"/>
                                        <m:ctrlPr>
                                          <a:rPr lang="en-GB" sz="2400" b="0" i="1" noProof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groupChrPr>
                                      <m:e>
                                        <m:r>
                                          <a:rPr lang="en-GB" sz="2400" b="0" i="1" noProof="0" smtClean="0">
                                            <a:latin typeface="Cambria Math" panose="02040503050406030204" pitchFamily="18" charset="0"/>
                                          </a:rPr>
                                          <m:t>𝜄</m:t>
                                        </m:r>
                                        <m:r>
                                          <a:rPr lang="en-GB" sz="2400" b="0" i="1" noProof="0" smtClean="0">
                                            <a:latin typeface="Cambria Math" panose="02040503050406030204" pitchFamily="18" charset="0"/>
                                          </a:rPr>
                                          <m:t>:</m:t>
                                        </m:r>
                                        <m:r>
                                          <a:rPr lang="en-GB" sz="2400" b="0" i="1" noProof="0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</m:groupChr>
                                  </m:e>
                                  <m:lim>
                                    <m:r>
                                      <a:rPr lang="en-GB" sz="2400" b="0" i="1" noProof="0" smtClean="0">
                                        <a:latin typeface="Cambria Math" panose="02040503050406030204" pitchFamily="18" charset="0"/>
                                      </a:rPr>
                                      <m:t>𝑂</m:t>
                                    </m:r>
                                  </m:lim>
                                </m:limLow>
                                <m:r>
                                  <a:rPr lang="en-GB" sz="2400" b="0" i="1" noProof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p>
                                  <m:sSupPr>
                                    <m:ctrlPr>
                                      <a:rPr lang="en-GB" sz="24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GB" sz="24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ℇ</m:t>
                                    </m:r>
                                  </m:e>
                                  <m:sup>
                                    <m:r>
                                      <a:rPr lang="en-GB" sz="2400" b="0" i="1" noProof="0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GB" sz="2400" b="0" i="1" noProof="0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GB" sz="2400" b="0" i="1" noProof="0" smtClean="0">
                                    <a:latin typeface="Cambria Math" panose="02040503050406030204" pitchFamily="18" charset="0"/>
                                  </a:rPr>
                                  <m:t>𝜄</m:t>
                                </m:r>
                                <m:r>
                                  <a:rPr lang="en-GB" sz="2400" b="0" i="1" noProof="0" smtClean="0">
                                    <a:latin typeface="Cambria Math" panose="02040503050406030204" pitchFamily="18" charset="0"/>
                                  </a:rPr>
                                  <m:t> :</m:t>
                                </m:r>
                                <m:sSup>
                                  <m:sSupPr>
                                    <m:ctrlPr>
                                      <a:rPr lang="en-GB" sz="2400" b="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2400" b="0" i="1" noProof="0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p>
                                    <m:r>
                                      <a:rPr lang="en-GB" sz="2400" b="0" i="1" noProof="0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GB" sz="2400" b="0" i="1" noProof="0" smtClean="0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  <m:r>
                                  <m:rPr>
                                    <m:sty m:val="p"/>
                                  </m:rPr>
                                  <a:rPr lang="en-GB" sz="2400" b="0" i="0" noProof="0" smtClean="0"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  <m:r>
                                  <a:rPr lang="en-GB" sz="2400" b="0" i="1" noProof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GB" sz="2400" noProof="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2836841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áblázat 2">
                <a:extLst>
                  <a:ext uri="{FF2B5EF4-FFF2-40B4-BE49-F238E27FC236}">
                    <a16:creationId xmlns:a16="http://schemas.microsoft.com/office/drawing/2014/main" id="{976C4BA1-C9FE-B4BB-2D46-1E9763150117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05097" y="1724298"/>
              <a:ext cx="11181806" cy="2978333"/>
            </p:xfrm>
            <a:graphic>
              <a:graphicData uri="http://schemas.openxmlformats.org/drawingml/2006/table">
                <a:tbl>
                  <a:tblPr firstRow="1" bandRow="1">
                    <a:tableStyleId>{0E3FDE45-AF77-4B5C-9715-49D594BDF05E}</a:tableStyleId>
                  </a:tblPr>
                  <a:tblGrid>
                    <a:gridCol w="3727269">
                      <a:extLst>
                        <a:ext uri="{9D8B030D-6E8A-4147-A177-3AD203B41FA5}">
                          <a16:colId xmlns:a16="http://schemas.microsoft.com/office/drawing/2014/main" val="4283619804"/>
                        </a:ext>
                      </a:extLst>
                    </a:gridCol>
                    <a:gridCol w="7454537">
                      <a:extLst>
                        <a:ext uri="{9D8B030D-6E8A-4147-A177-3AD203B41FA5}">
                          <a16:colId xmlns:a16="http://schemas.microsoft.com/office/drawing/2014/main" val="3767538111"/>
                        </a:ext>
                      </a:extLst>
                    </a:gridCol>
                  </a:tblGrid>
                  <a:tr h="683932">
                    <a:tc>
                      <a:txBody>
                        <a:bodyPr/>
                        <a:lstStyle/>
                        <a:p>
                          <a:r>
                            <a:rPr lang="en-GB" sz="2400" noProof="0" dirty="0"/>
                            <a:t>Level of the semantics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noProof="0" dirty="0"/>
                            <a:t>Formal relation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22701177"/>
                      </a:ext>
                    </a:extLst>
                  </a:tr>
                  <a:tr h="683932">
                    <a:tc>
                      <a:txBody>
                        <a:bodyPr/>
                        <a:lstStyle/>
                        <a:p>
                          <a:r>
                            <a:rPr lang="en-GB" sz="2400" noProof="0" dirty="0"/>
                            <a:t>Sequential semantics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0000" t="-101786" r="-82" b="-2401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4081398"/>
                      </a:ext>
                    </a:extLst>
                  </a:tr>
                  <a:tr h="926537">
                    <a:tc>
                      <a:txBody>
                        <a:bodyPr/>
                        <a:lstStyle/>
                        <a:p>
                          <a:r>
                            <a:rPr lang="en-GB" sz="2400" noProof="0" dirty="0"/>
                            <a:t>Process-local semantics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0000" t="-148684" r="-82" b="-7697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75239857"/>
                      </a:ext>
                    </a:extLst>
                  </a:tr>
                  <a:tr h="683932">
                    <a:tc>
                      <a:txBody>
                        <a:bodyPr/>
                        <a:lstStyle/>
                        <a:p>
                          <a:r>
                            <a:rPr lang="en-GB" sz="2400" noProof="0" dirty="0"/>
                            <a:t>Inter-process semantics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0000" t="-334513" r="-82" b="-354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28368412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5" name="Kép 4">
            <a:extLst>
              <a:ext uri="{FF2B5EF4-FFF2-40B4-BE49-F238E27FC236}">
                <a16:creationId xmlns:a16="http://schemas.microsoft.com/office/drawing/2014/main" id="{09F62B8D-5CEF-11A7-9845-3C8978FE13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097" y="4913291"/>
            <a:ext cx="5694535" cy="9565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Kép 7">
            <a:extLst>
              <a:ext uri="{FF2B5EF4-FFF2-40B4-BE49-F238E27FC236}">
                <a16:creationId xmlns:a16="http://schemas.microsoft.com/office/drawing/2014/main" id="{41388D59-944C-D502-DBAA-060D2640DA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56260" y="5381103"/>
            <a:ext cx="6530643" cy="114127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388724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E953CB-8D57-A102-8E38-794F2105F6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zövegdoboz 2">
            <a:extLst>
              <a:ext uri="{FF2B5EF4-FFF2-40B4-BE49-F238E27FC236}">
                <a16:creationId xmlns:a16="http://schemas.microsoft.com/office/drawing/2014/main" id="{8735A772-B960-C604-C4F9-3DFCE9F62F58}"/>
              </a:ext>
            </a:extLst>
          </p:cNvPr>
          <p:cNvSpPr txBox="1"/>
          <p:nvPr/>
        </p:nvSpPr>
        <p:spPr>
          <a:xfrm>
            <a:off x="838200" y="399495"/>
            <a:ext cx="10515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noProof="0" dirty="0">
                <a:solidFill>
                  <a:srgbClr val="01285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Program equivalence</a:t>
            </a:r>
          </a:p>
        </p:txBody>
      </p:sp>
      <p:cxnSp>
        <p:nvCxnSpPr>
          <p:cNvPr id="6" name="Egyenes összekötő 5">
            <a:extLst>
              <a:ext uri="{FF2B5EF4-FFF2-40B4-BE49-F238E27FC236}">
                <a16:creationId xmlns:a16="http://schemas.microsoft.com/office/drawing/2014/main" id="{41FEF7D8-C30E-9974-2BDF-56A3FB8CA575}"/>
              </a:ext>
            </a:extLst>
          </p:cNvPr>
          <p:cNvCxnSpPr/>
          <p:nvPr/>
        </p:nvCxnSpPr>
        <p:spPr>
          <a:xfrm>
            <a:off x="838200" y="1145220"/>
            <a:ext cx="10676138" cy="0"/>
          </a:xfrm>
          <a:prstGeom prst="line">
            <a:avLst/>
          </a:prstGeom>
          <a:ln>
            <a:solidFill>
              <a:srgbClr val="0128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: Rounded Corners 19">
            <a:extLst>
              <a:ext uri="{FF2B5EF4-FFF2-40B4-BE49-F238E27FC236}">
                <a16:creationId xmlns:a16="http://schemas.microsoft.com/office/drawing/2014/main" id="{25F34E4A-5228-6C71-8867-C1A8BE7F76A7}"/>
              </a:ext>
            </a:extLst>
          </p:cNvPr>
          <p:cNvSpPr/>
          <p:nvPr/>
        </p:nvSpPr>
        <p:spPr>
          <a:xfrm>
            <a:off x="2775510" y="4155115"/>
            <a:ext cx="6350507" cy="1066895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latin typeface="Ubuntu" panose="020B0504030602030204" pitchFamily="34" charset="0"/>
            </a:endParaRPr>
          </a:p>
        </p:txBody>
      </p:sp>
      <p:sp>
        <p:nvSpPr>
          <p:cNvPr id="5" name="TextBox 8">
            <a:extLst>
              <a:ext uri="{FF2B5EF4-FFF2-40B4-BE49-F238E27FC236}">
                <a16:creationId xmlns:a16="http://schemas.microsoft.com/office/drawing/2014/main" id="{355847E0-01B7-7552-E325-3FBA8017EADF}"/>
              </a:ext>
            </a:extLst>
          </p:cNvPr>
          <p:cNvSpPr txBox="1"/>
          <p:nvPr/>
        </p:nvSpPr>
        <p:spPr>
          <a:xfrm>
            <a:off x="4063510" y="3437008"/>
            <a:ext cx="18998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i="1" u="sng" noProof="0" dirty="0">
                <a:latin typeface="Ubuntu" panose="020B0504030602030204" pitchFamily="34" charset="0"/>
              </a:rPr>
              <a:t>is a refactoring if</a:t>
            </a:r>
          </a:p>
        </p:txBody>
      </p:sp>
      <p:sp>
        <p:nvSpPr>
          <p:cNvPr id="7" name="TextBox 9">
            <a:extLst>
              <a:ext uri="{FF2B5EF4-FFF2-40B4-BE49-F238E27FC236}">
                <a16:creationId xmlns:a16="http://schemas.microsoft.com/office/drawing/2014/main" id="{A90F523A-7D68-94CF-4DDA-521D6CC61E66}"/>
              </a:ext>
            </a:extLst>
          </p:cNvPr>
          <p:cNvSpPr txBox="1"/>
          <p:nvPr/>
        </p:nvSpPr>
        <p:spPr>
          <a:xfrm>
            <a:off x="4112533" y="4273065"/>
            <a:ext cx="5084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i="1" noProof="0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e</a:t>
            </a:r>
          </a:p>
        </p:txBody>
      </p:sp>
      <p:sp>
        <p:nvSpPr>
          <p:cNvPr id="8" name="TextBox 10">
            <a:extLst>
              <a:ext uri="{FF2B5EF4-FFF2-40B4-BE49-F238E27FC236}">
                <a16:creationId xmlns:a16="http://schemas.microsoft.com/office/drawing/2014/main" id="{7BC36676-2456-8108-BB44-EC420179DF45}"/>
              </a:ext>
            </a:extLst>
          </p:cNvPr>
          <p:cNvSpPr txBox="1"/>
          <p:nvPr/>
        </p:nvSpPr>
        <p:spPr>
          <a:xfrm>
            <a:off x="6627934" y="4302075"/>
            <a:ext cx="83227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i="1" noProof="0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e</a:t>
            </a:r>
            <a:r>
              <a:rPr lang="en-GB" sz="4800" noProof="0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'</a:t>
            </a:r>
          </a:p>
        </p:txBody>
      </p:sp>
      <p:sp>
        <p:nvSpPr>
          <p:cNvPr id="9" name="TextBox 15">
            <a:extLst>
              <a:ext uri="{FF2B5EF4-FFF2-40B4-BE49-F238E27FC236}">
                <a16:creationId xmlns:a16="http://schemas.microsoft.com/office/drawing/2014/main" id="{2DAEEC80-CAC4-C725-E0FA-66ED693CC009}"/>
              </a:ext>
            </a:extLst>
          </p:cNvPr>
          <p:cNvSpPr txBox="1"/>
          <p:nvPr/>
        </p:nvSpPr>
        <p:spPr>
          <a:xfrm>
            <a:off x="5379050" y="4199905"/>
            <a:ext cx="4908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noProof="0" dirty="0">
                <a:solidFill>
                  <a:schemeClr val="accent2"/>
                </a:solidFill>
                <a:latin typeface="+mj-lt"/>
                <a:ea typeface="CMU Typewriter Text" panose="02000609000000000000" pitchFamily="50" charset="0"/>
                <a:cs typeface="CMU Typewriter Text" panose="02000609000000000000" pitchFamily="50" charset="0"/>
              </a:rPr>
              <a:t>≈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: Rounded Corners 16">
                <a:extLst>
                  <a:ext uri="{FF2B5EF4-FFF2-40B4-BE49-F238E27FC236}">
                    <a16:creationId xmlns:a16="http://schemas.microsoft.com/office/drawing/2014/main" id="{F50DF588-36E5-DCC0-3786-7FDBB34BFB4C}"/>
                  </a:ext>
                </a:extLst>
              </p:cNvPr>
              <p:cNvSpPr/>
              <p:nvPr/>
            </p:nvSpPr>
            <p:spPr>
              <a:xfrm>
                <a:off x="1174235" y="5516090"/>
                <a:ext cx="9843529" cy="942415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lang="en-GB" sz="2400" i="1" noProof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 noProof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GB" sz="2400" i="1" noProof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Sup>
                        <m:sSubSupPr>
                          <m:ctrlPr>
                            <a:rPr lang="hu-HU" sz="2400" b="0" i="1" noProof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hu-HU" sz="2400" b="0" i="1" noProof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</m:e>
                        <m:sub>
                          <m:r>
                            <a:rPr lang="en-GB" sz="2400" b="0" i="1" noProof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𝑐𝑡𝑥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GB" sz="2400" b="0" i="0" noProof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Γ</m:t>
                          </m:r>
                        </m:sup>
                      </m:sSubSup>
                      <m:sSub>
                        <m:sSubPr>
                          <m:ctrlPr>
                            <a:rPr lang="en-GB" sz="2400" i="1" noProof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 noProof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GB" sz="2400" i="1" noProof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2400" b="0" i="1" noProof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≔</m:t>
                      </m:r>
                    </m:oMath>
                    <m:oMath>
                      <m:r>
                        <a:rPr lang="en-GB" sz="2400" i="1" noProof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∀</m:t>
                      </m:r>
                      <m:d>
                        <m:dPr>
                          <m:ctrlPr>
                            <a:rPr lang="en-GB" sz="2400" i="1" noProof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i="1" noProof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GB" sz="2400" i="1" noProof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en-GB" sz="2400" i="1" noProof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𝐶𝑜𝑛𝑡𝑒𝑥𝑡</m:t>
                          </m:r>
                        </m:e>
                      </m:d>
                      <m:r>
                        <a:rPr lang="en-GB" sz="2400" i="1" noProof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d>
                        <m:dPr>
                          <m:begChr m:val="⟨"/>
                          <m:endChr m:val="⟩"/>
                          <m:ctrlPr>
                            <a:rPr lang="en-GB" sz="2400" b="0" i="1" noProof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noProof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  <m:r>
                            <a:rPr lang="en-GB" sz="2400" b="0" i="1" noProof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GB" sz="2400" b="0" i="1" noProof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b="0" i="1" noProof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GB" sz="2400" b="0" i="1" noProof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sz="2400" b="0" i="1" noProof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GB" sz="2400" b="0" i="1" noProof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GB" sz="2400" b="0" i="1" noProof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d>
                      <m:r>
                        <a:rPr lang="en-GB" sz="2400" i="1" noProof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↘</m:t>
                      </m:r>
                      <m:r>
                        <a:rPr lang="en-GB" sz="2400" b="0" i="1" noProof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hu-HU" sz="2400" b="0" i="1" noProof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d>
                        <m:dPr>
                          <m:begChr m:val="⟨"/>
                          <m:endChr m:val="⟩"/>
                          <m:ctrlPr>
                            <a:rPr lang="en-GB" sz="2400" i="1" noProof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i="1" noProof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  <m:r>
                            <a:rPr lang="en-GB" sz="2400" b="0" i="1" noProof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400" i="1" noProof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GB" sz="2400" b="0" i="1" noProof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b="0" i="1" noProof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GB" sz="2400" b="0" i="1" noProof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sz="2400" i="1" noProof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GB" sz="2400" b="0" i="1" noProof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GB" sz="2400" b="0" i="1" noProof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d>
                      <m:r>
                        <a:rPr lang="en-GB" sz="2400" i="1" noProof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↘</m:t>
                      </m:r>
                    </m:oMath>
                  </m:oMathPara>
                </a14:m>
                <a:endParaRPr lang="en-GB" sz="2400" i="1" noProof="0" dirty="0">
                  <a:solidFill>
                    <a:prstClr val="black"/>
                  </a:solidFill>
                  <a:latin typeface="Ubuntu" panose="020B0504030602030204" pitchFamily="34" charset="0"/>
                </a:endParaRPr>
              </a:p>
            </p:txBody>
          </p:sp>
        </mc:Choice>
        <mc:Fallback xmlns="">
          <p:sp>
            <p:nvSpPr>
              <p:cNvPr id="21" name="Rectangle: Rounded Corners 16">
                <a:extLst>
                  <a:ext uri="{FF2B5EF4-FFF2-40B4-BE49-F238E27FC236}">
                    <a16:creationId xmlns:a16="http://schemas.microsoft.com/office/drawing/2014/main" id="{F50DF588-36E5-DCC0-3786-7FDBB34BFB4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4235" y="5516090"/>
                <a:ext cx="9843529" cy="942415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: Rounded Corners 16">
            <a:extLst>
              <a:ext uri="{FF2B5EF4-FFF2-40B4-BE49-F238E27FC236}">
                <a16:creationId xmlns:a16="http://schemas.microsoft.com/office/drawing/2014/main" id="{6E64DFFF-6909-86FC-B74C-60454AAF13ED}"/>
              </a:ext>
            </a:extLst>
          </p:cNvPr>
          <p:cNvSpPr/>
          <p:nvPr/>
        </p:nvSpPr>
        <p:spPr>
          <a:xfrm>
            <a:off x="2775510" y="2021338"/>
            <a:ext cx="6350507" cy="1066895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7" name="TextBox 3">
            <a:extLst>
              <a:ext uri="{FF2B5EF4-FFF2-40B4-BE49-F238E27FC236}">
                <a16:creationId xmlns:a16="http://schemas.microsoft.com/office/drawing/2014/main" id="{D94B4FDD-B85E-2CC3-E794-5696CF5642A3}"/>
              </a:ext>
            </a:extLst>
          </p:cNvPr>
          <p:cNvSpPr txBox="1"/>
          <p:nvPr/>
        </p:nvSpPr>
        <p:spPr>
          <a:xfrm>
            <a:off x="3555037" y="2219840"/>
            <a:ext cx="5084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i="1" noProof="0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e</a:t>
            </a:r>
          </a:p>
        </p:txBody>
      </p:sp>
      <p:sp>
        <p:nvSpPr>
          <p:cNvPr id="20" name="TextBox 4">
            <a:extLst>
              <a:ext uri="{FF2B5EF4-FFF2-40B4-BE49-F238E27FC236}">
                <a16:creationId xmlns:a16="http://schemas.microsoft.com/office/drawing/2014/main" id="{8F1E4A0E-39E5-CA8C-C41A-A9DF155C58D9}"/>
              </a:ext>
            </a:extLst>
          </p:cNvPr>
          <p:cNvSpPr txBox="1"/>
          <p:nvPr/>
        </p:nvSpPr>
        <p:spPr>
          <a:xfrm>
            <a:off x="7273597" y="2219839"/>
            <a:ext cx="83227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i="1" noProof="0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e</a:t>
            </a:r>
            <a:r>
              <a:rPr lang="en-US" sz="4800" noProof="0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'</a:t>
            </a:r>
          </a:p>
        </p:txBody>
      </p:sp>
      <p:cxnSp>
        <p:nvCxnSpPr>
          <p:cNvPr id="22" name="Straight Arrow Connector 6">
            <a:extLst>
              <a:ext uri="{FF2B5EF4-FFF2-40B4-BE49-F238E27FC236}">
                <a16:creationId xmlns:a16="http://schemas.microsoft.com/office/drawing/2014/main" id="{93126638-5CD5-7561-C16F-8B5B2BF149C4}"/>
              </a:ext>
            </a:extLst>
          </p:cNvPr>
          <p:cNvCxnSpPr>
            <a:cxnSpLocks/>
          </p:cNvCxnSpPr>
          <p:nvPr/>
        </p:nvCxnSpPr>
        <p:spPr>
          <a:xfrm>
            <a:off x="4570021" y="2635337"/>
            <a:ext cx="192909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TextBox 7">
            <a:extLst>
              <a:ext uri="{FF2B5EF4-FFF2-40B4-BE49-F238E27FC236}">
                <a16:creationId xmlns:a16="http://schemas.microsoft.com/office/drawing/2014/main" id="{5A6A3FC3-E938-6D42-91A3-0869B38B1A7F}"/>
              </a:ext>
            </a:extLst>
          </p:cNvPr>
          <p:cNvSpPr txBox="1"/>
          <p:nvPr/>
        </p:nvSpPr>
        <p:spPr>
          <a:xfrm>
            <a:off x="4734316" y="2266005"/>
            <a:ext cx="1725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noProof="0" dirty="0">
                <a:latin typeface="Ubuntu" panose="020B0504030602030204" pitchFamily="34" charset="0"/>
              </a:rPr>
              <a:t>transformation</a:t>
            </a:r>
          </a:p>
        </p:txBody>
      </p:sp>
      <p:sp>
        <p:nvSpPr>
          <p:cNvPr id="24" name="TextBox 3">
            <a:extLst>
              <a:ext uri="{FF2B5EF4-FFF2-40B4-BE49-F238E27FC236}">
                <a16:creationId xmlns:a16="http://schemas.microsoft.com/office/drawing/2014/main" id="{31F99A6E-CB6B-B8F7-BA7E-CE6A2DAAB323}"/>
              </a:ext>
            </a:extLst>
          </p:cNvPr>
          <p:cNvSpPr txBox="1"/>
          <p:nvPr/>
        </p:nvSpPr>
        <p:spPr>
          <a:xfrm>
            <a:off x="2793470" y="2228014"/>
            <a:ext cx="22768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i="1" noProof="0" dirty="0">
                <a:solidFill>
                  <a:srgbClr val="ED7D31"/>
                </a:solidFill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C[  ]</a:t>
            </a:r>
          </a:p>
        </p:txBody>
      </p:sp>
      <p:sp>
        <p:nvSpPr>
          <p:cNvPr id="25" name="TextBox 3">
            <a:extLst>
              <a:ext uri="{FF2B5EF4-FFF2-40B4-BE49-F238E27FC236}">
                <a16:creationId xmlns:a16="http://schemas.microsoft.com/office/drawing/2014/main" id="{7E94AD43-6D81-CF6E-94ED-E4654EA4A4F4}"/>
              </a:ext>
            </a:extLst>
          </p:cNvPr>
          <p:cNvSpPr txBox="1"/>
          <p:nvPr/>
        </p:nvSpPr>
        <p:spPr>
          <a:xfrm>
            <a:off x="6499115" y="2218531"/>
            <a:ext cx="22768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i="1" noProof="0" dirty="0">
                <a:solidFill>
                  <a:srgbClr val="ED7D31"/>
                </a:solidFill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C[  ]</a:t>
            </a:r>
          </a:p>
        </p:txBody>
      </p:sp>
    </p:spTree>
    <p:extLst>
      <p:ext uri="{BB962C8B-B14F-4D97-AF65-F5344CB8AC3E}">
        <p14:creationId xmlns:p14="http://schemas.microsoft.com/office/powerpoint/2010/main" val="381472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7" grpId="0"/>
      <p:bldP spid="8" grpId="0"/>
      <p:bldP spid="9" grpId="0"/>
      <p:bldP spid="2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1AA6E4-8249-B04F-09E6-E45E6D3FD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zövegdoboz 2">
            <a:extLst>
              <a:ext uri="{FF2B5EF4-FFF2-40B4-BE49-F238E27FC236}">
                <a16:creationId xmlns:a16="http://schemas.microsoft.com/office/drawing/2014/main" id="{B92B4D87-C818-FBFA-0648-5DD4BFEB2B56}"/>
              </a:ext>
            </a:extLst>
          </p:cNvPr>
          <p:cNvSpPr txBox="1"/>
          <p:nvPr/>
        </p:nvSpPr>
        <p:spPr>
          <a:xfrm>
            <a:off x="838200" y="399495"/>
            <a:ext cx="10515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noProof="0" dirty="0">
                <a:solidFill>
                  <a:srgbClr val="01285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Program equivalence</a:t>
            </a:r>
          </a:p>
        </p:txBody>
      </p:sp>
      <p:cxnSp>
        <p:nvCxnSpPr>
          <p:cNvPr id="6" name="Egyenes összekötő 5">
            <a:extLst>
              <a:ext uri="{FF2B5EF4-FFF2-40B4-BE49-F238E27FC236}">
                <a16:creationId xmlns:a16="http://schemas.microsoft.com/office/drawing/2014/main" id="{53B14F70-4F61-5D61-6584-4CFF3B499211}"/>
              </a:ext>
            </a:extLst>
          </p:cNvPr>
          <p:cNvCxnSpPr/>
          <p:nvPr/>
        </p:nvCxnSpPr>
        <p:spPr>
          <a:xfrm>
            <a:off x="838200" y="1145220"/>
            <a:ext cx="10676138" cy="0"/>
          </a:xfrm>
          <a:prstGeom prst="line">
            <a:avLst/>
          </a:prstGeom>
          <a:ln>
            <a:solidFill>
              <a:srgbClr val="0128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: Rounded Corners 16">
                <a:extLst>
                  <a:ext uri="{FF2B5EF4-FFF2-40B4-BE49-F238E27FC236}">
                    <a16:creationId xmlns:a16="http://schemas.microsoft.com/office/drawing/2014/main" id="{5BB4DECF-08FD-6DE1-78FE-FD57C2BAA8D8}"/>
                  </a:ext>
                </a:extLst>
              </p:cNvPr>
              <p:cNvSpPr/>
              <p:nvPr/>
            </p:nvSpPr>
            <p:spPr>
              <a:xfrm>
                <a:off x="1174235" y="4145614"/>
                <a:ext cx="9843529" cy="1410353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lang="hu-HU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GB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GB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</m:e>
                        <m:sub>
                          <m:r>
                            <a:rPr lang="en-GB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𝑐𝑖𝑢</m:t>
                          </m:r>
                        </m:sub>
                      </m:sSub>
                      <m:sSub>
                        <m:sSubPr>
                          <m:ctrlPr>
                            <a:rPr lang="hu-HU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GB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hu-HU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GB" sz="24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∀</m:t>
                      </m:r>
                      <m:d>
                        <m:dPr>
                          <m:ctrlPr>
                            <a:rPr lang="hu-HU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hu-HU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-GB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en-GB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𝐹𝑟𝑎𝑚𝑒𝑆𝑡𝑎𝑐𝑘</m:t>
                          </m:r>
                        </m:e>
                      </m:d>
                      <m:r>
                        <a:rPr lang="hu-HU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  <m:oMath>
                      <m:d>
                        <m:dPr>
                          <m:begChr m:val="⟨"/>
                          <m:endChr m:val="⟩"/>
                          <m:ctrlPr>
                            <a:rPr lang="hu-HU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hu-HU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-GB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hu-HU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hu-HU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GB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GB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↘</m:t>
                      </m:r>
                      <m:r>
                        <a:rPr lang="hu-HU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GB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⟹</m:t>
                      </m:r>
                      <m:d>
                        <m:dPr>
                          <m:begChr m:val="⟨"/>
                          <m:endChr m:val="⟩"/>
                          <m:ctrlPr>
                            <a:rPr lang="hu-HU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hu-HU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-GB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hu-HU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hu-HU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GB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GB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↘</m:t>
                      </m:r>
                    </m:oMath>
                  </m:oMathPara>
                </a14:m>
                <a:endParaRPr lang="hu-HU" sz="2400" i="1" dirty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 lvl="0"/>
                <a:endParaRPr lang="en-GB" sz="2400" i="1" dirty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2" name="Rectangle: Rounded Corners 16">
                <a:extLst>
                  <a:ext uri="{FF2B5EF4-FFF2-40B4-BE49-F238E27FC236}">
                    <a16:creationId xmlns:a16="http://schemas.microsoft.com/office/drawing/2014/main" id="{5BB4DECF-08FD-6DE1-78FE-FD57C2BAA8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4235" y="4145614"/>
                <a:ext cx="9843529" cy="1410353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Rectangle: Rounded Corners 16">
                <a:extLst>
                  <a:ext uri="{FF2B5EF4-FFF2-40B4-BE49-F238E27FC236}">
                    <a16:creationId xmlns:a16="http://schemas.microsoft.com/office/drawing/2014/main" id="{B4958D05-7A10-1046-A9EB-2A75194B1386}"/>
                  </a:ext>
                </a:extLst>
              </p:cNvPr>
              <p:cNvSpPr/>
              <p:nvPr/>
            </p:nvSpPr>
            <p:spPr>
              <a:xfrm>
                <a:off x="1174235" y="5226258"/>
                <a:ext cx="9843529" cy="650678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lang="en-GB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GB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Sup>
                        <m:sSubSupPr>
                          <m:ctrlPr>
                            <a:rPr lang="en-GB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</m:e>
                        <m:sub>
                          <m:r>
                            <a:rPr lang="en-GB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𝑐𝑖𝑢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GB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Γ</m:t>
                          </m:r>
                        </m:sup>
                      </m:sSubSup>
                      <m:sSub>
                        <m:sSubPr>
                          <m:ctrlPr>
                            <a:rPr lang="en-GB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GB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24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≔∀</m:t>
                      </m:r>
                      <m:r>
                        <a:rPr lang="en-GB" sz="24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GB" sz="24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GB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GB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GB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</m:d>
                      <m:sSub>
                        <m:sSubPr>
                          <m:ctrlPr>
                            <a:rPr lang="en-GB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</m:e>
                        <m:sub>
                          <m:r>
                            <a:rPr lang="en-GB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𝑐𝑖𝑢</m:t>
                          </m:r>
                        </m:sub>
                      </m:sSub>
                      <m:sSub>
                        <m:sSubPr>
                          <m:ctrlPr>
                            <a:rPr lang="en-GB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GB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GB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</m:d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0" name="Rectangle: Rounded Corners 16">
                <a:extLst>
                  <a:ext uri="{FF2B5EF4-FFF2-40B4-BE49-F238E27FC236}">
                    <a16:creationId xmlns:a16="http://schemas.microsoft.com/office/drawing/2014/main" id="{B4958D05-7A10-1046-A9EB-2A75194B138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4235" y="5226258"/>
                <a:ext cx="9843529" cy="650678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Rectangle: Rounded Corners 16">
                <a:extLst>
                  <a:ext uri="{FF2B5EF4-FFF2-40B4-BE49-F238E27FC236}">
                    <a16:creationId xmlns:a16="http://schemas.microsoft.com/office/drawing/2014/main" id="{8C49A149-D058-3E35-95F3-54893CD22DAD}"/>
                  </a:ext>
                </a:extLst>
              </p:cNvPr>
              <p:cNvSpPr/>
              <p:nvPr/>
            </p:nvSpPr>
            <p:spPr>
              <a:xfrm>
                <a:off x="1174235" y="2403887"/>
                <a:ext cx="9843529" cy="1660757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hu-HU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u-HU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GB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GB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hu-H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GB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GB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hu-H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GB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GB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𝔼</m:t>
                        </m:r>
                      </m:e>
                      <m:sub>
                        <m:r>
                          <a:rPr lang="en-GB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hu-H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hu-HU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hu-HU" sz="2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hu-HU" sz="2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hu-HU" sz="2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GB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hu-HU" sz="2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hu-HU" sz="2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hu-HU" sz="2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GB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hu-H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u-H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𝕂</m:t>
                        </m:r>
                      </m:e>
                      <m:sub>
                        <m:r>
                          <a:rPr lang="en-GB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hu-H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hu-HU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hu-HU" sz="2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hu-HU" sz="2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hu-HU" sz="2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hu-HU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hu-HU" sz="2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hu-HU" sz="2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hu-HU" sz="2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GB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GB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𝕍</m:t>
                        </m:r>
                      </m:e>
                      <m:sub>
                        <m:r>
                          <a:rPr lang="en-GB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hu-H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ctrlPr>
                          <a:rPr lang="hu-HU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hu-HU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𝑒𝑥</m:t>
                        </m:r>
                        <m:sSub>
                          <m:sSubPr>
                            <m:ctrlPr>
                              <a:rPr lang="hu-HU" sz="2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hu-HU" sz="2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hu-HU" sz="2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hu-HU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hu-HU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𝑒𝑥</m:t>
                        </m:r>
                        <m:sSub>
                          <m:sSubPr>
                            <m:ctrlPr>
                              <a:rPr lang="hu-HU" sz="2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hu-HU" sz="2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hu-HU" sz="2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hu-H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hu-H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u-H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𝕏</m:t>
                        </m:r>
                      </m:e>
                      <m:sub>
                        <m:r>
                          <a:rPr lang="hu-HU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hu-HU" sz="2400" b="0" i="1" dirty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,</a:t>
                </a:r>
                <a:r>
                  <a:rPr lang="en-GB" sz="2400" dirty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u-H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u-H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hu-HU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GB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hu-HU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hu-HU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u-HU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hu-HU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hu-HU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GB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hu-HU" sz="24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u-HU" sz="24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b>
                        <m:r>
                          <a:rPr lang="en-GB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hu-HU" sz="2400" b="0" i="1" dirty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hu-H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u-H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GB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GB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hu-HU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GB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GB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hu-HU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GB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GB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𝔼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hu-HU" sz="2400" b="0" i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</m:sup>
                    </m:sSup>
                    <m:r>
                      <a:rPr lang="hu-HU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hu-H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hu-HU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hu-HU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hu-HU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GB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hu-HU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hu-HU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hu-HU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GB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hu-H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hu-H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𝕂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hu-HU" sz="2400" b="0" i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</m:sup>
                    </m:sSup>
                    <m:r>
                      <a:rPr lang="hu-HU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hu-H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hu-HU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hu-HU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hu-HU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hu-H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hu-HU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hu-HU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hu-HU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GB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GB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𝕍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hu-HU" sz="2400" b="0" i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</m:sup>
                    </m:sSup>
                    <m:r>
                      <a:rPr lang="hu-HU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ctrlPr>
                          <a:rPr lang="hu-H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hu-H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𝑒𝑥</m:t>
                        </m:r>
                        <m:sSub>
                          <m:sSubPr>
                            <m:ctrlPr>
                              <a:rPr lang="hu-HU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hu-HU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hu-HU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hu-H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hu-H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𝑒𝑥</m:t>
                        </m:r>
                        <m:sSub>
                          <m:sSubPr>
                            <m:ctrlPr>
                              <a:rPr lang="hu-HU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hu-HU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hu-HU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hu-HU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hu-H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hu-H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𝕏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hu-HU" sz="2400" b="0" i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</m:sup>
                    </m:sSup>
                  </m:oMath>
                </a14:m>
                <a:r>
                  <a:rPr lang="hu-HU" sz="2400" i="1" dirty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,</a:t>
                </a:r>
                <a:r>
                  <a:rPr lang="en-GB" sz="2400" dirty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u-H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u-H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hu-H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GB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hu-HU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hu-H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u-H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hu-H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hu-HU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GB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hu-HU" sz="24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hu-HU" sz="24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hu-HU" sz="2400" b="0" i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</m:sup>
                    </m:sSup>
                  </m:oMath>
                </a14:m>
                <a:br>
                  <a:rPr lang="hu-HU" sz="2400" b="0" dirty="0">
                    <a:solidFill>
                      <a:prstClr val="black"/>
                    </a:solidFill>
                  </a:rPr>
                </a:br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hu-HU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hu-HU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hu-HU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hu-HU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hu-HU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hu-HU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hu-HU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hu-HU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hu-HU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sSubSup>
                        <m:sSubSupPr>
                          <m:ctrlPr>
                            <a:rPr lang="en-GB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𝔾</m:t>
                          </m:r>
                        </m:e>
                        <m:sub>
                          <m:r>
                            <a:rPr lang="en-GB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GB" sz="24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Γ</m:t>
                          </m:r>
                        </m:sup>
                      </m:sSubSup>
                    </m:oMath>
                  </m:oMathPara>
                </a14:m>
                <a:endParaRPr lang="hu-HU" sz="2400" i="1" dirty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1" name="Rectangle: Rounded Corners 16">
                <a:extLst>
                  <a:ext uri="{FF2B5EF4-FFF2-40B4-BE49-F238E27FC236}">
                    <a16:creationId xmlns:a16="http://schemas.microsoft.com/office/drawing/2014/main" id="{8C49A149-D058-3E35-95F3-54893CD22DA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4235" y="2403887"/>
                <a:ext cx="9843529" cy="1660757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Rectangle: Rounded Corners 16">
                <a:extLst>
                  <a:ext uri="{FF2B5EF4-FFF2-40B4-BE49-F238E27FC236}">
                    <a16:creationId xmlns:a16="http://schemas.microsoft.com/office/drawing/2014/main" id="{6359AEF5-98C6-1B98-A1FF-00269AFB1FA8}"/>
                  </a:ext>
                </a:extLst>
              </p:cNvPr>
              <p:cNvSpPr/>
              <p:nvPr/>
            </p:nvSpPr>
            <p:spPr>
              <a:xfrm>
                <a:off x="1174235" y="1380502"/>
                <a:ext cx="9843529" cy="942415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lang="en-GB" sz="2400" i="1" noProof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 noProof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GB" sz="2400" i="1" noProof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Sup>
                        <m:sSubSupPr>
                          <m:ctrlPr>
                            <a:rPr lang="hu-HU" sz="2400" b="0" i="1" noProof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hu-HU" sz="2400" b="0" i="1" noProof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</m:e>
                        <m:sub>
                          <m:r>
                            <a:rPr lang="en-GB" sz="2400" b="0" i="1" noProof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𝑐𝑡𝑥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GB" sz="2400" b="0" i="0" noProof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Γ</m:t>
                          </m:r>
                        </m:sup>
                      </m:sSubSup>
                      <m:sSub>
                        <m:sSubPr>
                          <m:ctrlPr>
                            <a:rPr lang="en-GB" sz="2400" i="1" noProof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 noProof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GB" sz="2400" i="1" noProof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2400" b="0" i="1" noProof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≔</m:t>
                      </m:r>
                    </m:oMath>
                    <m:oMath>
                      <m:r>
                        <a:rPr lang="en-GB" sz="2400" i="1" noProof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∀</m:t>
                      </m:r>
                      <m:d>
                        <m:dPr>
                          <m:ctrlPr>
                            <a:rPr lang="en-GB" sz="2400" i="1" noProof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i="1" noProof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GB" sz="2400" i="1" noProof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en-GB" sz="2400" i="1" noProof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𝐶𝑜𝑛𝑡𝑒𝑥𝑡</m:t>
                          </m:r>
                        </m:e>
                      </m:d>
                      <m:r>
                        <a:rPr lang="en-GB" sz="2400" i="1" noProof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d>
                        <m:dPr>
                          <m:begChr m:val="⟨"/>
                          <m:endChr m:val="⟩"/>
                          <m:ctrlPr>
                            <a:rPr lang="en-GB" sz="2400" b="0" i="1" noProof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noProof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  <m:r>
                            <a:rPr lang="en-GB" sz="2400" b="0" i="1" noProof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GB" sz="2400" b="0" i="1" noProof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b="0" i="1" noProof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GB" sz="2400" b="0" i="1" noProof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sz="2400" b="0" i="1" noProof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GB" sz="2400" b="0" i="1" noProof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GB" sz="2400" b="0" i="1" noProof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d>
                      <m:r>
                        <a:rPr lang="en-GB" sz="2400" i="1" noProof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↘</m:t>
                      </m:r>
                      <m:r>
                        <a:rPr lang="en-GB" sz="2400" b="0" i="1" noProof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hu-HU" sz="2400" b="0" i="1" noProof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d>
                        <m:dPr>
                          <m:begChr m:val="⟨"/>
                          <m:endChr m:val="⟩"/>
                          <m:ctrlPr>
                            <a:rPr lang="en-GB" sz="2400" i="1" noProof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i="1" noProof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  <m:r>
                            <a:rPr lang="en-GB" sz="2400" b="0" i="1" noProof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400" i="1" noProof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GB" sz="2400" b="0" i="1" noProof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b="0" i="1" noProof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GB" sz="2400" b="0" i="1" noProof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sz="2400" i="1" noProof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GB" sz="2400" b="0" i="1" noProof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GB" sz="2400" b="0" i="1" noProof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d>
                      <m:r>
                        <a:rPr lang="en-GB" sz="2400" i="1" noProof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↘</m:t>
                      </m:r>
                    </m:oMath>
                  </m:oMathPara>
                </a14:m>
                <a:endParaRPr lang="en-GB" sz="2400" i="1" noProof="0" dirty="0">
                  <a:solidFill>
                    <a:prstClr val="black"/>
                  </a:solidFill>
                  <a:latin typeface="Ubuntu" panose="020B0504030602030204" pitchFamily="34" charset="0"/>
                </a:endParaRPr>
              </a:p>
            </p:txBody>
          </p:sp>
        </mc:Choice>
        <mc:Fallback>
          <p:sp>
            <p:nvSpPr>
              <p:cNvPr id="12" name="Rectangle: Rounded Corners 16">
                <a:extLst>
                  <a:ext uri="{FF2B5EF4-FFF2-40B4-BE49-F238E27FC236}">
                    <a16:creationId xmlns:a16="http://schemas.microsoft.com/office/drawing/2014/main" id="{6359AEF5-98C6-1B98-A1FF-00269AFB1FA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4235" y="1380502"/>
                <a:ext cx="9843529" cy="942415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Rectangle: Rounded Corners 16">
                <a:extLst>
                  <a:ext uri="{FF2B5EF4-FFF2-40B4-BE49-F238E27FC236}">
                    <a16:creationId xmlns:a16="http://schemas.microsoft.com/office/drawing/2014/main" id="{14E4A011-758F-C5EB-381D-98C6E4AC151A}"/>
                  </a:ext>
                </a:extLst>
              </p:cNvPr>
              <p:cNvSpPr/>
              <p:nvPr/>
            </p:nvSpPr>
            <p:spPr>
              <a:xfrm>
                <a:off x="1174235" y="5974534"/>
                <a:ext cx="9843529" cy="554467"/>
              </a:xfrm>
              <a:prstGeom prst="roundRect">
                <a:avLst/>
              </a:prstGeom>
              <a:solidFill>
                <a:srgbClr val="C5E0B4"/>
              </a:solidFill>
              <a:ln>
                <a:solidFill>
                  <a:srgbClr val="507E3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GB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GB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GB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GB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GB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Γ</m:t>
                          </m:r>
                        </m:sup>
                      </m:sSup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⇔</m:t>
                      </m:r>
                      <m:sSub>
                        <m:sSubPr>
                          <m:ctrlP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Sup>
                        <m:sSubSupPr>
                          <m:ctrlP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</m:e>
                        <m:sub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𝑐𝑖𝑢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GB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Γ</m:t>
                          </m:r>
                        </m:sup>
                      </m:sSubSup>
                      <m:sSub>
                        <m:sSubPr>
                          <m:ctrlP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⇔</m:t>
                      </m:r>
                      <m:sSub>
                        <m:sSubPr>
                          <m:ctrlP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Sup>
                        <m:sSubSupPr>
                          <m:ctrlP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</m:e>
                        <m:sub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𝑐𝑡𝑥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GB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Γ</m:t>
                          </m:r>
                        </m:sup>
                      </m:sSubSup>
                      <m:sSub>
                        <m:sSubPr>
                          <m:ctrlP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sz="24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3" name="Rectangle: Rounded Corners 16">
                <a:extLst>
                  <a:ext uri="{FF2B5EF4-FFF2-40B4-BE49-F238E27FC236}">
                    <a16:creationId xmlns:a16="http://schemas.microsoft.com/office/drawing/2014/main" id="{14E4A011-758F-C5EB-381D-98C6E4AC151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4235" y="5974534"/>
                <a:ext cx="9843529" cy="554467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rgbClr val="507E32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438090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0" grpId="0" animBg="1"/>
      <p:bldP spid="11" grpId="0" animBg="1"/>
      <p:bldP spid="1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455D2E-5F13-7259-4A4B-46A3ADEB1B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zövegdoboz 2">
            <a:extLst>
              <a:ext uri="{FF2B5EF4-FFF2-40B4-BE49-F238E27FC236}">
                <a16:creationId xmlns:a16="http://schemas.microsoft.com/office/drawing/2014/main" id="{BD66881C-59C7-14D9-BE59-6998ADC73AC5}"/>
              </a:ext>
            </a:extLst>
          </p:cNvPr>
          <p:cNvSpPr txBox="1"/>
          <p:nvPr/>
        </p:nvSpPr>
        <p:spPr>
          <a:xfrm>
            <a:off x="838200" y="399495"/>
            <a:ext cx="10515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600" dirty="0">
                <a:solidFill>
                  <a:srgbClr val="01285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Program </a:t>
            </a:r>
            <a:r>
              <a:rPr lang="hu-HU" sz="3600" dirty="0" err="1">
                <a:solidFill>
                  <a:srgbClr val="01285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equivalence</a:t>
            </a:r>
            <a:r>
              <a:rPr lang="hu-HU" sz="3600" dirty="0">
                <a:solidFill>
                  <a:srgbClr val="01285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and </a:t>
            </a:r>
            <a:r>
              <a:rPr lang="hu-HU" sz="3600" dirty="0" err="1">
                <a:solidFill>
                  <a:srgbClr val="01285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refactorings</a:t>
            </a:r>
            <a:endParaRPr lang="hu-HU" sz="3600" dirty="0">
              <a:solidFill>
                <a:srgbClr val="012851"/>
              </a:solidFill>
              <a:latin typeface="Ubuntu" panose="020B050403060203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6" name="Egyenes összekötő 5">
            <a:extLst>
              <a:ext uri="{FF2B5EF4-FFF2-40B4-BE49-F238E27FC236}">
                <a16:creationId xmlns:a16="http://schemas.microsoft.com/office/drawing/2014/main" id="{FE07FD7D-6D04-C2C0-8D44-2E7EAEC3AD09}"/>
              </a:ext>
            </a:extLst>
          </p:cNvPr>
          <p:cNvCxnSpPr/>
          <p:nvPr/>
        </p:nvCxnSpPr>
        <p:spPr>
          <a:xfrm>
            <a:off x="838200" y="1145220"/>
            <a:ext cx="10676138" cy="0"/>
          </a:xfrm>
          <a:prstGeom prst="line">
            <a:avLst/>
          </a:prstGeom>
          <a:ln>
            <a:solidFill>
              <a:srgbClr val="0128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: Rounded Corners 16">
            <a:extLst>
              <a:ext uri="{FF2B5EF4-FFF2-40B4-BE49-F238E27FC236}">
                <a16:creationId xmlns:a16="http://schemas.microsoft.com/office/drawing/2014/main" id="{7B954D4E-4B71-E823-4F58-27359433DF22}"/>
              </a:ext>
            </a:extLst>
          </p:cNvPr>
          <p:cNvSpPr/>
          <p:nvPr/>
        </p:nvSpPr>
        <p:spPr>
          <a:xfrm>
            <a:off x="1057013" y="1912811"/>
            <a:ext cx="9915417" cy="123119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églalap: lekerekített 3">
            <a:extLst>
              <a:ext uri="{FF2B5EF4-FFF2-40B4-BE49-F238E27FC236}">
                <a16:creationId xmlns:a16="http://schemas.microsoft.com/office/drawing/2014/main" id="{FAB32E5A-09C6-C1FA-CFCB-798747D67057}"/>
              </a:ext>
            </a:extLst>
          </p:cNvPr>
          <p:cNvSpPr/>
          <p:nvPr/>
        </p:nvSpPr>
        <p:spPr>
          <a:xfrm>
            <a:off x="1219570" y="2028261"/>
            <a:ext cx="3253370" cy="93299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9153515A-A5E4-9F19-54BA-E5B4201BCA3F}"/>
              </a:ext>
            </a:extLst>
          </p:cNvPr>
          <p:cNvSpPr txBox="1"/>
          <p:nvPr/>
        </p:nvSpPr>
        <p:spPr>
          <a:xfrm>
            <a:off x="1219569" y="2010504"/>
            <a:ext cx="341589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000" i="1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f</a:t>
            </a:r>
            <a:r>
              <a:rPr lang="hu-HU" sz="2000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(</a:t>
            </a:r>
            <a:r>
              <a:rPr lang="hu-HU" sz="2000" i="1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x</a:t>
            </a:r>
            <a:r>
              <a:rPr lang="hu-HU" sz="2000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) </a:t>
            </a:r>
            <a:r>
              <a:rPr lang="hu-HU" sz="2000" b="1" dirty="0" err="1">
                <a:solidFill>
                  <a:srgbClr val="0070C0"/>
                </a:solidFill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when</a:t>
            </a:r>
            <a:endParaRPr lang="hu-HU" sz="2000" b="1" dirty="0">
              <a:solidFill>
                <a:srgbClr val="0070C0"/>
              </a:solidFill>
              <a:latin typeface="CMU Typewriter Text" panose="02000609000000000000" pitchFamily="50" charset="0"/>
              <a:ea typeface="CMU Typewriter Text" panose="02000609000000000000" pitchFamily="50" charset="0"/>
              <a:cs typeface="CMU Typewriter Text" panose="02000609000000000000" pitchFamily="50" charset="0"/>
            </a:endParaRPr>
          </a:p>
          <a:p>
            <a:r>
              <a:rPr lang="hu-HU" sz="2000" b="1" dirty="0">
                <a:solidFill>
                  <a:srgbClr val="0070C0"/>
                </a:solidFill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  </a:t>
            </a:r>
            <a:r>
              <a:rPr lang="hu-HU" sz="2000" dirty="0" err="1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length</a:t>
            </a:r>
            <a:r>
              <a:rPr lang="hu-HU" sz="2000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(</a:t>
            </a:r>
            <a:r>
              <a:rPr lang="hu-HU" sz="2000" i="1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x</a:t>
            </a:r>
            <a:r>
              <a:rPr lang="hu-HU" sz="2000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) == 0 -&gt; </a:t>
            </a:r>
            <a:r>
              <a:rPr lang="hu-HU" sz="2000" i="1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e</a:t>
            </a:r>
            <a:r>
              <a:rPr lang="hu-HU" sz="2000" i="1" baseline="-25000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1</a:t>
            </a:r>
            <a:r>
              <a:rPr lang="hu-HU" sz="2000" i="1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;</a:t>
            </a:r>
            <a:endParaRPr lang="hu-HU" sz="2000" dirty="0">
              <a:latin typeface="CMU Typewriter Text" panose="02000609000000000000" pitchFamily="50" charset="0"/>
              <a:ea typeface="CMU Typewriter Text" panose="02000609000000000000" pitchFamily="50" charset="0"/>
              <a:cs typeface="CMU Typewriter Text" panose="02000609000000000000" pitchFamily="50" charset="0"/>
            </a:endParaRPr>
          </a:p>
          <a:p>
            <a:r>
              <a:rPr lang="hu-HU" sz="2000" i="1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f</a:t>
            </a:r>
            <a:r>
              <a:rPr lang="hu-HU" sz="2000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(</a:t>
            </a:r>
            <a:r>
              <a:rPr lang="hu-HU" sz="2000" i="1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x</a:t>
            </a:r>
            <a:r>
              <a:rPr lang="hu-HU" sz="2000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) -&gt; </a:t>
            </a:r>
            <a:r>
              <a:rPr lang="hu-HU" sz="2000" i="1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e</a:t>
            </a:r>
            <a:r>
              <a:rPr lang="hu-HU" sz="2000" i="1" baseline="-25000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2</a:t>
            </a:r>
            <a:r>
              <a:rPr lang="hu-HU" sz="2000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.</a:t>
            </a:r>
            <a:endParaRPr lang="en-GB" sz="2000" dirty="0">
              <a:latin typeface="CMU Typewriter Text" panose="02000609000000000000" pitchFamily="50" charset="0"/>
              <a:ea typeface="CMU Typewriter Text" panose="02000609000000000000" pitchFamily="50" charset="0"/>
              <a:cs typeface="CMU Typewriter Text" panose="02000609000000000000" pitchFamily="50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749DB78-BD75-91F7-2140-FF04134B2808}"/>
              </a:ext>
            </a:extLst>
          </p:cNvPr>
          <p:cNvCxnSpPr/>
          <p:nvPr/>
        </p:nvCxnSpPr>
        <p:spPr>
          <a:xfrm>
            <a:off x="4715256" y="2526810"/>
            <a:ext cx="227685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églalap: lekerekített 7">
            <a:extLst>
              <a:ext uri="{FF2B5EF4-FFF2-40B4-BE49-F238E27FC236}">
                <a16:creationId xmlns:a16="http://schemas.microsoft.com/office/drawing/2014/main" id="{B9A3B7C1-D85C-94A6-851B-7821886AD1AA}"/>
              </a:ext>
            </a:extLst>
          </p:cNvPr>
          <p:cNvSpPr/>
          <p:nvPr/>
        </p:nvSpPr>
        <p:spPr>
          <a:xfrm>
            <a:off x="7135247" y="2226464"/>
            <a:ext cx="1926457" cy="707885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9" name="TextBox 7">
            <a:extLst>
              <a:ext uri="{FF2B5EF4-FFF2-40B4-BE49-F238E27FC236}">
                <a16:creationId xmlns:a16="http://schemas.microsoft.com/office/drawing/2014/main" id="{386723A3-24CF-00E6-BE24-4D4B59C30122}"/>
              </a:ext>
            </a:extLst>
          </p:cNvPr>
          <p:cNvSpPr txBox="1"/>
          <p:nvPr/>
        </p:nvSpPr>
        <p:spPr>
          <a:xfrm>
            <a:off x="5013537" y="2157478"/>
            <a:ext cx="1725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i="1" dirty="0" err="1">
                <a:latin typeface="Ubuntu" panose="020B0504030602030204" pitchFamily="34" charset="0"/>
              </a:rPr>
              <a:t>transformation</a:t>
            </a:r>
            <a:endParaRPr lang="en-GB" i="1" dirty="0">
              <a:latin typeface="Ubuntu" panose="020B0504030602030204" pitchFamily="34" charset="0"/>
            </a:endParaRPr>
          </a:p>
        </p:txBody>
      </p:sp>
      <p:sp>
        <p:nvSpPr>
          <p:cNvPr id="10" name="TextBox 8">
            <a:extLst>
              <a:ext uri="{FF2B5EF4-FFF2-40B4-BE49-F238E27FC236}">
                <a16:creationId xmlns:a16="http://schemas.microsoft.com/office/drawing/2014/main" id="{E1A44F4A-0B69-76AC-1AB8-D6CFC37233B2}"/>
              </a:ext>
            </a:extLst>
          </p:cNvPr>
          <p:cNvSpPr txBox="1"/>
          <p:nvPr/>
        </p:nvSpPr>
        <p:spPr>
          <a:xfrm>
            <a:off x="2062081" y="3329615"/>
            <a:ext cx="18998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i="1" u="sng" dirty="0">
                <a:latin typeface="Ubuntu" panose="020B0504030602030204" pitchFamily="34" charset="0"/>
              </a:rPr>
              <a:t>is a </a:t>
            </a:r>
            <a:r>
              <a:rPr lang="hu-HU" i="1" u="sng" dirty="0" err="1">
                <a:latin typeface="Ubuntu" panose="020B0504030602030204" pitchFamily="34" charset="0"/>
              </a:rPr>
              <a:t>refactoring</a:t>
            </a:r>
            <a:r>
              <a:rPr lang="hu-HU" i="1" u="sng" dirty="0">
                <a:latin typeface="Ubuntu" panose="020B0504030602030204" pitchFamily="34" charset="0"/>
              </a:rPr>
              <a:t> </a:t>
            </a:r>
            <a:r>
              <a:rPr lang="hu-HU" i="1" u="sng" dirty="0" err="1">
                <a:latin typeface="Ubuntu" panose="020B0504030602030204" pitchFamily="34" charset="0"/>
              </a:rPr>
              <a:t>if</a:t>
            </a:r>
            <a:endParaRPr lang="en-GB" i="1" u="sng" dirty="0">
              <a:latin typeface="Ubuntu" panose="020B0504030602030204" pitchFamily="34" charset="0"/>
            </a:endParaRPr>
          </a:p>
        </p:txBody>
      </p:sp>
      <p:sp>
        <p:nvSpPr>
          <p:cNvPr id="11" name="TextBox 3">
            <a:extLst>
              <a:ext uri="{FF2B5EF4-FFF2-40B4-BE49-F238E27FC236}">
                <a16:creationId xmlns:a16="http://schemas.microsoft.com/office/drawing/2014/main" id="{D968E1AB-6264-124B-5E4A-CBB1847057A6}"/>
              </a:ext>
            </a:extLst>
          </p:cNvPr>
          <p:cNvSpPr txBox="1"/>
          <p:nvPr/>
        </p:nvSpPr>
        <p:spPr>
          <a:xfrm>
            <a:off x="7234428" y="2235608"/>
            <a:ext cx="311761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000" i="1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f</a:t>
            </a:r>
            <a:r>
              <a:rPr lang="hu-HU" sz="2000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([]) -&gt; </a:t>
            </a:r>
            <a:r>
              <a:rPr lang="hu-HU" sz="2000" i="1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e</a:t>
            </a:r>
            <a:r>
              <a:rPr lang="hu-HU" sz="2000" i="1" baseline="-25000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1</a:t>
            </a:r>
            <a:r>
              <a:rPr lang="hu-HU" sz="2000" i="1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;</a:t>
            </a:r>
            <a:endParaRPr lang="hu-HU" sz="2000" dirty="0">
              <a:latin typeface="CMU Typewriter Text" panose="02000609000000000000" pitchFamily="50" charset="0"/>
              <a:ea typeface="CMU Typewriter Text" panose="02000609000000000000" pitchFamily="50" charset="0"/>
              <a:cs typeface="CMU Typewriter Text" panose="02000609000000000000" pitchFamily="50" charset="0"/>
            </a:endParaRPr>
          </a:p>
          <a:p>
            <a:r>
              <a:rPr lang="hu-HU" sz="2000" i="1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f</a:t>
            </a:r>
            <a:r>
              <a:rPr lang="hu-HU" sz="2000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(</a:t>
            </a:r>
            <a:r>
              <a:rPr lang="hu-HU" sz="2000" i="1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x</a:t>
            </a:r>
            <a:r>
              <a:rPr lang="hu-HU" sz="2000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) -&gt; </a:t>
            </a:r>
            <a:r>
              <a:rPr lang="hu-HU" sz="2000" i="1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e</a:t>
            </a:r>
            <a:r>
              <a:rPr lang="hu-HU" sz="2000" i="1" baseline="-25000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2</a:t>
            </a:r>
            <a:r>
              <a:rPr lang="hu-HU" sz="2000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.</a:t>
            </a:r>
            <a:endParaRPr lang="en-GB" sz="2000" dirty="0">
              <a:latin typeface="CMU Typewriter Text" panose="02000609000000000000" pitchFamily="50" charset="0"/>
              <a:ea typeface="CMU Typewriter Text" panose="02000609000000000000" pitchFamily="50" charset="0"/>
              <a:cs typeface="CMU Typewriter Text" panose="02000609000000000000" pitchFamily="50" charset="0"/>
            </a:endParaRPr>
          </a:p>
        </p:txBody>
      </p:sp>
      <p:sp>
        <p:nvSpPr>
          <p:cNvPr id="12" name="Rectangle: Rounded Corners 19">
            <a:extLst>
              <a:ext uri="{FF2B5EF4-FFF2-40B4-BE49-F238E27FC236}">
                <a16:creationId xmlns:a16="http://schemas.microsoft.com/office/drawing/2014/main" id="{FDB10D30-DCA0-F433-68E5-4EE717812E79}"/>
              </a:ext>
            </a:extLst>
          </p:cNvPr>
          <p:cNvSpPr/>
          <p:nvPr/>
        </p:nvSpPr>
        <p:spPr>
          <a:xfrm>
            <a:off x="1057013" y="3947106"/>
            <a:ext cx="9915417" cy="1204158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Box 15">
            <a:extLst>
              <a:ext uri="{FF2B5EF4-FFF2-40B4-BE49-F238E27FC236}">
                <a16:creationId xmlns:a16="http://schemas.microsoft.com/office/drawing/2014/main" id="{27BC3E56-9BF4-09D2-95AE-3CFD88BFCF22}"/>
              </a:ext>
            </a:extLst>
          </p:cNvPr>
          <p:cNvSpPr txBox="1"/>
          <p:nvPr/>
        </p:nvSpPr>
        <p:spPr>
          <a:xfrm>
            <a:off x="5882519" y="4090988"/>
            <a:ext cx="4908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dirty="0">
                <a:solidFill>
                  <a:schemeClr val="accent2"/>
                </a:solidFill>
              </a:rPr>
              <a:t>≈</a:t>
            </a:r>
          </a:p>
        </p:txBody>
      </p:sp>
      <p:sp>
        <p:nvSpPr>
          <p:cNvPr id="14" name="Téglalap: lekerekített 13">
            <a:extLst>
              <a:ext uri="{FF2B5EF4-FFF2-40B4-BE49-F238E27FC236}">
                <a16:creationId xmlns:a16="http://schemas.microsoft.com/office/drawing/2014/main" id="{15DB925C-9566-156F-A2CD-C4562AD43286}"/>
              </a:ext>
            </a:extLst>
          </p:cNvPr>
          <p:cNvSpPr/>
          <p:nvPr/>
        </p:nvSpPr>
        <p:spPr>
          <a:xfrm>
            <a:off x="2650397" y="4082689"/>
            <a:ext cx="3253370" cy="93299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5" name="Szövegdoboz 14">
            <a:extLst>
              <a:ext uri="{FF2B5EF4-FFF2-40B4-BE49-F238E27FC236}">
                <a16:creationId xmlns:a16="http://schemas.microsoft.com/office/drawing/2014/main" id="{5CB7372B-FFA9-8C63-634C-97773339BA66}"/>
              </a:ext>
            </a:extLst>
          </p:cNvPr>
          <p:cNvSpPr txBox="1"/>
          <p:nvPr/>
        </p:nvSpPr>
        <p:spPr>
          <a:xfrm>
            <a:off x="8558019" y="4348812"/>
            <a:ext cx="26485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dirty="0" err="1"/>
              <a:t>if</a:t>
            </a:r>
            <a:r>
              <a:rPr lang="hu-HU" sz="2400" dirty="0"/>
              <a:t> </a:t>
            </a:r>
            <a:r>
              <a:rPr lang="hu-HU" sz="2400" i="1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x</a:t>
            </a:r>
            <a:r>
              <a:rPr lang="hu-HU" sz="2400" i="1" dirty="0"/>
              <a:t> ∉ </a:t>
            </a:r>
            <a:r>
              <a:rPr lang="hu-HU" sz="2400" i="1" dirty="0" err="1"/>
              <a:t>vars</a:t>
            </a:r>
            <a:r>
              <a:rPr lang="hu-HU" sz="2400" i="1" dirty="0"/>
              <a:t>(</a:t>
            </a:r>
            <a:r>
              <a:rPr lang="hu-HU" sz="2400" i="1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e</a:t>
            </a:r>
            <a:r>
              <a:rPr lang="hu-HU" sz="2400" i="1" baseline="-25000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1</a:t>
            </a:r>
            <a:r>
              <a:rPr lang="hu-HU" sz="2400" i="1" dirty="0"/>
              <a:t>)</a:t>
            </a:r>
          </a:p>
        </p:txBody>
      </p:sp>
      <p:cxnSp>
        <p:nvCxnSpPr>
          <p:cNvPr id="16" name="Egyenes összekötő nyíllal 15">
            <a:extLst>
              <a:ext uri="{FF2B5EF4-FFF2-40B4-BE49-F238E27FC236}">
                <a16:creationId xmlns:a16="http://schemas.microsoft.com/office/drawing/2014/main" id="{DBA022F9-725D-37EB-A2B3-1EA325C28721}"/>
              </a:ext>
            </a:extLst>
          </p:cNvPr>
          <p:cNvCxnSpPr>
            <a:cxnSpLocks/>
            <a:stCxn id="17" idx="0"/>
          </p:cNvCxnSpPr>
          <p:nvPr/>
        </p:nvCxnSpPr>
        <p:spPr>
          <a:xfrm flipH="1" flipV="1">
            <a:off x="6149720" y="4703242"/>
            <a:ext cx="1184874" cy="8381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Szövegdoboz 16">
            <a:extLst>
              <a:ext uri="{FF2B5EF4-FFF2-40B4-BE49-F238E27FC236}">
                <a16:creationId xmlns:a16="http://schemas.microsoft.com/office/drawing/2014/main" id="{6A3B819A-0AEE-D8CC-91CB-D1D8E7FDA38E}"/>
              </a:ext>
            </a:extLst>
          </p:cNvPr>
          <p:cNvSpPr txBox="1"/>
          <p:nvPr/>
        </p:nvSpPr>
        <p:spPr>
          <a:xfrm>
            <a:off x="2777898" y="5541366"/>
            <a:ext cx="91133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400" dirty="0">
                <a:solidFill>
                  <a:srgbClr val="002751"/>
                </a:solidFill>
                <a:latin typeface="Ubuntu" panose="020B0504030602030204" pitchFamily="34" charset="0"/>
              </a:rPr>
              <a:t>Standard </a:t>
            </a:r>
            <a:r>
              <a:rPr lang="hu-HU" sz="2400" dirty="0" err="1">
                <a:solidFill>
                  <a:srgbClr val="002751"/>
                </a:solidFill>
                <a:latin typeface="Ubuntu" panose="020B0504030602030204" pitchFamily="34" charset="0"/>
              </a:rPr>
              <a:t>translation</a:t>
            </a:r>
            <a:r>
              <a:rPr lang="hu-HU" sz="2400" dirty="0">
                <a:solidFill>
                  <a:srgbClr val="002751"/>
                </a:solidFill>
                <a:latin typeface="Ubuntu" panose="020B0504030602030204" pitchFamily="34" charset="0"/>
              </a:rPr>
              <a:t> </a:t>
            </a:r>
            <a:r>
              <a:rPr lang="hu-HU" sz="2400" dirty="0" err="1">
                <a:solidFill>
                  <a:srgbClr val="002751"/>
                </a:solidFill>
                <a:latin typeface="Ubuntu" panose="020B0504030602030204" pitchFamily="34" charset="0"/>
              </a:rPr>
              <a:t>to</a:t>
            </a:r>
            <a:r>
              <a:rPr lang="hu-HU" sz="2400" dirty="0">
                <a:solidFill>
                  <a:srgbClr val="002751"/>
                </a:solidFill>
                <a:latin typeface="Ubuntu" panose="020B0504030602030204" pitchFamily="34" charset="0"/>
              </a:rPr>
              <a:t> </a:t>
            </a:r>
            <a:r>
              <a:rPr lang="hu-HU" sz="2400" dirty="0" err="1">
                <a:solidFill>
                  <a:srgbClr val="002751"/>
                </a:solidFill>
                <a:latin typeface="Ubuntu" panose="020B0504030602030204" pitchFamily="34" charset="0"/>
              </a:rPr>
              <a:t>Core</a:t>
            </a:r>
            <a:r>
              <a:rPr lang="hu-HU" sz="2400" dirty="0">
                <a:solidFill>
                  <a:srgbClr val="002751"/>
                </a:solidFill>
                <a:latin typeface="Ubuntu" panose="020B0504030602030204" pitchFamily="34" charset="0"/>
              </a:rPr>
              <a:t> </a:t>
            </a:r>
            <a:r>
              <a:rPr lang="hu-HU" sz="2400" dirty="0" err="1">
                <a:solidFill>
                  <a:srgbClr val="002751"/>
                </a:solidFill>
                <a:latin typeface="Ubuntu" panose="020B0504030602030204" pitchFamily="34" charset="0"/>
              </a:rPr>
              <a:t>Erlang</a:t>
            </a:r>
            <a:r>
              <a:rPr lang="hu-HU" sz="2400" dirty="0">
                <a:solidFill>
                  <a:srgbClr val="002751"/>
                </a:solidFill>
                <a:latin typeface="Ubuntu" panose="020B0504030602030204" pitchFamily="34" charset="0"/>
              </a:rPr>
              <a:t> + </a:t>
            </a:r>
            <a:r>
              <a:rPr lang="hu-HU" sz="2400" dirty="0" err="1">
                <a:solidFill>
                  <a:srgbClr val="002751"/>
                </a:solidFill>
                <a:latin typeface="Ubuntu" panose="020B0504030602030204" pitchFamily="34" charset="0"/>
              </a:rPr>
              <a:t>equivalence</a:t>
            </a:r>
            <a:r>
              <a:rPr lang="hu-HU" sz="2400" dirty="0">
                <a:solidFill>
                  <a:srgbClr val="002751"/>
                </a:solidFill>
                <a:latin typeface="Ubuntu" panose="020B0504030602030204" pitchFamily="34" charset="0"/>
              </a:rPr>
              <a:t> in </a:t>
            </a:r>
            <a:r>
              <a:rPr lang="hu-HU" sz="2400" dirty="0" err="1">
                <a:solidFill>
                  <a:srgbClr val="002751"/>
                </a:solidFill>
                <a:latin typeface="Ubuntu" panose="020B0504030602030204" pitchFamily="34" charset="0"/>
              </a:rPr>
              <a:t>Core</a:t>
            </a:r>
            <a:r>
              <a:rPr lang="hu-HU" sz="2400" dirty="0">
                <a:solidFill>
                  <a:srgbClr val="002751"/>
                </a:solidFill>
                <a:latin typeface="Ubuntu" panose="020B0504030602030204" pitchFamily="34" charset="0"/>
              </a:rPr>
              <a:t> </a:t>
            </a:r>
            <a:r>
              <a:rPr lang="hu-HU" sz="2400" dirty="0" err="1">
                <a:solidFill>
                  <a:srgbClr val="002751"/>
                </a:solidFill>
                <a:latin typeface="Ubuntu" panose="020B0504030602030204" pitchFamily="34" charset="0"/>
              </a:rPr>
              <a:t>Erlang</a:t>
            </a:r>
            <a:endParaRPr lang="hu-HU" sz="2400" dirty="0">
              <a:solidFill>
                <a:srgbClr val="002751"/>
              </a:solidFill>
              <a:latin typeface="Ubuntu" panose="020B0504030602030204" pitchFamily="34" charset="0"/>
            </a:endParaRPr>
          </a:p>
        </p:txBody>
      </p:sp>
      <p:sp>
        <p:nvSpPr>
          <p:cNvPr id="18" name="Téglalap: lekerekített 17">
            <a:extLst>
              <a:ext uri="{FF2B5EF4-FFF2-40B4-BE49-F238E27FC236}">
                <a16:creationId xmlns:a16="http://schemas.microsoft.com/office/drawing/2014/main" id="{46C3BC94-D163-CBB5-2A15-0DDE187534E1}"/>
              </a:ext>
            </a:extLst>
          </p:cNvPr>
          <p:cNvSpPr/>
          <p:nvPr/>
        </p:nvSpPr>
        <p:spPr>
          <a:xfrm>
            <a:off x="6520756" y="4167810"/>
            <a:ext cx="1926457" cy="707885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9" name="Szövegdoboz 18">
            <a:extLst>
              <a:ext uri="{FF2B5EF4-FFF2-40B4-BE49-F238E27FC236}">
                <a16:creationId xmlns:a16="http://schemas.microsoft.com/office/drawing/2014/main" id="{9E0E457E-90EC-61B1-DB46-24E8FF07293A}"/>
              </a:ext>
            </a:extLst>
          </p:cNvPr>
          <p:cNvSpPr txBox="1"/>
          <p:nvPr/>
        </p:nvSpPr>
        <p:spPr>
          <a:xfrm>
            <a:off x="1219570" y="4337208"/>
            <a:ext cx="16924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2400" dirty="0"/>
              <a:t>∀ </a:t>
            </a:r>
            <a:r>
              <a:rPr lang="hu-HU" sz="2400" i="1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f</a:t>
            </a:r>
            <a:r>
              <a:rPr lang="hu-HU" sz="2400" i="1" dirty="0">
                <a:ea typeface="CMU Typewriter Text" panose="02000609000000000000" pitchFamily="50" charset="0"/>
                <a:cs typeface="CMU Typewriter Text" panose="02000609000000000000" pitchFamily="50" charset="0"/>
              </a:rPr>
              <a:t>, </a:t>
            </a:r>
            <a:r>
              <a:rPr lang="hu-HU" sz="2400" i="1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x</a:t>
            </a:r>
            <a:r>
              <a:rPr lang="hu-HU" sz="2400" i="1" dirty="0"/>
              <a:t>, </a:t>
            </a:r>
            <a:r>
              <a:rPr lang="hu-HU" sz="2400" i="1" dirty="0" err="1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e</a:t>
            </a:r>
            <a:r>
              <a:rPr lang="hu-HU" sz="2400" i="1" baseline="-25000" dirty="0" err="1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i</a:t>
            </a:r>
            <a:r>
              <a:rPr lang="hu-HU" sz="2400" dirty="0"/>
              <a:t>:</a:t>
            </a:r>
          </a:p>
        </p:txBody>
      </p:sp>
      <p:sp>
        <p:nvSpPr>
          <p:cNvPr id="20" name="TextBox 3">
            <a:extLst>
              <a:ext uri="{FF2B5EF4-FFF2-40B4-BE49-F238E27FC236}">
                <a16:creationId xmlns:a16="http://schemas.microsoft.com/office/drawing/2014/main" id="{8D80832F-303E-A95A-1104-3BEA03EC2583}"/>
              </a:ext>
            </a:extLst>
          </p:cNvPr>
          <p:cNvSpPr txBox="1"/>
          <p:nvPr/>
        </p:nvSpPr>
        <p:spPr>
          <a:xfrm>
            <a:off x="2707852" y="4060208"/>
            <a:ext cx="325337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000" i="1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f</a:t>
            </a:r>
            <a:r>
              <a:rPr lang="hu-HU" sz="2000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(</a:t>
            </a:r>
            <a:r>
              <a:rPr lang="hu-HU" sz="2000" i="1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x</a:t>
            </a:r>
            <a:r>
              <a:rPr lang="hu-HU" sz="2000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) </a:t>
            </a:r>
            <a:r>
              <a:rPr lang="hu-HU" sz="2000" b="1" dirty="0" err="1">
                <a:solidFill>
                  <a:srgbClr val="0070C0"/>
                </a:solidFill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when</a:t>
            </a:r>
            <a:endParaRPr lang="hu-HU" sz="2000" b="1" dirty="0">
              <a:solidFill>
                <a:srgbClr val="0070C0"/>
              </a:solidFill>
              <a:latin typeface="CMU Typewriter Text" panose="02000609000000000000" pitchFamily="50" charset="0"/>
              <a:ea typeface="CMU Typewriter Text" panose="02000609000000000000" pitchFamily="50" charset="0"/>
              <a:cs typeface="CMU Typewriter Text" panose="02000609000000000000" pitchFamily="50" charset="0"/>
            </a:endParaRPr>
          </a:p>
          <a:p>
            <a:r>
              <a:rPr lang="hu-HU" sz="2000" b="1" dirty="0">
                <a:solidFill>
                  <a:srgbClr val="0070C0"/>
                </a:solidFill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  </a:t>
            </a:r>
            <a:r>
              <a:rPr lang="hu-HU" sz="2000" dirty="0" err="1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length</a:t>
            </a:r>
            <a:r>
              <a:rPr lang="hu-HU" sz="2000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(</a:t>
            </a:r>
            <a:r>
              <a:rPr lang="hu-HU" sz="2000" i="1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x</a:t>
            </a:r>
            <a:r>
              <a:rPr lang="hu-HU" sz="2000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) == 0 -&gt; </a:t>
            </a:r>
            <a:r>
              <a:rPr lang="hu-HU" sz="2000" i="1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e</a:t>
            </a:r>
            <a:r>
              <a:rPr lang="hu-HU" sz="2000" i="1" baseline="-25000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1</a:t>
            </a:r>
            <a:r>
              <a:rPr lang="hu-HU" sz="2000" i="1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;</a:t>
            </a:r>
            <a:endParaRPr lang="hu-HU" sz="2000" dirty="0">
              <a:latin typeface="CMU Typewriter Text" panose="02000609000000000000" pitchFamily="50" charset="0"/>
              <a:ea typeface="CMU Typewriter Text" panose="02000609000000000000" pitchFamily="50" charset="0"/>
              <a:cs typeface="CMU Typewriter Text" panose="02000609000000000000" pitchFamily="50" charset="0"/>
            </a:endParaRPr>
          </a:p>
          <a:p>
            <a:r>
              <a:rPr lang="hu-HU" sz="2000" i="1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f</a:t>
            </a:r>
            <a:r>
              <a:rPr lang="hu-HU" sz="2000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(</a:t>
            </a:r>
            <a:r>
              <a:rPr lang="hu-HU" sz="2000" i="1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x</a:t>
            </a:r>
            <a:r>
              <a:rPr lang="hu-HU" sz="2000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) -&gt; </a:t>
            </a:r>
            <a:r>
              <a:rPr lang="hu-HU" sz="2000" i="1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e</a:t>
            </a:r>
            <a:r>
              <a:rPr lang="hu-HU" sz="2000" i="1" baseline="-25000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2</a:t>
            </a:r>
            <a:r>
              <a:rPr lang="hu-HU" sz="2000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.</a:t>
            </a:r>
            <a:endParaRPr lang="en-GB" sz="2000" dirty="0">
              <a:latin typeface="CMU Typewriter Text" panose="02000609000000000000" pitchFamily="50" charset="0"/>
              <a:ea typeface="CMU Typewriter Text" panose="02000609000000000000" pitchFamily="50" charset="0"/>
              <a:cs typeface="CMU Typewriter Text" panose="02000609000000000000" pitchFamily="50" charset="0"/>
            </a:endParaRPr>
          </a:p>
        </p:txBody>
      </p:sp>
      <p:sp>
        <p:nvSpPr>
          <p:cNvPr id="21" name="TextBox 3">
            <a:extLst>
              <a:ext uri="{FF2B5EF4-FFF2-40B4-BE49-F238E27FC236}">
                <a16:creationId xmlns:a16="http://schemas.microsoft.com/office/drawing/2014/main" id="{BCCBDDCD-EF76-2469-8FC9-D10811DD581F}"/>
              </a:ext>
            </a:extLst>
          </p:cNvPr>
          <p:cNvSpPr txBox="1"/>
          <p:nvPr/>
        </p:nvSpPr>
        <p:spPr>
          <a:xfrm>
            <a:off x="6619312" y="4196669"/>
            <a:ext cx="19490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000" i="1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f</a:t>
            </a:r>
            <a:r>
              <a:rPr lang="hu-HU" sz="2000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([]) -&gt; </a:t>
            </a:r>
            <a:r>
              <a:rPr lang="hu-HU" sz="2000" i="1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e</a:t>
            </a:r>
            <a:r>
              <a:rPr lang="hu-HU" sz="2000" i="1" baseline="-25000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1</a:t>
            </a:r>
            <a:r>
              <a:rPr lang="hu-HU" sz="2000" i="1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;</a:t>
            </a:r>
            <a:endParaRPr lang="hu-HU" sz="2000" dirty="0">
              <a:latin typeface="CMU Typewriter Text" panose="02000609000000000000" pitchFamily="50" charset="0"/>
              <a:ea typeface="CMU Typewriter Text" panose="02000609000000000000" pitchFamily="50" charset="0"/>
              <a:cs typeface="CMU Typewriter Text" panose="02000609000000000000" pitchFamily="50" charset="0"/>
            </a:endParaRPr>
          </a:p>
          <a:p>
            <a:r>
              <a:rPr lang="hu-HU" sz="2000" i="1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f</a:t>
            </a:r>
            <a:r>
              <a:rPr lang="hu-HU" sz="2000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(</a:t>
            </a:r>
            <a:r>
              <a:rPr lang="hu-HU" sz="2000" i="1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x</a:t>
            </a:r>
            <a:r>
              <a:rPr lang="hu-HU" sz="2000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) -&gt; </a:t>
            </a:r>
            <a:r>
              <a:rPr lang="hu-HU" sz="2000" i="1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e</a:t>
            </a:r>
            <a:r>
              <a:rPr lang="hu-HU" sz="2000" i="1" baseline="-25000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2</a:t>
            </a:r>
            <a:r>
              <a:rPr lang="hu-HU" sz="2000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.</a:t>
            </a:r>
            <a:endParaRPr lang="en-GB" sz="2000" dirty="0">
              <a:latin typeface="CMU Typewriter Text" panose="02000609000000000000" pitchFamily="50" charset="0"/>
              <a:ea typeface="CMU Typewriter Text" panose="02000609000000000000" pitchFamily="50" charset="0"/>
              <a:cs typeface="CMU Typewriter Text" panose="02000609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3645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5" grpId="0"/>
      <p:bldP spid="8" grpId="0" animBg="1"/>
      <p:bldP spid="9" grpId="0"/>
      <p:bldP spid="10" grpId="0"/>
      <p:bldP spid="11" grpId="0"/>
      <p:bldP spid="12" grpId="0" animBg="1"/>
      <p:bldP spid="13" grpId="0"/>
      <p:bldP spid="14" grpId="0" animBg="1"/>
      <p:bldP spid="15" grpId="0"/>
      <p:bldP spid="17" grpId="0"/>
      <p:bldP spid="18" grpId="0" animBg="1"/>
      <p:bldP spid="19" grpId="0"/>
      <p:bldP spid="20" grpId="0"/>
      <p:bldP spid="2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: Rounded Corners 19">
            <a:extLst>
              <a:ext uri="{FF2B5EF4-FFF2-40B4-BE49-F238E27FC236}">
                <a16:creationId xmlns:a16="http://schemas.microsoft.com/office/drawing/2014/main" id="{C4721DD6-9C3D-AD55-7BA6-311ECDC5E4AC}"/>
              </a:ext>
            </a:extLst>
          </p:cNvPr>
          <p:cNvSpPr/>
          <p:nvPr/>
        </p:nvSpPr>
        <p:spPr>
          <a:xfrm>
            <a:off x="378691" y="1455371"/>
            <a:ext cx="11434617" cy="1055828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6" name="Rectangle: Rounded Corners 19">
            <a:extLst>
              <a:ext uri="{FF2B5EF4-FFF2-40B4-BE49-F238E27FC236}">
                <a16:creationId xmlns:a16="http://schemas.microsoft.com/office/drawing/2014/main" id="{97E3B662-E21C-86D7-A2ED-914E99BB42AF}"/>
              </a:ext>
            </a:extLst>
          </p:cNvPr>
          <p:cNvSpPr/>
          <p:nvPr/>
        </p:nvSpPr>
        <p:spPr>
          <a:xfrm>
            <a:off x="378691" y="3000071"/>
            <a:ext cx="11434617" cy="3308015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11DD2953-3B3C-412C-83B3-53E08D6E6A91}"/>
              </a:ext>
            </a:extLst>
          </p:cNvPr>
          <p:cNvSpPr txBox="1"/>
          <p:nvPr/>
        </p:nvSpPr>
        <p:spPr>
          <a:xfrm>
            <a:off x="838200" y="399495"/>
            <a:ext cx="10515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600" dirty="0">
                <a:solidFill>
                  <a:srgbClr val="01285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Program </a:t>
            </a:r>
            <a:r>
              <a:rPr lang="hu-HU" sz="3600" dirty="0" err="1">
                <a:solidFill>
                  <a:srgbClr val="01285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equivalence</a:t>
            </a:r>
            <a:r>
              <a:rPr lang="hu-HU" sz="3600" dirty="0">
                <a:solidFill>
                  <a:srgbClr val="01285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and </a:t>
            </a:r>
            <a:r>
              <a:rPr lang="hu-HU" sz="3600" dirty="0" err="1">
                <a:solidFill>
                  <a:srgbClr val="01285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refactorings</a:t>
            </a:r>
            <a:endParaRPr lang="hu-HU" sz="3600" dirty="0">
              <a:solidFill>
                <a:srgbClr val="012851"/>
              </a:solidFill>
              <a:latin typeface="Ubuntu" panose="020B050403060203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" name="Téglalap: lekerekített 3">
            <a:extLst>
              <a:ext uri="{FF2B5EF4-FFF2-40B4-BE49-F238E27FC236}">
                <a16:creationId xmlns:a16="http://schemas.microsoft.com/office/drawing/2014/main" id="{B76F431A-70EA-1B7A-00AB-A61A099DF6BD}"/>
              </a:ext>
            </a:extLst>
          </p:cNvPr>
          <p:cNvSpPr/>
          <p:nvPr/>
        </p:nvSpPr>
        <p:spPr>
          <a:xfrm>
            <a:off x="514931" y="3136752"/>
            <a:ext cx="5457555" cy="2971085"/>
          </a:xfrm>
          <a:prstGeom prst="roundRect">
            <a:avLst>
              <a:gd name="adj" fmla="val 6807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6" name="Egyenes összekötő 5">
            <a:extLst>
              <a:ext uri="{FF2B5EF4-FFF2-40B4-BE49-F238E27FC236}">
                <a16:creationId xmlns:a16="http://schemas.microsoft.com/office/drawing/2014/main" id="{F2B5A38B-F1A4-46E5-A546-D8DA8D39A774}"/>
              </a:ext>
            </a:extLst>
          </p:cNvPr>
          <p:cNvCxnSpPr/>
          <p:nvPr/>
        </p:nvCxnSpPr>
        <p:spPr>
          <a:xfrm>
            <a:off x="838200" y="1145220"/>
            <a:ext cx="10676138" cy="0"/>
          </a:xfrm>
          <a:prstGeom prst="line">
            <a:avLst/>
          </a:prstGeom>
          <a:ln>
            <a:solidFill>
              <a:srgbClr val="0128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Szövegdoboz 11">
            <a:extLst>
              <a:ext uri="{FF2B5EF4-FFF2-40B4-BE49-F238E27FC236}">
                <a16:creationId xmlns:a16="http://schemas.microsoft.com/office/drawing/2014/main" id="{124E3698-FAAE-B8BD-92F7-3D6A68C9202D}"/>
              </a:ext>
            </a:extLst>
          </p:cNvPr>
          <p:cNvSpPr txBox="1"/>
          <p:nvPr/>
        </p:nvSpPr>
        <p:spPr>
          <a:xfrm>
            <a:off x="514931" y="3136752"/>
            <a:ext cx="5726071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i="1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f</a:t>
            </a:r>
            <a:r>
              <a:rPr lang="en-GB" sz="1600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/1 = </a:t>
            </a:r>
            <a:r>
              <a:rPr lang="en-GB" sz="1600" b="1" dirty="0">
                <a:solidFill>
                  <a:srgbClr val="0070C0"/>
                </a:solidFill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fun</a:t>
            </a:r>
            <a:r>
              <a:rPr lang="en-GB" sz="1600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 (_0) -&gt;</a:t>
            </a:r>
          </a:p>
          <a:p>
            <a:r>
              <a:rPr lang="en-GB" sz="1600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  </a:t>
            </a:r>
            <a:r>
              <a:rPr lang="en-GB" sz="1600" b="1" dirty="0">
                <a:solidFill>
                  <a:srgbClr val="0070C0"/>
                </a:solidFill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case</a:t>
            </a:r>
            <a:r>
              <a:rPr lang="en-GB" sz="1600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 (_0) </a:t>
            </a:r>
            <a:r>
              <a:rPr lang="en-GB" sz="1600" b="1" dirty="0">
                <a:solidFill>
                  <a:srgbClr val="0070C0"/>
                </a:solidFill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of</a:t>
            </a:r>
          </a:p>
          <a:p>
            <a:r>
              <a:rPr lang="en-GB" sz="1600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    &lt;</a:t>
            </a:r>
            <a:r>
              <a:rPr lang="en-GB" sz="1600" i="1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x</a:t>
            </a:r>
            <a:r>
              <a:rPr lang="en-GB" sz="1600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&gt; </a:t>
            </a:r>
            <a:r>
              <a:rPr lang="en-GB" sz="1600" b="1" dirty="0">
                <a:solidFill>
                  <a:srgbClr val="0070C0"/>
                </a:solidFill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when</a:t>
            </a:r>
            <a:r>
              <a:rPr lang="en-GB" sz="1600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 </a:t>
            </a:r>
            <a:r>
              <a:rPr lang="en-GB" sz="1600" b="1" dirty="0">
                <a:solidFill>
                  <a:srgbClr val="0070C0"/>
                </a:solidFill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try</a:t>
            </a:r>
            <a:r>
              <a:rPr lang="en-GB" sz="1600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 </a:t>
            </a:r>
            <a:r>
              <a:rPr lang="en-GB" sz="1600" b="1" dirty="0">
                <a:solidFill>
                  <a:srgbClr val="0070C0"/>
                </a:solidFill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let</a:t>
            </a:r>
            <a:r>
              <a:rPr lang="en-GB" sz="1600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 &lt;_1&gt; =</a:t>
            </a:r>
          </a:p>
          <a:p>
            <a:r>
              <a:rPr lang="en-GB" sz="1600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                   </a:t>
            </a:r>
            <a:r>
              <a:rPr lang="en-GB" sz="1600" b="1" dirty="0">
                <a:solidFill>
                  <a:srgbClr val="0070C0"/>
                </a:solidFill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call</a:t>
            </a:r>
            <a:r>
              <a:rPr lang="en-GB" sz="1600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 '</a:t>
            </a:r>
            <a:r>
              <a:rPr lang="en-GB" sz="1600" dirty="0" err="1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erlang':'length</a:t>
            </a:r>
            <a:r>
              <a:rPr lang="en-GB" sz="1600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’(</a:t>
            </a:r>
            <a:r>
              <a:rPr lang="en-GB" sz="1600" i="1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x</a:t>
            </a:r>
            <a:r>
              <a:rPr lang="en-GB" sz="1600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)</a:t>
            </a:r>
          </a:p>
          <a:p>
            <a:r>
              <a:rPr lang="en-GB" sz="1600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                 </a:t>
            </a:r>
            <a:r>
              <a:rPr lang="en-GB" sz="1600" b="1" dirty="0">
                <a:solidFill>
                  <a:srgbClr val="0070C0"/>
                </a:solidFill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in</a:t>
            </a:r>
            <a:r>
              <a:rPr lang="en-GB" sz="1600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  </a:t>
            </a:r>
            <a:r>
              <a:rPr lang="en-GB" sz="1600" b="1" dirty="0">
                <a:solidFill>
                  <a:srgbClr val="0070C0"/>
                </a:solidFill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call</a:t>
            </a:r>
            <a:r>
              <a:rPr lang="en-GB" sz="1600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 'erlang':'=='(_1, 0)</a:t>
            </a:r>
          </a:p>
          <a:p>
            <a:r>
              <a:rPr lang="en-GB" sz="1600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             </a:t>
            </a:r>
            <a:r>
              <a:rPr lang="en-GB" sz="1600" b="1" dirty="0">
                <a:solidFill>
                  <a:srgbClr val="0070C0"/>
                </a:solidFill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of</a:t>
            </a:r>
            <a:r>
              <a:rPr lang="en-GB" sz="1600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 &lt;Try&gt; -&gt; Try</a:t>
            </a:r>
          </a:p>
          <a:p>
            <a:r>
              <a:rPr lang="en-GB" sz="1600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             </a:t>
            </a:r>
            <a:r>
              <a:rPr lang="en-GB" sz="1600" b="1" dirty="0">
                <a:solidFill>
                  <a:srgbClr val="0070C0"/>
                </a:solidFill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catch</a:t>
            </a:r>
            <a:r>
              <a:rPr lang="en-GB" sz="1600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 &lt;T,R&gt; -&gt; 'false’</a:t>
            </a:r>
          </a:p>
          <a:p>
            <a:r>
              <a:rPr lang="en-GB" sz="1600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        -&gt; </a:t>
            </a:r>
            <a:r>
              <a:rPr lang="en-GB" sz="1600" i="1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e</a:t>
            </a:r>
            <a:r>
              <a:rPr lang="en-GB" sz="1600" i="1" baseline="-25000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1</a:t>
            </a:r>
          </a:p>
          <a:p>
            <a:r>
              <a:rPr lang="en-GB" sz="1600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    &lt;_3&gt; </a:t>
            </a:r>
            <a:r>
              <a:rPr lang="en-GB" sz="1600" b="1" dirty="0">
                <a:solidFill>
                  <a:srgbClr val="0070C0"/>
                </a:solidFill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when</a:t>
            </a:r>
            <a:r>
              <a:rPr lang="en-GB" sz="1600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 'true' -&gt; </a:t>
            </a:r>
            <a:r>
              <a:rPr lang="en-GB" sz="1600" i="1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e</a:t>
            </a:r>
            <a:r>
              <a:rPr lang="en-GB" sz="1600" i="1" baseline="-25000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2</a:t>
            </a:r>
          </a:p>
          <a:p>
            <a:r>
              <a:rPr lang="en-GB" sz="1600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    &lt;_2&gt; </a:t>
            </a:r>
            <a:r>
              <a:rPr lang="en-GB" sz="1600" b="1" dirty="0">
                <a:solidFill>
                  <a:srgbClr val="0070C0"/>
                </a:solidFill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when</a:t>
            </a:r>
            <a:r>
              <a:rPr lang="en-GB" sz="1600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 'true’ -&gt;</a:t>
            </a:r>
          </a:p>
          <a:p>
            <a:r>
              <a:rPr lang="en-GB" sz="1600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       </a:t>
            </a:r>
            <a:r>
              <a:rPr lang="en-GB" sz="1600" b="1" dirty="0" err="1">
                <a:solidFill>
                  <a:srgbClr val="0070C0"/>
                </a:solidFill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primop</a:t>
            </a:r>
            <a:r>
              <a:rPr lang="en-GB" sz="1600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 '</a:t>
            </a:r>
            <a:r>
              <a:rPr lang="en-GB" sz="1600" dirty="0" err="1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match_fail</a:t>
            </a:r>
            <a:r>
              <a:rPr lang="en-GB" sz="1600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'({'function_clause',_2})</a:t>
            </a:r>
          </a:p>
          <a:p>
            <a:r>
              <a:rPr lang="en-GB" sz="1600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  </a:t>
            </a:r>
            <a:r>
              <a:rPr lang="en-GB" sz="1600" b="1" dirty="0">
                <a:solidFill>
                  <a:srgbClr val="0070C0"/>
                </a:solidFill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end</a:t>
            </a:r>
          </a:p>
        </p:txBody>
      </p:sp>
      <p:sp>
        <p:nvSpPr>
          <p:cNvPr id="2" name="Téglalap: lekerekített 1">
            <a:extLst>
              <a:ext uri="{FF2B5EF4-FFF2-40B4-BE49-F238E27FC236}">
                <a16:creationId xmlns:a16="http://schemas.microsoft.com/office/drawing/2014/main" id="{4B43ACC7-FD88-7551-31CB-1876CB07F7E6}"/>
              </a:ext>
            </a:extLst>
          </p:cNvPr>
          <p:cNvSpPr/>
          <p:nvPr/>
        </p:nvSpPr>
        <p:spPr>
          <a:xfrm>
            <a:off x="6921443" y="1656916"/>
            <a:ext cx="1926457" cy="707885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7" name="Téglalap: lekerekített 6">
            <a:extLst>
              <a:ext uri="{FF2B5EF4-FFF2-40B4-BE49-F238E27FC236}">
                <a16:creationId xmlns:a16="http://schemas.microsoft.com/office/drawing/2014/main" id="{3A1BD88E-ED4A-DA07-9A41-BE52AF832D07}"/>
              </a:ext>
            </a:extLst>
          </p:cNvPr>
          <p:cNvSpPr/>
          <p:nvPr/>
        </p:nvSpPr>
        <p:spPr>
          <a:xfrm>
            <a:off x="6365690" y="3604485"/>
            <a:ext cx="5406101" cy="1781744"/>
          </a:xfrm>
          <a:prstGeom prst="roundRect">
            <a:avLst>
              <a:gd name="adj" fmla="val 6807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" name="Téglalap: lekerekített 4">
            <a:extLst>
              <a:ext uri="{FF2B5EF4-FFF2-40B4-BE49-F238E27FC236}">
                <a16:creationId xmlns:a16="http://schemas.microsoft.com/office/drawing/2014/main" id="{BFB5F533-69E8-CEB1-6ABE-FA0E1B63474F}"/>
              </a:ext>
            </a:extLst>
          </p:cNvPr>
          <p:cNvSpPr/>
          <p:nvPr/>
        </p:nvSpPr>
        <p:spPr>
          <a:xfrm>
            <a:off x="1135730" y="1494150"/>
            <a:ext cx="3134430" cy="98058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3" name="Szövegdoboz 12">
            <a:extLst>
              <a:ext uri="{FF2B5EF4-FFF2-40B4-BE49-F238E27FC236}">
                <a16:creationId xmlns:a16="http://schemas.microsoft.com/office/drawing/2014/main" id="{F11C8DFB-6ADC-11C6-E282-A8475D813626}"/>
              </a:ext>
            </a:extLst>
          </p:cNvPr>
          <p:cNvSpPr txBox="1"/>
          <p:nvPr/>
        </p:nvSpPr>
        <p:spPr>
          <a:xfrm>
            <a:off x="6363859" y="3604484"/>
            <a:ext cx="5551054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i="1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f</a:t>
            </a:r>
            <a:r>
              <a:rPr lang="en-GB" sz="1600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/1 = </a:t>
            </a:r>
            <a:r>
              <a:rPr lang="en-GB" sz="1600" b="1" dirty="0">
                <a:solidFill>
                  <a:srgbClr val="0070C0"/>
                </a:solidFill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fun</a:t>
            </a:r>
            <a:r>
              <a:rPr lang="en-GB" sz="1600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 (_0) -&gt;</a:t>
            </a:r>
          </a:p>
          <a:p>
            <a:r>
              <a:rPr lang="en-GB" sz="1600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  </a:t>
            </a:r>
            <a:r>
              <a:rPr lang="en-GB" sz="1600" b="1" dirty="0">
                <a:solidFill>
                  <a:srgbClr val="0070C0"/>
                </a:solidFill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case</a:t>
            </a:r>
            <a:r>
              <a:rPr lang="en-GB" sz="1600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 (_0) </a:t>
            </a:r>
            <a:r>
              <a:rPr lang="en-GB" sz="1600" b="1" dirty="0">
                <a:solidFill>
                  <a:srgbClr val="0070C0"/>
                </a:solidFill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of</a:t>
            </a:r>
          </a:p>
          <a:p>
            <a:r>
              <a:rPr lang="en-GB" sz="1600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    &lt;[]&gt; </a:t>
            </a:r>
            <a:r>
              <a:rPr lang="en-GB" sz="1600" b="1" dirty="0">
                <a:solidFill>
                  <a:srgbClr val="0070C0"/>
                </a:solidFill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when</a:t>
            </a:r>
            <a:r>
              <a:rPr lang="en-GB" sz="1600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 'true' -&gt; </a:t>
            </a:r>
            <a:r>
              <a:rPr lang="en-GB" sz="1600" i="1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e</a:t>
            </a:r>
            <a:r>
              <a:rPr lang="en-GB" sz="1600" i="1" baseline="-25000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1</a:t>
            </a:r>
          </a:p>
          <a:p>
            <a:r>
              <a:rPr lang="en-GB" sz="1600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    &lt;</a:t>
            </a:r>
            <a:r>
              <a:rPr lang="en-GB" sz="1600" i="1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x</a:t>
            </a:r>
            <a:r>
              <a:rPr lang="en-GB" sz="1600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&gt; </a:t>
            </a:r>
            <a:r>
              <a:rPr lang="en-GB" sz="1600" b="1" dirty="0">
                <a:solidFill>
                  <a:srgbClr val="0070C0"/>
                </a:solidFill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when</a:t>
            </a:r>
            <a:r>
              <a:rPr lang="en-GB" sz="1600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 'true’ -&gt; </a:t>
            </a:r>
            <a:r>
              <a:rPr lang="en-GB" sz="1600" i="1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e</a:t>
            </a:r>
            <a:r>
              <a:rPr lang="en-GB" sz="1600" i="1" baseline="-25000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2</a:t>
            </a:r>
          </a:p>
          <a:p>
            <a:r>
              <a:rPr lang="en-GB" sz="1600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    &lt;_1&gt; </a:t>
            </a:r>
            <a:r>
              <a:rPr lang="en-GB" sz="1600" b="1" dirty="0">
                <a:solidFill>
                  <a:srgbClr val="0070C0"/>
                </a:solidFill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when</a:t>
            </a:r>
            <a:r>
              <a:rPr lang="en-GB" sz="1600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 'true’ -&gt;</a:t>
            </a:r>
          </a:p>
          <a:p>
            <a:r>
              <a:rPr lang="en-GB" sz="1600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       </a:t>
            </a:r>
            <a:r>
              <a:rPr lang="en-GB" sz="1600" b="1" dirty="0" err="1">
                <a:solidFill>
                  <a:srgbClr val="0070C0"/>
                </a:solidFill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primop</a:t>
            </a:r>
            <a:r>
              <a:rPr lang="en-GB" sz="1600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 '</a:t>
            </a:r>
            <a:r>
              <a:rPr lang="en-GB" sz="1600" dirty="0" err="1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match_fail</a:t>
            </a:r>
            <a:r>
              <a:rPr lang="en-GB" sz="1600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’({'function_clause',_1})</a:t>
            </a:r>
          </a:p>
          <a:p>
            <a:r>
              <a:rPr lang="en-GB" sz="1600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  </a:t>
            </a:r>
            <a:r>
              <a:rPr lang="en-GB" sz="1600" b="1" dirty="0">
                <a:solidFill>
                  <a:srgbClr val="0070C0"/>
                </a:solidFill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end</a:t>
            </a:r>
          </a:p>
        </p:txBody>
      </p:sp>
      <p:sp>
        <p:nvSpPr>
          <p:cNvPr id="16" name="TextBox 3">
            <a:extLst>
              <a:ext uri="{FF2B5EF4-FFF2-40B4-BE49-F238E27FC236}">
                <a16:creationId xmlns:a16="http://schemas.microsoft.com/office/drawing/2014/main" id="{C0342913-6A83-147E-D726-275FDAF34AFD}"/>
              </a:ext>
            </a:extLst>
          </p:cNvPr>
          <p:cNvSpPr txBox="1"/>
          <p:nvPr/>
        </p:nvSpPr>
        <p:spPr>
          <a:xfrm>
            <a:off x="1117974" y="1503028"/>
            <a:ext cx="325337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i="1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f</a:t>
            </a:r>
            <a:r>
              <a:rPr lang="en-GB" sz="2000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(</a:t>
            </a:r>
            <a:r>
              <a:rPr lang="en-GB" sz="2000" i="1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x</a:t>
            </a:r>
            <a:r>
              <a:rPr lang="en-GB" sz="2000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) </a:t>
            </a:r>
            <a:r>
              <a:rPr lang="en-GB" sz="2000" b="1" dirty="0">
                <a:solidFill>
                  <a:srgbClr val="0070C0"/>
                </a:solidFill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when</a:t>
            </a:r>
          </a:p>
          <a:p>
            <a:r>
              <a:rPr lang="en-GB" sz="2000" b="1" dirty="0">
                <a:solidFill>
                  <a:srgbClr val="0070C0"/>
                </a:solidFill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  </a:t>
            </a:r>
            <a:r>
              <a:rPr lang="en-GB" sz="2000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length(</a:t>
            </a:r>
            <a:r>
              <a:rPr lang="en-GB" sz="2000" i="1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x</a:t>
            </a:r>
            <a:r>
              <a:rPr lang="en-GB" sz="2000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) == 0 -&gt; </a:t>
            </a:r>
            <a:r>
              <a:rPr lang="en-GB" sz="2000" i="1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e</a:t>
            </a:r>
            <a:r>
              <a:rPr lang="en-GB" sz="2000" i="1" baseline="-25000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1</a:t>
            </a:r>
            <a:r>
              <a:rPr lang="en-GB" sz="2000" i="1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;</a:t>
            </a:r>
            <a:endParaRPr lang="en-GB" sz="2000" dirty="0">
              <a:latin typeface="CMU Typewriter Text" panose="02000609000000000000" pitchFamily="50" charset="0"/>
              <a:ea typeface="CMU Typewriter Text" panose="02000609000000000000" pitchFamily="50" charset="0"/>
              <a:cs typeface="CMU Typewriter Text" panose="02000609000000000000" pitchFamily="50" charset="0"/>
            </a:endParaRPr>
          </a:p>
          <a:p>
            <a:r>
              <a:rPr lang="en-GB" sz="2000" i="1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f</a:t>
            </a:r>
            <a:r>
              <a:rPr lang="en-GB" sz="2000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(</a:t>
            </a:r>
            <a:r>
              <a:rPr lang="en-GB" sz="2000" i="1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x</a:t>
            </a:r>
            <a:r>
              <a:rPr lang="en-GB" sz="2000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) -&gt; </a:t>
            </a:r>
            <a:r>
              <a:rPr lang="en-GB" sz="2000" i="1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e</a:t>
            </a:r>
            <a:r>
              <a:rPr lang="en-GB" sz="2000" i="1" baseline="-25000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2</a:t>
            </a:r>
            <a:r>
              <a:rPr lang="en-GB" sz="2000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.</a:t>
            </a:r>
          </a:p>
        </p:txBody>
      </p:sp>
      <p:sp>
        <p:nvSpPr>
          <p:cNvPr id="17" name="TextBox 3">
            <a:extLst>
              <a:ext uri="{FF2B5EF4-FFF2-40B4-BE49-F238E27FC236}">
                <a16:creationId xmlns:a16="http://schemas.microsoft.com/office/drawing/2014/main" id="{D3ABEC5E-CDDA-E043-9C52-1F0251E3A6DB}"/>
              </a:ext>
            </a:extLst>
          </p:cNvPr>
          <p:cNvSpPr txBox="1"/>
          <p:nvPr/>
        </p:nvSpPr>
        <p:spPr>
          <a:xfrm>
            <a:off x="6966577" y="1656916"/>
            <a:ext cx="311761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i="1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f</a:t>
            </a:r>
            <a:r>
              <a:rPr lang="en-GB" sz="2000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([]) -&gt; </a:t>
            </a:r>
            <a:r>
              <a:rPr lang="en-GB" sz="2000" i="1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e</a:t>
            </a:r>
            <a:r>
              <a:rPr lang="en-GB" sz="2000" i="1" baseline="-25000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1</a:t>
            </a:r>
            <a:r>
              <a:rPr lang="en-GB" sz="2000" i="1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;</a:t>
            </a:r>
            <a:endParaRPr lang="en-GB" sz="2000" dirty="0">
              <a:latin typeface="CMU Typewriter Text" panose="02000609000000000000" pitchFamily="50" charset="0"/>
              <a:ea typeface="CMU Typewriter Text" panose="02000609000000000000" pitchFamily="50" charset="0"/>
              <a:cs typeface="CMU Typewriter Text" panose="02000609000000000000" pitchFamily="50" charset="0"/>
            </a:endParaRPr>
          </a:p>
          <a:p>
            <a:r>
              <a:rPr lang="en-GB" sz="2000" i="1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f</a:t>
            </a:r>
            <a:r>
              <a:rPr lang="en-GB" sz="2000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(</a:t>
            </a:r>
            <a:r>
              <a:rPr lang="en-GB" sz="2000" i="1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x</a:t>
            </a:r>
            <a:r>
              <a:rPr lang="en-GB" sz="2000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) -&gt; </a:t>
            </a:r>
            <a:r>
              <a:rPr lang="en-GB" sz="2000" i="1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e</a:t>
            </a:r>
            <a:r>
              <a:rPr lang="en-GB" sz="2000" i="1" baseline="-25000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2</a:t>
            </a:r>
            <a:r>
              <a:rPr lang="en-GB" sz="2000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.</a:t>
            </a:r>
          </a:p>
        </p:txBody>
      </p:sp>
      <p:sp>
        <p:nvSpPr>
          <p:cNvPr id="23" name="Nyíl: lefelé mutató 22">
            <a:extLst>
              <a:ext uri="{FF2B5EF4-FFF2-40B4-BE49-F238E27FC236}">
                <a16:creationId xmlns:a16="http://schemas.microsoft.com/office/drawing/2014/main" id="{A655482A-C1F8-76F8-3251-317CDF8D70CC}"/>
              </a:ext>
            </a:extLst>
          </p:cNvPr>
          <p:cNvSpPr/>
          <p:nvPr/>
        </p:nvSpPr>
        <p:spPr>
          <a:xfrm>
            <a:off x="2419931" y="2546399"/>
            <a:ext cx="314037" cy="418472"/>
          </a:xfrm>
          <a:prstGeom prst="downArrow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4" name="Nyíl: lefelé mutató 23">
            <a:extLst>
              <a:ext uri="{FF2B5EF4-FFF2-40B4-BE49-F238E27FC236}">
                <a16:creationId xmlns:a16="http://schemas.microsoft.com/office/drawing/2014/main" id="{470944B1-F0BD-1122-3969-5F1D509B2ACF}"/>
              </a:ext>
            </a:extLst>
          </p:cNvPr>
          <p:cNvSpPr/>
          <p:nvPr/>
        </p:nvSpPr>
        <p:spPr>
          <a:xfrm>
            <a:off x="7617466" y="2546399"/>
            <a:ext cx="314037" cy="418472"/>
          </a:xfrm>
          <a:prstGeom prst="downArrow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5" name="TextBox 15">
            <a:extLst>
              <a:ext uri="{FF2B5EF4-FFF2-40B4-BE49-F238E27FC236}">
                <a16:creationId xmlns:a16="http://schemas.microsoft.com/office/drawing/2014/main" id="{40134BA3-CB21-7E46-6228-D8E5C92A1926}"/>
              </a:ext>
            </a:extLst>
          </p:cNvPr>
          <p:cNvSpPr txBox="1"/>
          <p:nvPr/>
        </p:nvSpPr>
        <p:spPr>
          <a:xfrm>
            <a:off x="5880649" y="4127932"/>
            <a:ext cx="4908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dirty="0">
                <a:solidFill>
                  <a:schemeClr val="accent2"/>
                </a:solidFill>
              </a:rPr>
              <a:t>≈</a:t>
            </a:r>
          </a:p>
        </p:txBody>
      </p:sp>
    </p:spTree>
    <p:extLst>
      <p:ext uri="{BB962C8B-B14F-4D97-AF65-F5344CB8AC3E}">
        <p14:creationId xmlns:p14="http://schemas.microsoft.com/office/powerpoint/2010/main" val="4598806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4" grpId="0" animBg="1"/>
      <p:bldP spid="12" grpId="0"/>
      <p:bldP spid="7" grpId="0" animBg="1"/>
      <p:bldP spid="13" grpId="0"/>
      <p:bldP spid="23" grpId="0" animBg="1"/>
      <p:bldP spid="24" grpId="0" animBg="1"/>
      <p:bldP spid="2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1F3DAE-56AD-7D3A-BBB0-51452E5882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zövegdoboz 3">
            <a:extLst>
              <a:ext uri="{FF2B5EF4-FFF2-40B4-BE49-F238E27FC236}">
                <a16:creationId xmlns:a16="http://schemas.microsoft.com/office/drawing/2014/main" id="{EF6C3BE6-77BE-6863-5E82-2BDD07262B2E}"/>
              </a:ext>
            </a:extLst>
          </p:cNvPr>
          <p:cNvSpPr txBox="1"/>
          <p:nvPr/>
        </p:nvSpPr>
        <p:spPr>
          <a:xfrm>
            <a:off x="838200" y="399495"/>
            <a:ext cx="10515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600" noProof="0" dirty="0" err="1">
                <a:solidFill>
                  <a:srgbClr val="01285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Formal</a:t>
            </a:r>
            <a:r>
              <a:rPr lang="hu-HU" sz="3600" noProof="0" dirty="0">
                <a:solidFill>
                  <a:srgbClr val="01285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hu-HU" sz="3600" noProof="0" dirty="0" err="1">
                <a:solidFill>
                  <a:srgbClr val="01285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semantics</a:t>
            </a:r>
            <a:r>
              <a:rPr lang="hu-HU" sz="3600" noProof="0" dirty="0">
                <a:solidFill>
                  <a:srgbClr val="01285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and </a:t>
            </a:r>
            <a:r>
              <a:rPr lang="hu-HU" sz="3600" noProof="0" dirty="0" err="1">
                <a:solidFill>
                  <a:srgbClr val="01285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proofs</a:t>
            </a:r>
            <a:r>
              <a:rPr lang="hu-HU" sz="3600" noProof="0" dirty="0">
                <a:solidFill>
                  <a:srgbClr val="01285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…</a:t>
            </a:r>
            <a:endParaRPr lang="en-GB" sz="3600" noProof="0" dirty="0">
              <a:solidFill>
                <a:srgbClr val="012851"/>
              </a:solidFill>
              <a:latin typeface="Ubuntu" panose="020B050403060203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5" name="Egyenes összekötő 4">
            <a:extLst>
              <a:ext uri="{FF2B5EF4-FFF2-40B4-BE49-F238E27FC236}">
                <a16:creationId xmlns:a16="http://schemas.microsoft.com/office/drawing/2014/main" id="{ED7F2F1E-B6B4-719D-27A5-7CC52C4178D5}"/>
              </a:ext>
            </a:extLst>
          </p:cNvPr>
          <p:cNvCxnSpPr/>
          <p:nvPr/>
        </p:nvCxnSpPr>
        <p:spPr>
          <a:xfrm>
            <a:off x="838200" y="1145220"/>
            <a:ext cx="10676138" cy="0"/>
          </a:xfrm>
          <a:prstGeom prst="line">
            <a:avLst/>
          </a:prstGeom>
          <a:ln>
            <a:solidFill>
              <a:srgbClr val="0128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Szövegdoboz 15">
            <a:extLst>
              <a:ext uri="{FF2B5EF4-FFF2-40B4-BE49-F238E27FC236}">
                <a16:creationId xmlns:a16="http://schemas.microsoft.com/office/drawing/2014/main" id="{1CE951EB-8400-E0DA-40A8-D44EDB668FFA}"/>
              </a:ext>
            </a:extLst>
          </p:cNvPr>
          <p:cNvSpPr txBox="1"/>
          <p:nvPr/>
        </p:nvSpPr>
        <p:spPr>
          <a:xfrm>
            <a:off x="838200" y="1351500"/>
            <a:ext cx="4099560" cy="43704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en-GB" sz="7200" dirty="0">
                <a:solidFill>
                  <a:srgbClr val="012851"/>
                </a:solidFill>
              </a:rPr>
              <a:t>📖</a:t>
            </a:r>
            <a:br>
              <a:rPr lang="hu-HU" sz="2800" b="1" i="0" u="none" strike="noStrike" dirty="0">
                <a:solidFill>
                  <a:srgbClr val="012851"/>
                </a:solidFill>
                <a:effectLst/>
                <a:latin typeface="Ubuntu" panose="020B0504030602030204" pitchFamily="34" charset="0"/>
              </a:rPr>
            </a:br>
            <a:r>
              <a:rPr lang="en-GB" sz="2800" b="1" i="0" u="none" strike="noStrike" dirty="0">
                <a:solidFill>
                  <a:srgbClr val="012851"/>
                </a:solidFill>
                <a:effectLst/>
                <a:latin typeface="Ubuntu" panose="020B0504030602030204" pitchFamily="34" charset="0"/>
              </a:rPr>
              <a:t>… on paper</a:t>
            </a:r>
            <a:endParaRPr lang="en-GB" sz="2800" b="0" dirty="0">
              <a:solidFill>
                <a:srgbClr val="012851"/>
              </a:solidFill>
              <a:effectLst/>
            </a:endParaRPr>
          </a:p>
          <a:p>
            <a:pPr>
              <a:buNone/>
            </a:pPr>
            <a:r>
              <a:rPr lang="en-GB" sz="2800" b="0" i="0" u="none" strike="noStrike" dirty="0">
                <a:solidFill>
                  <a:srgbClr val="012851"/>
                </a:solidFill>
                <a:effectLst/>
                <a:latin typeface="Ubuntu" panose="020B0504030602030204" pitchFamily="34" charset="0"/>
              </a:rPr>
              <a:t>While a paper-based semantics is precise, it </a:t>
            </a:r>
            <a:r>
              <a:rPr lang="en-GB" sz="2800" b="1" i="0" u="none" strike="noStrike" dirty="0">
                <a:solidFill>
                  <a:srgbClr val="0070C0"/>
                </a:solidFill>
                <a:effectLst/>
                <a:latin typeface="Ubuntu" panose="020B0504030602030204" pitchFamily="34" charset="0"/>
              </a:rPr>
              <a:t>is manual</a:t>
            </a:r>
            <a:r>
              <a:rPr lang="en-GB" sz="2800" b="0" i="0" u="none" strike="noStrike" dirty="0">
                <a:solidFill>
                  <a:srgbClr val="012851"/>
                </a:solidFill>
                <a:effectLst/>
                <a:latin typeface="Ubuntu" panose="020B0504030602030204" pitchFamily="34" charset="0"/>
              </a:rPr>
              <a:t>. Proofs are written and checked manually; thus, </a:t>
            </a:r>
            <a:r>
              <a:rPr lang="en-GB" sz="2800" b="1" i="0" u="none" strike="noStrike" dirty="0">
                <a:solidFill>
                  <a:srgbClr val="0070C0"/>
                </a:solidFill>
                <a:effectLst/>
                <a:latin typeface="Ubuntu" panose="020B0504030602030204" pitchFamily="34" charset="0"/>
              </a:rPr>
              <a:t>errors can</a:t>
            </a:r>
            <a:r>
              <a:rPr lang="en-GB" sz="2800" b="0" i="0" u="none" strike="noStrike" dirty="0">
                <a:solidFill>
                  <a:srgbClr val="012851"/>
                </a:solidFill>
                <a:effectLst/>
                <a:latin typeface="Ubuntu" panose="020B0504030602030204" pitchFamily="34" charset="0"/>
              </a:rPr>
              <a:t> easily </a:t>
            </a:r>
            <a:r>
              <a:rPr lang="en-GB" sz="2800" b="1" i="0" u="none" strike="noStrike" dirty="0">
                <a:solidFill>
                  <a:srgbClr val="0070C0"/>
                </a:solidFill>
                <a:effectLst/>
                <a:latin typeface="Ubuntu" panose="020B0504030602030204" pitchFamily="34" charset="0"/>
              </a:rPr>
              <a:t>slip through</a:t>
            </a:r>
            <a:r>
              <a:rPr lang="en-GB" sz="2800" b="0" i="0" u="none" strike="noStrike" dirty="0">
                <a:solidFill>
                  <a:srgbClr val="012851"/>
                </a:solidFill>
                <a:effectLst/>
                <a:latin typeface="Ubuntu" panose="020B0504030602030204" pitchFamily="34" charset="0"/>
              </a:rPr>
              <a:t>.</a:t>
            </a:r>
            <a:endParaRPr lang="en-GB" sz="2800" dirty="0">
              <a:solidFill>
                <a:srgbClr val="012851"/>
              </a:solidFill>
            </a:endParaRPr>
          </a:p>
        </p:txBody>
      </p:sp>
      <p:sp>
        <p:nvSpPr>
          <p:cNvPr id="18" name="Szövegdoboz 17">
            <a:extLst>
              <a:ext uri="{FF2B5EF4-FFF2-40B4-BE49-F238E27FC236}">
                <a16:creationId xmlns:a16="http://schemas.microsoft.com/office/drawing/2014/main" id="{A42088C5-C3DB-C05A-0E66-2E242EDAD3D9}"/>
              </a:ext>
            </a:extLst>
          </p:cNvPr>
          <p:cNvSpPr txBox="1"/>
          <p:nvPr/>
        </p:nvSpPr>
        <p:spPr>
          <a:xfrm>
            <a:off x="6921250" y="2454615"/>
            <a:ext cx="4932424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Aft>
                <a:spcPts val="1200"/>
              </a:spcAft>
              <a:buNone/>
            </a:pPr>
            <a:r>
              <a:rPr lang="en-GB" sz="2800" b="1" i="0" u="none" strike="noStrike" dirty="0">
                <a:solidFill>
                  <a:srgbClr val="012851"/>
                </a:solidFill>
                <a:effectLst/>
                <a:latin typeface="Ubuntu" panose="020B0504030602030204" pitchFamily="34" charset="0"/>
              </a:rPr>
              <a:t>… in a proof assistant</a:t>
            </a:r>
            <a:endParaRPr lang="en-GB" sz="2800" b="0" dirty="0">
              <a:solidFill>
                <a:srgbClr val="012851"/>
              </a:solidFill>
              <a:effectLst/>
            </a:endParaRPr>
          </a:p>
          <a:p>
            <a:pPr rtl="0">
              <a:spcAft>
                <a:spcPts val="1200"/>
              </a:spcAft>
              <a:buNone/>
            </a:pPr>
            <a:r>
              <a:rPr lang="en-GB" sz="2800" b="0" i="0" u="none" strike="noStrike" dirty="0">
                <a:solidFill>
                  <a:srgbClr val="012851"/>
                </a:solidFill>
                <a:effectLst/>
                <a:latin typeface="Ubuntu" panose="020B0504030602030204" pitchFamily="34" charset="0"/>
              </a:rPr>
              <a:t>Formalising a semantics in a proof assistant is a major effort. But, </a:t>
            </a:r>
            <a:r>
              <a:rPr lang="en-GB" sz="2800" b="1" i="0" u="none" strike="noStrike" dirty="0">
                <a:solidFill>
                  <a:srgbClr val="0070C0"/>
                </a:solidFill>
                <a:effectLst/>
                <a:latin typeface="Ubuntu" panose="020B0504030602030204" pitchFamily="34" charset="0"/>
              </a:rPr>
              <a:t>proofs are machine-checked</a:t>
            </a:r>
            <a:r>
              <a:rPr lang="en-GB" sz="2800" b="0" i="0" u="none" strike="noStrike" dirty="0">
                <a:solidFill>
                  <a:srgbClr val="012851"/>
                </a:solidFill>
                <a:effectLst/>
                <a:latin typeface="Ubuntu" panose="020B0504030602030204" pitchFamily="34" charset="0"/>
              </a:rPr>
              <a:t>, there is </a:t>
            </a:r>
            <a:r>
              <a:rPr lang="en-GB" sz="2800" b="1" i="0" u="none" strike="noStrike" dirty="0">
                <a:solidFill>
                  <a:srgbClr val="0070C0"/>
                </a:solidFill>
                <a:effectLst/>
                <a:latin typeface="Ubuntu" panose="020B0504030602030204" pitchFamily="34" charset="0"/>
              </a:rPr>
              <a:t>no</a:t>
            </a:r>
            <a:r>
              <a:rPr lang="en-GB" sz="2800" b="1" i="0" u="none" strike="noStrike" dirty="0">
                <a:solidFill>
                  <a:srgbClr val="012851"/>
                </a:solidFill>
                <a:effectLst/>
                <a:latin typeface="Ubuntu" panose="020B0504030602030204" pitchFamily="34" charset="0"/>
              </a:rPr>
              <a:t> </a:t>
            </a:r>
            <a:r>
              <a:rPr lang="en-GB" sz="2800" b="0" i="0" u="none" strike="noStrike" dirty="0">
                <a:solidFill>
                  <a:srgbClr val="012851"/>
                </a:solidFill>
                <a:effectLst/>
                <a:latin typeface="Ubuntu" panose="020B0504030602030204" pitchFamily="34" charset="0"/>
              </a:rPr>
              <a:t>room for</a:t>
            </a:r>
            <a:r>
              <a:rPr lang="en-GB" sz="2800" b="1" i="0" u="none" strike="noStrike" dirty="0">
                <a:solidFill>
                  <a:srgbClr val="012851"/>
                </a:solidFill>
                <a:effectLst/>
                <a:latin typeface="Ubuntu" panose="020B0504030602030204" pitchFamily="34" charset="0"/>
              </a:rPr>
              <a:t> </a:t>
            </a:r>
            <a:r>
              <a:rPr lang="en-GB" sz="2800" b="1" i="0" u="none" strike="noStrike" dirty="0">
                <a:solidFill>
                  <a:srgbClr val="0070C0"/>
                </a:solidFill>
                <a:effectLst/>
                <a:latin typeface="Ubuntu" panose="020B0504030602030204" pitchFamily="34" charset="0"/>
              </a:rPr>
              <a:t>imprecision</a:t>
            </a:r>
            <a:r>
              <a:rPr lang="en-GB" sz="2800" b="0" i="0" u="none" strike="noStrike" dirty="0">
                <a:solidFill>
                  <a:srgbClr val="012851"/>
                </a:solidFill>
                <a:effectLst/>
                <a:latin typeface="Ubuntu" panose="020B0504030602030204" pitchFamily="34" charset="0"/>
              </a:rPr>
              <a:t>, while </a:t>
            </a:r>
            <a:r>
              <a:rPr lang="en-GB" sz="2800" b="1" i="0" u="none" strike="noStrike" dirty="0">
                <a:solidFill>
                  <a:srgbClr val="0070C0"/>
                </a:solidFill>
                <a:effectLst/>
                <a:latin typeface="Ubuntu" panose="020B0504030602030204" pitchFamily="34" charset="0"/>
              </a:rPr>
              <a:t>proving is interactive</a:t>
            </a:r>
            <a:r>
              <a:rPr lang="en-GB" sz="2800" b="0" i="0" u="none" strike="noStrike" dirty="0">
                <a:solidFill>
                  <a:srgbClr val="012851"/>
                </a:solidFill>
                <a:effectLst/>
                <a:latin typeface="Ubuntu" panose="020B0504030602030204" pitchFamily="34" charset="0"/>
              </a:rPr>
              <a:t>.</a:t>
            </a:r>
            <a:endParaRPr lang="en-GB" sz="2800" b="0" dirty="0">
              <a:solidFill>
                <a:srgbClr val="012851"/>
              </a:solidFill>
              <a:effectLst/>
            </a:endParaRPr>
          </a:p>
          <a:p>
            <a:pPr>
              <a:buNone/>
            </a:pPr>
            <a:br>
              <a:rPr lang="en-GB" sz="2800" dirty="0">
                <a:solidFill>
                  <a:srgbClr val="012851"/>
                </a:solidFill>
              </a:rPr>
            </a:br>
            <a:endParaRPr lang="en-GB" sz="2800" dirty="0">
              <a:solidFill>
                <a:srgbClr val="012851"/>
              </a:solidFill>
            </a:endParaRPr>
          </a:p>
        </p:txBody>
      </p:sp>
      <p:sp>
        <p:nvSpPr>
          <p:cNvPr id="3" name="Romboid 2">
            <a:extLst>
              <a:ext uri="{FF2B5EF4-FFF2-40B4-BE49-F238E27FC236}">
                <a16:creationId xmlns:a16="http://schemas.microsoft.com/office/drawing/2014/main" id="{75640400-2173-7257-70F9-0E59790C55FE}"/>
              </a:ext>
            </a:extLst>
          </p:cNvPr>
          <p:cNvSpPr/>
          <p:nvPr/>
        </p:nvSpPr>
        <p:spPr>
          <a:xfrm>
            <a:off x="5355492" y="1471664"/>
            <a:ext cx="1086196" cy="4370426"/>
          </a:xfrm>
          <a:prstGeom prst="parallelogram">
            <a:avLst>
              <a:gd name="adj" fmla="val 93518"/>
            </a:avLst>
          </a:prstGeom>
          <a:solidFill>
            <a:srgbClr val="00206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7030A0"/>
              </a:solidFill>
            </a:endParaRPr>
          </a:p>
        </p:txBody>
      </p:sp>
      <p:pic>
        <p:nvPicPr>
          <p:cNvPr id="2" name="Kép 1" descr="The Rocq Prover · GitHub">
            <a:extLst>
              <a:ext uri="{FF2B5EF4-FFF2-40B4-BE49-F238E27FC236}">
                <a16:creationId xmlns:a16="http://schemas.microsoft.com/office/drawing/2014/main" id="{119409D8-8DC1-2C75-6A0A-DAF6E9EB3F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1250" y="1532755"/>
            <a:ext cx="921860" cy="921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3052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/>
      <p:bldP spid="3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84D3A9-25E9-4CD3-1696-A4DFEC8EBE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Egyenes összekötő 4">
            <a:extLst>
              <a:ext uri="{FF2B5EF4-FFF2-40B4-BE49-F238E27FC236}">
                <a16:creationId xmlns:a16="http://schemas.microsoft.com/office/drawing/2014/main" id="{955E04FD-F337-56C9-CF64-48024E05D22A}"/>
              </a:ext>
            </a:extLst>
          </p:cNvPr>
          <p:cNvCxnSpPr/>
          <p:nvPr/>
        </p:nvCxnSpPr>
        <p:spPr>
          <a:xfrm>
            <a:off x="757931" y="2416236"/>
            <a:ext cx="10676138" cy="0"/>
          </a:xfrm>
          <a:prstGeom prst="line">
            <a:avLst/>
          </a:prstGeom>
          <a:ln>
            <a:solidFill>
              <a:srgbClr val="0128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zövegdoboz 5">
            <a:extLst>
              <a:ext uri="{FF2B5EF4-FFF2-40B4-BE49-F238E27FC236}">
                <a16:creationId xmlns:a16="http://schemas.microsoft.com/office/drawing/2014/main" id="{42D78AA3-1558-17A5-9099-A960C30AB848}"/>
              </a:ext>
            </a:extLst>
          </p:cNvPr>
          <p:cNvSpPr txBox="1"/>
          <p:nvPr/>
        </p:nvSpPr>
        <p:spPr>
          <a:xfrm>
            <a:off x="757931" y="1769905"/>
            <a:ext cx="59506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3600" dirty="0">
                <a:solidFill>
                  <a:srgbClr val="012851"/>
                </a:solidFill>
                <a:latin typeface="Ubuntu" panose="020B0504030602030204" pitchFamily="34" charset="0"/>
              </a:rPr>
              <a:t>🎯 </a:t>
            </a:r>
            <a:r>
              <a:rPr lang="hu-HU" sz="3600" dirty="0" err="1">
                <a:solidFill>
                  <a:srgbClr val="012851"/>
                </a:solidFill>
                <a:latin typeface="Ubuntu" panose="020B0504030602030204" pitchFamily="34" charset="0"/>
              </a:rPr>
              <a:t>So</a:t>
            </a:r>
            <a:r>
              <a:rPr lang="hu-HU" sz="3600" dirty="0">
                <a:solidFill>
                  <a:srgbClr val="012851"/>
                </a:solidFill>
                <a:latin typeface="Ubuntu" panose="020B0504030602030204" pitchFamily="34" charset="0"/>
              </a:rPr>
              <a:t>, </a:t>
            </a:r>
            <a:r>
              <a:rPr lang="hu-HU" sz="3600" dirty="0" err="1">
                <a:solidFill>
                  <a:srgbClr val="012851"/>
                </a:solidFill>
                <a:latin typeface="Ubuntu" panose="020B0504030602030204" pitchFamily="34" charset="0"/>
              </a:rPr>
              <a:t>goal</a:t>
            </a:r>
            <a:r>
              <a:rPr lang="hu-HU" sz="3600" dirty="0">
                <a:solidFill>
                  <a:srgbClr val="012851"/>
                </a:solidFill>
                <a:latin typeface="Ubuntu" panose="020B0504030602030204" pitchFamily="34" charset="0"/>
              </a:rPr>
              <a:t> </a:t>
            </a:r>
            <a:r>
              <a:rPr lang="hu-HU" sz="3600" dirty="0" err="1">
                <a:solidFill>
                  <a:srgbClr val="012851"/>
                </a:solidFill>
                <a:latin typeface="Ubuntu" panose="020B0504030602030204" pitchFamily="34" charset="0"/>
              </a:rPr>
              <a:t>achieved</a:t>
            </a:r>
            <a:r>
              <a:rPr lang="hu-HU" sz="3600" dirty="0">
                <a:solidFill>
                  <a:srgbClr val="012851"/>
                </a:solidFill>
                <a:latin typeface="Ubuntu" panose="020B0504030602030204" pitchFamily="34" charset="0"/>
              </a:rPr>
              <a:t>, </a:t>
            </a:r>
            <a:r>
              <a:rPr lang="hu-HU" sz="3600" dirty="0" err="1">
                <a:solidFill>
                  <a:srgbClr val="012851"/>
                </a:solidFill>
                <a:latin typeface="Ubuntu" panose="020B0504030602030204" pitchFamily="34" charset="0"/>
              </a:rPr>
              <a:t>right</a:t>
            </a:r>
            <a:r>
              <a:rPr lang="hu-HU" sz="3600" dirty="0">
                <a:solidFill>
                  <a:srgbClr val="012851"/>
                </a:solidFill>
                <a:latin typeface="Ubuntu" panose="020B0504030602030204" pitchFamily="34" charset="0"/>
              </a:rPr>
              <a:t>?</a:t>
            </a:r>
            <a:endParaRPr lang="en-GB" sz="3600" dirty="0">
              <a:solidFill>
                <a:srgbClr val="012851"/>
              </a:solidFill>
              <a:latin typeface="Ubuntu" panose="020B0504030602030204" pitchFamily="34" charset="0"/>
            </a:endParaRPr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51EFC296-D866-8CB1-AA05-DB717D80F356}"/>
              </a:ext>
            </a:extLst>
          </p:cNvPr>
          <p:cNvSpPr txBox="1"/>
          <p:nvPr/>
        </p:nvSpPr>
        <p:spPr>
          <a:xfrm>
            <a:off x="757931" y="2967335"/>
            <a:ext cx="104839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800" dirty="0" err="1">
                <a:solidFill>
                  <a:srgbClr val="012851"/>
                </a:solidFill>
                <a:latin typeface="Ubuntu" panose="020B0504030602030204" pitchFamily="34" charset="0"/>
              </a:rPr>
              <a:t>Sadly</a:t>
            </a:r>
            <a:r>
              <a:rPr lang="hu-HU" sz="2800" dirty="0">
                <a:solidFill>
                  <a:srgbClr val="012851"/>
                </a:solidFill>
                <a:latin typeface="Ubuntu" panose="020B0504030602030204" pitchFamily="34" charset="0"/>
              </a:rPr>
              <a:t>, </a:t>
            </a:r>
            <a:r>
              <a:rPr lang="hu-HU" sz="2800" dirty="0" err="1">
                <a:solidFill>
                  <a:srgbClr val="012851"/>
                </a:solidFill>
                <a:latin typeface="Ubuntu" panose="020B0504030602030204" pitchFamily="34" charset="0"/>
              </a:rPr>
              <a:t>people</a:t>
            </a:r>
            <a:r>
              <a:rPr lang="hu-HU" sz="2800" dirty="0">
                <a:solidFill>
                  <a:srgbClr val="012851"/>
                </a:solidFill>
                <a:latin typeface="Ubuntu" panose="020B0504030602030204" pitchFamily="34" charset="0"/>
              </a:rPr>
              <a:t> </a:t>
            </a:r>
            <a:r>
              <a:rPr lang="hu-HU" sz="2800" dirty="0" err="1">
                <a:solidFill>
                  <a:srgbClr val="012851"/>
                </a:solidFill>
                <a:latin typeface="Ubuntu" panose="020B0504030602030204" pitchFamily="34" charset="0"/>
              </a:rPr>
              <a:t>do</a:t>
            </a:r>
            <a:r>
              <a:rPr lang="hu-HU" sz="2800" dirty="0">
                <a:solidFill>
                  <a:srgbClr val="012851"/>
                </a:solidFill>
                <a:latin typeface="Ubuntu" panose="020B0504030602030204" pitchFamily="34" charset="0"/>
              </a:rPr>
              <a:t> </a:t>
            </a:r>
            <a:r>
              <a:rPr lang="hu-HU" sz="2800" dirty="0" err="1">
                <a:solidFill>
                  <a:srgbClr val="012851"/>
                </a:solidFill>
                <a:latin typeface="Ubuntu" panose="020B0504030602030204" pitchFamily="34" charset="0"/>
              </a:rPr>
              <a:t>not</a:t>
            </a:r>
            <a:r>
              <a:rPr lang="hu-HU" sz="2800" dirty="0">
                <a:solidFill>
                  <a:srgbClr val="012851"/>
                </a:solidFill>
                <a:latin typeface="Ubuntu" panose="020B0504030602030204" pitchFamily="34" charset="0"/>
              </a:rPr>
              <a:t> </a:t>
            </a:r>
            <a:r>
              <a:rPr lang="hu-HU" sz="2800" dirty="0" err="1">
                <a:solidFill>
                  <a:srgbClr val="012851"/>
                </a:solidFill>
                <a:latin typeface="Ubuntu" panose="020B0504030602030204" pitchFamily="34" charset="0"/>
              </a:rPr>
              <a:t>seem</a:t>
            </a:r>
            <a:r>
              <a:rPr lang="hu-HU" sz="2800" dirty="0">
                <a:solidFill>
                  <a:srgbClr val="012851"/>
                </a:solidFill>
                <a:latin typeface="Ubuntu" panose="020B0504030602030204" pitchFamily="34" charset="0"/>
              </a:rPr>
              <a:t> </a:t>
            </a:r>
            <a:r>
              <a:rPr lang="hu-HU" sz="2800" dirty="0" err="1">
                <a:solidFill>
                  <a:srgbClr val="012851"/>
                </a:solidFill>
                <a:latin typeface="Ubuntu" panose="020B0504030602030204" pitchFamily="34" charset="0"/>
              </a:rPr>
              <a:t>to</a:t>
            </a:r>
            <a:r>
              <a:rPr lang="hu-HU" sz="2800" dirty="0">
                <a:solidFill>
                  <a:srgbClr val="012851"/>
                </a:solidFill>
                <a:latin typeface="Ubuntu" panose="020B0504030602030204" pitchFamily="34" charset="0"/>
              </a:rPr>
              <a:t> be </a:t>
            </a:r>
            <a:r>
              <a:rPr lang="hu-HU" sz="2800" dirty="0" err="1">
                <a:solidFill>
                  <a:srgbClr val="012851"/>
                </a:solidFill>
                <a:latin typeface="Ubuntu" panose="020B0504030602030204" pitchFamily="34" charset="0"/>
              </a:rPr>
              <a:t>that</a:t>
            </a:r>
            <a:r>
              <a:rPr lang="hu-HU" sz="2800" dirty="0">
                <a:solidFill>
                  <a:srgbClr val="012851"/>
                </a:solidFill>
                <a:latin typeface="Ubuntu" panose="020B0504030602030204" pitchFamily="34" charset="0"/>
              </a:rPr>
              <a:t> </a:t>
            </a:r>
            <a:r>
              <a:rPr lang="hu-HU" sz="2800" dirty="0" err="1">
                <a:solidFill>
                  <a:srgbClr val="012851"/>
                </a:solidFill>
                <a:latin typeface="Ubuntu" panose="020B0504030602030204" pitchFamily="34" charset="0"/>
              </a:rPr>
              <a:t>interested</a:t>
            </a:r>
            <a:r>
              <a:rPr lang="hu-HU" sz="2800" dirty="0">
                <a:solidFill>
                  <a:srgbClr val="012851"/>
                </a:solidFill>
                <a:latin typeface="Ubuntu" panose="020B0504030602030204" pitchFamily="34" charset="0"/>
              </a:rPr>
              <a:t> in </a:t>
            </a:r>
            <a:r>
              <a:rPr lang="hu-HU" sz="2800" dirty="0" err="1">
                <a:solidFill>
                  <a:srgbClr val="012851"/>
                </a:solidFill>
                <a:latin typeface="Ubuntu" panose="020B0504030602030204" pitchFamily="34" charset="0"/>
              </a:rPr>
              <a:t>refactorings</a:t>
            </a:r>
            <a:r>
              <a:rPr lang="hu-HU" sz="2800" dirty="0">
                <a:solidFill>
                  <a:srgbClr val="012851"/>
                </a:solidFill>
                <a:latin typeface="Ubuntu" panose="020B0504030602030204" pitchFamily="34" charset="0"/>
              </a:rPr>
              <a:t>.</a:t>
            </a:r>
            <a:endParaRPr lang="en-GB" sz="2800" dirty="0">
              <a:solidFill>
                <a:srgbClr val="012851"/>
              </a:solidFill>
              <a:latin typeface="Ubuntu" panose="020B0504030602030204" pitchFamily="34" charset="0"/>
            </a:endParaRPr>
          </a:p>
        </p:txBody>
      </p:sp>
      <p:sp>
        <p:nvSpPr>
          <p:cNvPr id="9" name="Szövegdoboz 8">
            <a:extLst>
              <a:ext uri="{FF2B5EF4-FFF2-40B4-BE49-F238E27FC236}">
                <a16:creationId xmlns:a16="http://schemas.microsoft.com/office/drawing/2014/main" id="{DE2F342B-8636-4621-700D-E2819A3383C1}"/>
              </a:ext>
            </a:extLst>
          </p:cNvPr>
          <p:cNvSpPr txBox="1"/>
          <p:nvPr/>
        </p:nvSpPr>
        <p:spPr>
          <a:xfrm>
            <a:off x="757931" y="4050203"/>
            <a:ext cx="73789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800" dirty="0">
                <a:solidFill>
                  <a:srgbClr val="012851"/>
                </a:solidFill>
                <a:latin typeface="Ubuntu" panose="020B0504030602030204" pitchFamily="34" charset="0"/>
              </a:rPr>
              <a:t>🤔 </a:t>
            </a:r>
            <a:r>
              <a:rPr lang="hu-HU" sz="2800" dirty="0" err="1">
                <a:solidFill>
                  <a:srgbClr val="012851"/>
                </a:solidFill>
                <a:latin typeface="Ubuntu" panose="020B0504030602030204" pitchFamily="34" charset="0"/>
              </a:rPr>
              <a:t>What</a:t>
            </a:r>
            <a:r>
              <a:rPr lang="hu-HU" sz="2800" dirty="0">
                <a:solidFill>
                  <a:srgbClr val="012851"/>
                </a:solidFill>
                <a:latin typeface="Ubuntu" panose="020B0504030602030204" pitchFamily="34" charset="0"/>
              </a:rPr>
              <a:t> </a:t>
            </a:r>
            <a:r>
              <a:rPr lang="hu-HU" sz="2800" dirty="0" err="1">
                <a:solidFill>
                  <a:srgbClr val="012851"/>
                </a:solidFill>
                <a:latin typeface="Ubuntu" panose="020B0504030602030204" pitchFamily="34" charset="0"/>
              </a:rPr>
              <a:t>else</a:t>
            </a:r>
            <a:r>
              <a:rPr lang="hu-HU" sz="2800" dirty="0">
                <a:solidFill>
                  <a:srgbClr val="012851"/>
                </a:solidFill>
                <a:latin typeface="Ubuntu" panose="020B0504030602030204" pitchFamily="34" charset="0"/>
              </a:rPr>
              <a:t> </a:t>
            </a:r>
            <a:r>
              <a:rPr lang="hu-HU" sz="2800" dirty="0" err="1">
                <a:solidFill>
                  <a:srgbClr val="012851"/>
                </a:solidFill>
                <a:latin typeface="Ubuntu" panose="020B0504030602030204" pitchFamily="34" charset="0"/>
              </a:rPr>
              <a:t>can</a:t>
            </a:r>
            <a:r>
              <a:rPr lang="hu-HU" sz="2800" dirty="0">
                <a:solidFill>
                  <a:srgbClr val="012851"/>
                </a:solidFill>
                <a:latin typeface="Ubuntu" panose="020B0504030602030204" pitchFamily="34" charset="0"/>
              </a:rPr>
              <a:t> </a:t>
            </a:r>
            <a:r>
              <a:rPr lang="hu-HU" sz="2800" dirty="0" err="1">
                <a:solidFill>
                  <a:srgbClr val="012851"/>
                </a:solidFill>
                <a:latin typeface="Ubuntu" panose="020B0504030602030204" pitchFamily="34" charset="0"/>
              </a:rPr>
              <a:t>we</a:t>
            </a:r>
            <a:r>
              <a:rPr lang="hu-HU" sz="2800" dirty="0">
                <a:solidFill>
                  <a:srgbClr val="012851"/>
                </a:solidFill>
                <a:latin typeface="Ubuntu" panose="020B0504030602030204" pitchFamily="34" charset="0"/>
              </a:rPr>
              <a:t> </a:t>
            </a:r>
            <a:r>
              <a:rPr lang="hu-HU" sz="2800" dirty="0" err="1">
                <a:solidFill>
                  <a:srgbClr val="012851"/>
                </a:solidFill>
                <a:latin typeface="Ubuntu" panose="020B0504030602030204" pitchFamily="34" charset="0"/>
              </a:rPr>
              <a:t>do</a:t>
            </a:r>
            <a:r>
              <a:rPr lang="hu-HU" sz="2800" dirty="0">
                <a:solidFill>
                  <a:srgbClr val="012851"/>
                </a:solidFill>
                <a:latin typeface="Ubuntu" panose="020B0504030602030204" pitchFamily="34" charset="0"/>
              </a:rPr>
              <a:t> </a:t>
            </a:r>
            <a:r>
              <a:rPr lang="hu-HU" sz="2800" dirty="0" err="1">
                <a:solidFill>
                  <a:srgbClr val="012851"/>
                </a:solidFill>
                <a:latin typeface="Ubuntu" panose="020B0504030602030204" pitchFamily="34" charset="0"/>
              </a:rPr>
              <a:t>with</a:t>
            </a:r>
            <a:r>
              <a:rPr lang="hu-HU" sz="2800" dirty="0">
                <a:solidFill>
                  <a:srgbClr val="012851"/>
                </a:solidFill>
                <a:latin typeface="Ubuntu" panose="020B0504030602030204" pitchFamily="34" charset="0"/>
              </a:rPr>
              <a:t> </a:t>
            </a:r>
            <a:r>
              <a:rPr lang="hu-HU" sz="2800" dirty="0" err="1">
                <a:solidFill>
                  <a:srgbClr val="012851"/>
                </a:solidFill>
                <a:latin typeface="Ubuntu" panose="020B0504030602030204" pitchFamily="34" charset="0"/>
              </a:rPr>
              <a:t>the</a:t>
            </a:r>
            <a:r>
              <a:rPr lang="hu-HU" sz="2800" dirty="0">
                <a:solidFill>
                  <a:srgbClr val="012851"/>
                </a:solidFill>
                <a:latin typeface="Ubuntu" panose="020B0504030602030204" pitchFamily="34" charset="0"/>
              </a:rPr>
              <a:t> </a:t>
            </a:r>
            <a:r>
              <a:rPr lang="hu-HU" sz="2800" dirty="0" err="1">
                <a:solidFill>
                  <a:srgbClr val="012851"/>
                </a:solidFill>
                <a:latin typeface="Ubuntu" panose="020B0504030602030204" pitchFamily="34" charset="0"/>
              </a:rPr>
              <a:t>semantics</a:t>
            </a:r>
            <a:r>
              <a:rPr lang="hu-HU" sz="2800" dirty="0">
                <a:solidFill>
                  <a:srgbClr val="012851"/>
                </a:solidFill>
                <a:latin typeface="Ubuntu" panose="020B0504030602030204" pitchFamily="34" charset="0"/>
              </a:rPr>
              <a:t>?</a:t>
            </a:r>
            <a:endParaRPr lang="en-GB" sz="2800" dirty="0">
              <a:solidFill>
                <a:srgbClr val="012851"/>
              </a:solidFill>
              <a:latin typeface="Ubuntu" panose="020B05040306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59468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FE85B6-E623-2786-22E7-7EFE94DFCC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zövegdoboz 2">
            <a:extLst>
              <a:ext uri="{FF2B5EF4-FFF2-40B4-BE49-F238E27FC236}">
                <a16:creationId xmlns:a16="http://schemas.microsoft.com/office/drawing/2014/main" id="{2C03E1E9-141B-48A4-94DC-BBDB487E7FB3}"/>
              </a:ext>
            </a:extLst>
          </p:cNvPr>
          <p:cNvSpPr txBox="1"/>
          <p:nvPr/>
        </p:nvSpPr>
        <p:spPr>
          <a:xfrm>
            <a:off x="838200" y="399495"/>
            <a:ext cx="10515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noProof="0" dirty="0">
                <a:solidFill>
                  <a:srgbClr val="01285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Program equivalence</a:t>
            </a:r>
            <a:r>
              <a:rPr lang="hu-HU" sz="3600" noProof="0" dirty="0">
                <a:solidFill>
                  <a:srgbClr val="01285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– constant </a:t>
            </a:r>
            <a:r>
              <a:rPr lang="hu-HU" sz="3600" noProof="0" dirty="0" err="1">
                <a:solidFill>
                  <a:srgbClr val="01285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folding</a:t>
            </a:r>
            <a:endParaRPr lang="en-GB" sz="3600" noProof="0" dirty="0">
              <a:solidFill>
                <a:srgbClr val="012851"/>
              </a:solidFill>
              <a:latin typeface="Ubuntu" panose="020B050403060203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6" name="Egyenes összekötő 5">
            <a:extLst>
              <a:ext uri="{FF2B5EF4-FFF2-40B4-BE49-F238E27FC236}">
                <a16:creationId xmlns:a16="http://schemas.microsoft.com/office/drawing/2014/main" id="{7C61E3A3-7533-E15B-EC52-2207882C0DD1}"/>
              </a:ext>
            </a:extLst>
          </p:cNvPr>
          <p:cNvCxnSpPr/>
          <p:nvPr/>
        </p:nvCxnSpPr>
        <p:spPr>
          <a:xfrm>
            <a:off x="838200" y="1145220"/>
            <a:ext cx="10676138" cy="0"/>
          </a:xfrm>
          <a:prstGeom prst="line">
            <a:avLst/>
          </a:prstGeom>
          <a:ln>
            <a:solidFill>
              <a:srgbClr val="0128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Google Shape;735;p97">
            <a:extLst>
              <a:ext uri="{FF2B5EF4-FFF2-40B4-BE49-F238E27FC236}">
                <a16:creationId xmlns:a16="http://schemas.microsoft.com/office/drawing/2014/main" id="{F04BD357-8BB6-BE73-2D58-670A5132696C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64655" y="1992253"/>
            <a:ext cx="7002644" cy="38209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736;p97">
            <a:extLst>
              <a:ext uri="{FF2B5EF4-FFF2-40B4-BE49-F238E27FC236}">
                <a16:creationId xmlns:a16="http://schemas.microsoft.com/office/drawing/2014/main" id="{6B89856B-9537-4BA0-2238-C2CA4B43C2A5}"/>
              </a:ext>
            </a:extLst>
          </p:cNvPr>
          <p:cNvSpPr/>
          <p:nvPr/>
        </p:nvSpPr>
        <p:spPr>
          <a:xfrm>
            <a:off x="2413030" y="3648445"/>
            <a:ext cx="7124700" cy="2583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Ubuntu" panose="020B0504030602030204" pitchFamily="34" charset="0"/>
              <a:ea typeface="Ubuntu Light"/>
              <a:cs typeface="Ubuntu Light"/>
              <a:sym typeface="Ubuntu Light"/>
            </a:endParaRPr>
          </a:p>
        </p:txBody>
      </p:sp>
    </p:spTree>
    <p:extLst>
      <p:ext uri="{BB962C8B-B14F-4D97-AF65-F5344CB8AC3E}">
        <p14:creationId xmlns:p14="http://schemas.microsoft.com/office/powerpoint/2010/main" val="23975843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1">
          <a:extLst>
            <a:ext uri="{FF2B5EF4-FFF2-40B4-BE49-F238E27FC236}">
              <a16:creationId xmlns:a16="http://schemas.microsoft.com/office/drawing/2014/main" id="{6994CE32-B1DD-56F1-DC34-E3633C47D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100">
            <a:extLst>
              <a:ext uri="{FF2B5EF4-FFF2-40B4-BE49-F238E27FC236}">
                <a16:creationId xmlns:a16="http://schemas.microsoft.com/office/drawing/2014/main" id="{68F94F47-6875-9AA2-77C6-09E3EF460620}"/>
              </a:ext>
            </a:extLst>
          </p:cNvPr>
          <p:cNvSpPr/>
          <p:nvPr/>
        </p:nvSpPr>
        <p:spPr>
          <a:xfrm>
            <a:off x="1983100" y="87133"/>
            <a:ext cx="8489600" cy="4532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hu" dirty="0"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  <a:sym typeface="Ubuntu Light"/>
              </a:rPr>
              <a:t>https://github.com/erlang/otp/blob/master/lib/compiler/src/sys_core_fold.erl</a:t>
            </a:r>
            <a:endParaRPr dirty="0">
              <a:latin typeface="Ubuntu" panose="020B0504030602030204" pitchFamily="34" charset="0"/>
              <a:ea typeface="Open Sans" panose="020B0606030504020204" pitchFamily="34" charset="0"/>
              <a:cs typeface="Open Sans" panose="020B0606030504020204" pitchFamily="34" charset="0"/>
              <a:sym typeface="Ubuntu Light"/>
            </a:endParaRPr>
          </a:p>
        </p:txBody>
      </p:sp>
      <p:pic>
        <p:nvPicPr>
          <p:cNvPr id="763" name="Google Shape;763;p100">
            <a:extLst>
              <a:ext uri="{FF2B5EF4-FFF2-40B4-BE49-F238E27FC236}">
                <a16:creationId xmlns:a16="http://schemas.microsoft.com/office/drawing/2014/main" id="{5A78596F-392E-F2F3-88AE-C795F009A82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83101" y="634733"/>
            <a:ext cx="8489639" cy="6159800"/>
          </a:xfrm>
          <a:prstGeom prst="rect">
            <a:avLst/>
          </a:prstGeom>
          <a:noFill/>
          <a:ln>
            <a:noFill/>
          </a:ln>
        </p:spPr>
      </p:pic>
      <p:sp>
        <p:nvSpPr>
          <p:cNvPr id="765" name="Google Shape;765;p100">
            <a:extLst>
              <a:ext uri="{FF2B5EF4-FFF2-40B4-BE49-F238E27FC236}">
                <a16:creationId xmlns:a16="http://schemas.microsoft.com/office/drawing/2014/main" id="{5C59D840-CD7A-FFF8-D451-F08839EF2CE3}"/>
              </a:ext>
            </a:extLst>
          </p:cNvPr>
          <p:cNvSpPr/>
          <p:nvPr/>
        </p:nvSpPr>
        <p:spPr>
          <a:xfrm>
            <a:off x="1966067" y="635100"/>
            <a:ext cx="8506800" cy="6160000"/>
          </a:xfrm>
          <a:prstGeom prst="roundRect">
            <a:avLst>
              <a:gd name="adj" fmla="val 103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>
              <a:latin typeface="Ubuntu" panose="020B0504030602030204" pitchFamily="34" charset="0"/>
              <a:ea typeface="Ubuntu Light"/>
              <a:cs typeface="Ubuntu Light"/>
              <a:sym typeface="Ubuntu Light"/>
            </a:endParaRPr>
          </a:p>
        </p:txBody>
      </p:sp>
      <p:sp>
        <p:nvSpPr>
          <p:cNvPr id="7" name="Google Shape;841;p108">
            <a:extLst>
              <a:ext uri="{FF2B5EF4-FFF2-40B4-BE49-F238E27FC236}">
                <a16:creationId xmlns:a16="http://schemas.microsoft.com/office/drawing/2014/main" id="{10AE33E5-8A00-B105-CB77-4D5F2F683CBA}"/>
              </a:ext>
            </a:extLst>
          </p:cNvPr>
          <p:cNvSpPr txBox="1"/>
          <p:nvPr/>
        </p:nvSpPr>
        <p:spPr>
          <a:xfrm>
            <a:off x="4657544" y="3858673"/>
            <a:ext cx="4863725" cy="1800375"/>
          </a:xfrm>
          <a:prstGeom prst="rect">
            <a:avLst/>
          </a:prstGeom>
          <a:solidFill>
            <a:schemeClr val="bg1">
              <a:alpha val="58824"/>
            </a:schemeClr>
          </a:solidFill>
          <a:ln w="9525" cap="flat" cmpd="sng">
            <a:solidFill>
              <a:schemeClr val="dk1"/>
            </a:solidFill>
            <a:prstDash val="dashDot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 sz="1800" b="1" dirty="0">
                <a:solidFill>
                  <a:schemeClr val="dk2"/>
                </a:solidFill>
                <a:latin typeface="Ubuntu" panose="020B0504030602030204" pitchFamily="34" charset="0"/>
                <a:ea typeface="Ubuntu"/>
                <a:cs typeface="Ubuntu"/>
                <a:sym typeface="Ubuntu"/>
              </a:rPr>
              <a:t>Not formalised yet</a:t>
            </a:r>
            <a:endParaRPr sz="1800" b="1" dirty="0">
              <a:solidFill>
                <a:schemeClr val="dk2"/>
              </a:solidFill>
              <a:latin typeface="Ubuntu" panose="020B0504030602030204" pitchFamily="34" charset="0"/>
              <a:ea typeface="Ubuntu"/>
              <a:cs typeface="Ubuntu"/>
              <a:sym typeface="Ubuntu"/>
            </a:endParaRPr>
          </a:p>
        </p:txBody>
      </p:sp>
    </p:spTree>
    <p:extLst>
      <p:ext uri="{BB962C8B-B14F-4D97-AF65-F5344CB8AC3E}">
        <p14:creationId xmlns:p14="http://schemas.microsoft.com/office/powerpoint/2010/main" val="232758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36B43B-E402-BA6C-A554-648154B2A8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zövegdoboz 2">
            <a:extLst>
              <a:ext uri="{FF2B5EF4-FFF2-40B4-BE49-F238E27FC236}">
                <a16:creationId xmlns:a16="http://schemas.microsoft.com/office/drawing/2014/main" id="{A6AFDAB6-FF02-738A-FE3D-BC74A7ABECE8}"/>
              </a:ext>
            </a:extLst>
          </p:cNvPr>
          <p:cNvSpPr txBox="1"/>
          <p:nvPr/>
        </p:nvSpPr>
        <p:spPr>
          <a:xfrm>
            <a:off x="838200" y="399495"/>
            <a:ext cx="10515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600" noProof="0" dirty="0" err="1">
                <a:solidFill>
                  <a:srgbClr val="01285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Reference</a:t>
            </a:r>
            <a:r>
              <a:rPr lang="hu-HU" sz="3600" noProof="0" dirty="0">
                <a:solidFill>
                  <a:srgbClr val="01285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hu-HU" sz="3600" noProof="0" dirty="0" err="1">
                <a:solidFill>
                  <a:srgbClr val="01285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interpreter</a:t>
            </a:r>
            <a:endParaRPr lang="en-GB" sz="3600" noProof="0" dirty="0">
              <a:solidFill>
                <a:srgbClr val="012851"/>
              </a:solidFill>
              <a:latin typeface="Ubuntu" panose="020B050403060203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6" name="Egyenes összekötő 5">
            <a:extLst>
              <a:ext uri="{FF2B5EF4-FFF2-40B4-BE49-F238E27FC236}">
                <a16:creationId xmlns:a16="http://schemas.microsoft.com/office/drawing/2014/main" id="{FA8BDF7E-4FEA-711D-4D61-E5AA818140FC}"/>
              </a:ext>
            </a:extLst>
          </p:cNvPr>
          <p:cNvCxnSpPr/>
          <p:nvPr/>
        </p:nvCxnSpPr>
        <p:spPr>
          <a:xfrm>
            <a:off x="838200" y="1145220"/>
            <a:ext cx="10676138" cy="0"/>
          </a:xfrm>
          <a:prstGeom prst="line">
            <a:avLst/>
          </a:prstGeom>
          <a:ln>
            <a:solidFill>
              <a:srgbClr val="0128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2">
            <a:extLst>
              <a:ext uri="{FF2B5EF4-FFF2-40B4-BE49-F238E27FC236}">
                <a16:creationId xmlns:a16="http://schemas.microsoft.com/office/drawing/2014/main" id="{BD352F3A-5934-5448-8758-AF6DBBD8D095}"/>
              </a:ext>
            </a:extLst>
          </p:cNvPr>
          <p:cNvSpPr/>
          <p:nvPr/>
        </p:nvSpPr>
        <p:spPr>
          <a:xfrm>
            <a:off x="1917874" y="1881854"/>
            <a:ext cx="5755527" cy="657135"/>
          </a:xfrm>
          <a:prstGeom prst="roundRect">
            <a:avLst/>
          </a:prstGeom>
          <a:solidFill>
            <a:srgbClr val="FFF8D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1400" dirty="0">
              <a:latin typeface="Ubuntu" panose="020B050403060203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" name="Rounded Rectangle 5">
            <a:extLst>
              <a:ext uri="{FF2B5EF4-FFF2-40B4-BE49-F238E27FC236}">
                <a16:creationId xmlns:a16="http://schemas.microsoft.com/office/drawing/2014/main" id="{EF8A5B50-77E3-39CB-575E-C209C12DDB7C}"/>
              </a:ext>
            </a:extLst>
          </p:cNvPr>
          <p:cNvSpPr/>
          <p:nvPr/>
        </p:nvSpPr>
        <p:spPr>
          <a:xfrm>
            <a:off x="1675606" y="2860388"/>
            <a:ext cx="6315093" cy="1976626"/>
          </a:xfrm>
          <a:prstGeom prst="roundRect">
            <a:avLst/>
          </a:prstGeom>
          <a:solidFill>
            <a:srgbClr val="FFF8D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1400">
              <a:latin typeface="Ubuntu" panose="020B050403060203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C35BFB86-49B6-765B-E442-21086E702F1E}"/>
              </a:ext>
            </a:extLst>
          </p:cNvPr>
          <p:cNvSpPr/>
          <p:nvPr/>
        </p:nvSpPr>
        <p:spPr>
          <a:xfrm>
            <a:off x="8554246" y="2371483"/>
            <a:ext cx="1125838" cy="901951"/>
          </a:xfrm>
          <a:prstGeom prst="rect">
            <a:avLst/>
          </a:prstGeom>
          <a:solidFill>
            <a:srgbClr val="5E508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Scheduler</a:t>
            </a: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240634AC-C4E3-5264-C69D-8601FB19D676}"/>
              </a:ext>
            </a:extLst>
          </p:cNvPr>
          <p:cNvSpPr/>
          <p:nvPr/>
        </p:nvSpPr>
        <p:spPr>
          <a:xfrm>
            <a:off x="8554246" y="3607526"/>
            <a:ext cx="1109734" cy="901951"/>
          </a:xfrm>
          <a:prstGeom prst="rect">
            <a:avLst/>
          </a:prstGeom>
          <a:solidFill>
            <a:srgbClr val="5E508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Extracted semantics</a:t>
            </a:r>
          </a:p>
        </p:txBody>
      </p:sp>
      <p:sp>
        <p:nvSpPr>
          <p:cNvPr id="11" name="Rectangle 8">
            <a:extLst>
              <a:ext uri="{FF2B5EF4-FFF2-40B4-BE49-F238E27FC236}">
                <a16:creationId xmlns:a16="http://schemas.microsoft.com/office/drawing/2014/main" id="{2304C938-FC23-3206-A185-96F371174B4F}"/>
              </a:ext>
            </a:extLst>
          </p:cNvPr>
          <p:cNvSpPr/>
          <p:nvPr/>
        </p:nvSpPr>
        <p:spPr>
          <a:xfrm>
            <a:off x="8554247" y="4998187"/>
            <a:ext cx="1125837" cy="901951"/>
          </a:xfrm>
          <a:prstGeom prst="rect">
            <a:avLst/>
          </a:prstGeom>
          <a:solidFill>
            <a:srgbClr val="5E508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Extracted Erlang code</a:t>
            </a:r>
          </a:p>
        </p:txBody>
      </p:sp>
      <p:sp>
        <p:nvSpPr>
          <p:cNvPr id="12" name="Rectangle 9">
            <a:extLst>
              <a:ext uri="{FF2B5EF4-FFF2-40B4-BE49-F238E27FC236}">
                <a16:creationId xmlns:a16="http://schemas.microsoft.com/office/drawing/2014/main" id="{8B312A71-3E0E-6EA3-0E89-8FA1BDC9C87C}"/>
              </a:ext>
            </a:extLst>
          </p:cNvPr>
          <p:cNvSpPr/>
          <p:nvPr/>
        </p:nvSpPr>
        <p:spPr>
          <a:xfrm>
            <a:off x="10227527" y="2371482"/>
            <a:ext cx="1222012" cy="2137995"/>
          </a:xfrm>
          <a:prstGeom prst="rect">
            <a:avLst/>
          </a:prstGeom>
          <a:solidFill>
            <a:srgbClr val="5E508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Interpreter</a:t>
            </a:r>
          </a:p>
        </p:txBody>
      </p:sp>
      <p:sp>
        <p:nvSpPr>
          <p:cNvPr id="13" name="Oval 10">
            <a:extLst>
              <a:ext uri="{FF2B5EF4-FFF2-40B4-BE49-F238E27FC236}">
                <a16:creationId xmlns:a16="http://schemas.microsoft.com/office/drawing/2014/main" id="{4E3BCACD-8C8C-4E72-4957-7B743F4E71B9}"/>
              </a:ext>
            </a:extLst>
          </p:cNvPr>
          <p:cNvSpPr/>
          <p:nvPr/>
        </p:nvSpPr>
        <p:spPr>
          <a:xfrm>
            <a:off x="1917874" y="5152809"/>
            <a:ext cx="1856246" cy="592711"/>
          </a:xfrm>
          <a:prstGeom prst="ellipse">
            <a:avLst/>
          </a:prstGeom>
          <a:solidFill>
            <a:srgbClr val="A9053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program.erl</a:t>
            </a:r>
          </a:p>
        </p:txBody>
      </p:sp>
      <p:sp>
        <p:nvSpPr>
          <p:cNvPr id="14" name="Oval 11">
            <a:extLst>
              <a:ext uri="{FF2B5EF4-FFF2-40B4-BE49-F238E27FC236}">
                <a16:creationId xmlns:a16="http://schemas.microsoft.com/office/drawing/2014/main" id="{4144B1B3-3014-5519-7DFF-0813AF11FA5A}"/>
              </a:ext>
            </a:extLst>
          </p:cNvPr>
          <p:cNvSpPr/>
          <p:nvPr/>
        </p:nvSpPr>
        <p:spPr>
          <a:xfrm>
            <a:off x="5892184" y="5152808"/>
            <a:ext cx="1781217" cy="592711"/>
          </a:xfrm>
          <a:prstGeom prst="ellipse">
            <a:avLst/>
          </a:prstGeom>
          <a:solidFill>
            <a:srgbClr val="FFF8D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solidFill>
                  <a:schemeClr val="tx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program.v</a:t>
            </a:r>
          </a:p>
        </p:txBody>
      </p:sp>
      <p:sp>
        <p:nvSpPr>
          <p:cNvPr id="15" name="Rectangle 12">
            <a:extLst>
              <a:ext uri="{FF2B5EF4-FFF2-40B4-BE49-F238E27FC236}">
                <a16:creationId xmlns:a16="http://schemas.microsoft.com/office/drawing/2014/main" id="{0AC43B27-BB96-55E0-EF08-3999193EDF06}"/>
              </a:ext>
            </a:extLst>
          </p:cNvPr>
          <p:cNvSpPr/>
          <p:nvPr/>
        </p:nvSpPr>
        <p:spPr>
          <a:xfrm>
            <a:off x="4178973" y="5162048"/>
            <a:ext cx="1308358" cy="587603"/>
          </a:xfrm>
          <a:prstGeom prst="rect">
            <a:avLst/>
          </a:prstGeom>
          <a:solidFill>
            <a:srgbClr val="A9053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Pretty printer</a:t>
            </a:r>
          </a:p>
        </p:txBody>
      </p:sp>
      <p:sp>
        <p:nvSpPr>
          <p:cNvPr id="16" name="Rectangle 17">
            <a:extLst>
              <a:ext uri="{FF2B5EF4-FFF2-40B4-BE49-F238E27FC236}">
                <a16:creationId xmlns:a16="http://schemas.microsoft.com/office/drawing/2014/main" id="{963B2B16-B449-7C10-A735-C37523FCABC0}"/>
              </a:ext>
            </a:extLst>
          </p:cNvPr>
          <p:cNvSpPr/>
          <p:nvPr/>
        </p:nvSpPr>
        <p:spPr>
          <a:xfrm>
            <a:off x="2276409" y="2039273"/>
            <a:ext cx="1224495" cy="323273"/>
          </a:xfrm>
          <a:prstGeom prst="rect">
            <a:avLst/>
          </a:prstGeom>
          <a:solidFill>
            <a:srgbClr val="FFF8D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solidFill>
                  <a:schemeClr val="tx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Sequential</a:t>
            </a:r>
          </a:p>
        </p:txBody>
      </p:sp>
      <p:sp>
        <p:nvSpPr>
          <p:cNvPr id="17" name="Rectangle 18">
            <a:extLst>
              <a:ext uri="{FF2B5EF4-FFF2-40B4-BE49-F238E27FC236}">
                <a16:creationId xmlns:a16="http://schemas.microsoft.com/office/drawing/2014/main" id="{CAEE83B2-D525-415D-8414-7A9E36E835FC}"/>
              </a:ext>
            </a:extLst>
          </p:cNvPr>
          <p:cNvSpPr/>
          <p:nvPr/>
        </p:nvSpPr>
        <p:spPr>
          <a:xfrm>
            <a:off x="4064451" y="2039273"/>
            <a:ext cx="1376560" cy="323273"/>
          </a:xfrm>
          <a:prstGeom prst="rect">
            <a:avLst/>
          </a:prstGeom>
          <a:solidFill>
            <a:srgbClr val="FFF8D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solidFill>
                  <a:schemeClr val="tx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Process-local</a:t>
            </a:r>
          </a:p>
        </p:txBody>
      </p:sp>
      <p:sp>
        <p:nvSpPr>
          <p:cNvPr id="18" name="Rectangle 19">
            <a:extLst>
              <a:ext uri="{FF2B5EF4-FFF2-40B4-BE49-F238E27FC236}">
                <a16:creationId xmlns:a16="http://schemas.microsoft.com/office/drawing/2014/main" id="{0030DB15-0CB1-B440-0224-8113D49916DB}"/>
              </a:ext>
            </a:extLst>
          </p:cNvPr>
          <p:cNvSpPr/>
          <p:nvPr/>
        </p:nvSpPr>
        <p:spPr>
          <a:xfrm>
            <a:off x="6004559" y="2039273"/>
            <a:ext cx="1376560" cy="323273"/>
          </a:xfrm>
          <a:prstGeom prst="rect">
            <a:avLst/>
          </a:prstGeom>
          <a:solidFill>
            <a:srgbClr val="FFF8D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solidFill>
                  <a:schemeClr val="tx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Inter-process</a:t>
            </a:r>
          </a:p>
        </p:txBody>
      </p:sp>
      <p:sp>
        <p:nvSpPr>
          <p:cNvPr id="19" name="Rectangle 20">
            <a:extLst>
              <a:ext uri="{FF2B5EF4-FFF2-40B4-BE49-F238E27FC236}">
                <a16:creationId xmlns:a16="http://schemas.microsoft.com/office/drawing/2014/main" id="{15DA1703-CD1F-C037-EB26-48EDC3D1C643}"/>
              </a:ext>
            </a:extLst>
          </p:cNvPr>
          <p:cNvSpPr/>
          <p:nvPr/>
        </p:nvSpPr>
        <p:spPr>
          <a:xfrm>
            <a:off x="2276409" y="3046342"/>
            <a:ext cx="1224496" cy="553000"/>
          </a:xfrm>
          <a:prstGeom prst="rect">
            <a:avLst/>
          </a:prstGeom>
          <a:solidFill>
            <a:srgbClr val="FFF8D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i="1" dirty="0">
                <a:solidFill>
                  <a:schemeClr val="tx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Sequential</a:t>
            </a:r>
          </a:p>
          <a:p>
            <a:pPr algn="ctr"/>
            <a:r>
              <a:rPr lang="hu-HU" sz="1400" i="1" dirty="0" err="1">
                <a:solidFill>
                  <a:schemeClr val="tx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step</a:t>
            </a:r>
            <a:r>
              <a:rPr lang="hu-HU" sz="1400" i="1" dirty="0">
                <a:solidFill>
                  <a:schemeClr val="tx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hu-HU" sz="1400" i="1" dirty="0" err="1">
                <a:solidFill>
                  <a:schemeClr val="tx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function</a:t>
            </a:r>
            <a:endParaRPr lang="hu-HU" sz="1400" i="1" dirty="0">
              <a:solidFill>
                <a:schemeClr val="tx1"/>
              </a:solidFill>
              <a:latin typeface="Ubuntu" panose="020B050403060203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0" name="Rectangle 21">
            <a:extLst>
              <a:ext uri="{FF2B5EF4-FFF2-40B4-BE49-F238E27FC236}">
                <a16:creationId xmlns:a16="http://schemas.microsoft.com/office/drawing/2014/main" id="{E826F4C2-F6D3-2E78-9E37-B86DB15CA8FD}"/>
              </a:ext>
            </a:extLst>
          </p:cNvPr>
          <p:cNvSpPr/>
          <p:nvPr/>
        </p:nvSpPr>
        <p:spPr>
          <a:xfrm>
            <a:off x="4064451" y="3046342"/>
            <a:ext cx="1376560" cy="553000"/>
          </a:xfrm>
          <a:prstGeom prst="rect">
            <a:avLst/>
          </a:prstGeom>
          <a:solidFill>
            <a:srgbClr val="FFF8D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i="1" dirty="0">
                <a:solidFill>
                  <a:schemeClr val="tx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Process-local</a:t>
            </a:r>
          </a:p>
          <a:p>
            <a:pPr algn="ctr"/>
            <a:r>
              <a:rPr lang="hu-HU" sz="1400" i="1" dirty="0" err="1">
                <a:solidFill>
                  <a:schemeClr val="tx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step</a:t>
            </a:r>
            <a:r>
              <a:rPr lang="hu-HU" sz="1400" i="1" dirty="0">
                <a:solidFill>
                  <a:schemeClr val="tx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hu-HU" sz="1400" i="1" dirty="0" err="1">
                <a:solidFill>
                  <a:schemeClr val="tx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function</a:t>
            </a:r>
            <a:endParaRPr lang="hu-HU" sz="1400" i="1" dirty="0">
              <a:solidFill>
                <a:schemeClr val="tx1"/>
              </a:solidFill>
              <a:latin typeface="Ubuntu" panose="020B050403060203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1" name="Rectangle 22">
            <a:extLst>
              <a:ext uri="{FF2B5EF4-FFF2-40B4-BE49-F238E27FC236}">
                <a16:creationId xmlns:a16="http://schemas.microsoft.com/office/drawing/2014/main" id="{67E76B65-486B-C6F3-F6FD-050C29D8D26B}"/>
              </a:ext>
            </a:extLst>
          </p:cNvPr>
          <p:cNvSpPr/>
          <p:nvPr/>
        </p:nvSpPr>
        <p:spPr>
          <a:xfrm>
            <a:off x="6004559" y="3046342"/>
            <a:ext cx="1376560" cy="553000"/>
          </a:xfrm>
          <a:prstGeom prst="rect">
            <a:avLst/>
          </a:prstGeom>
          <a:solidFill>
            <a:srgbClr val="FFF8D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i="1" dirty="0">
                <a:solidFill>
                  <a:schemeClr val="tx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Inter-process</a:t>
            </a:r>
          </a:p>
          <a:p>
            <a:pPr algn="ctr"/>
            <a:r>
              <a:rPr lang="hu-HU" sz="1400" i="1" dirty="0" err="1">
                <a:solidFill>
                  <a:schemeClr val="tx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step</a:t>
            </a:r>
            <a:r>
              <a:rPr lang="hu-HU" sz="1400" i="1" dirty="0">
                <a:solidFill>
                  <a:schemeClr val="tx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hu-HU" sz="1400" i="1" dirty="0" err="1">
                <a:solidFill>
                  <a:schemeClr val="tx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function</a:t>
            </a:r>
            <a:endParaRPr lang="hu-HU" sz="1400" i="1" dirty="0">
              <a:solidFill>
                <a:schemeClr val="tx1"/>
              </a:solidFill>
              <a:latin typeface="Ubuntu" panose="020B050403060203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2" name="Rectangle 23">
            <a:extLst>
              <a:ext uri="{FF2B5EF4-FFF2-40B4-BE49-F238E27FC236}">
                <a16:creationId xmlns:a16="http://schemas.microsoft.com/office/drawing/2014/main" id="{A6BBBB7B-A787-B54C-9C8E-6D83FBF458F9}"/>
              </a:ext>
            </a:extLst>
          </p:cNvPr>
          <p:cNvSpPr/>
          <p:nvPr/>
        </p:nvSpPr>
        <p:spPr>
          <a:xfrm>
            <a:off x="6004559" y="3996768"/>
            <a:ext cx="1376560" cy="553000"/>
          </a:xfrm>
          <a:prstGeom prst="rect">
            <a:avLst/>
          </a:prstGeom>
          <a:solidFill>
            <a:srgbClr val="FFF8D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i="1" dirty="0" err="1">
                <a:solidFill>
                  <a:schemeClr val="tx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Node</a:t>
            </a:r>
            <a:r>
              <a:rPr lang="hu-HU" sz="1400" i="1" dirty="0">
                <a:solidFill>
                  <a:schemeClr val="tx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hu-HU" sz="1400" i="1" dirty="0" err="1">
                <a:solidFill>
                  <a:schemeClr val="tx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simple</a:t>
            </a:r>
            <a:endParaRPr lang="hu-HU" sz="1400" i="1" dirty="0">
              <a:solidFill>
                <a:schemeClr val="tx1"/>
              </a:solidFill>
              <a:latin typeface="Ubuntu" panose="020B050403060203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/>
            <a:r>
              <a:rPr lang="hu-HU" sz="1400" i="1" dirty="0" err="1">
                <a:solidFill>
                  <a:schemeClr val="tx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step</a:t>
            </a:r>
            <a:r>
              <a:rPr lang="hu-HU" sz="1400" i="1" dirty="0">
                <a:solidFill>
                  <a:schemeClr val="tx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hu-HU" sz="1400" i="1" dirty="0" err="1">
                <a:solidFill>
                  <a:schemeClr val="tx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function</a:t>
            </a:r>
            <a:endParaRPr lang="hu-HU" sz="1400" i="1" dirty="0">
              <a:solidFill>
                <a:schemeClr val="tx1"/>
              </a:solidFill>
              <a:latin typeface="Ubuntu" panose="020B050403060203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3" name="TextBox 24">
            <a:extLst>
              <a:ext uri="{FF2B5EF4-FFF2-40B4-BE49-F238E27FC236}">
                <a16:creationId xmlns:a16="http://schemas.microsoft.com/office/drawing/2014/main" id="{0E8A6873-125A-9627-CCA4-8B8673AEADC1}"/>
              </a:ext>
            </a:extLst>
          </p:cNvPr>
          <p:cNvSpPr txBox="1"/>
          <p:nvPr/>
        </p:nvSpPr>
        <p:spPr>
          <a:xfrm>
            <a:off x="2718234" y="2478426"/>
            <a:ext cx="3305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000" dirty="0"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≈</a:t>
            </a:r>
          </a:p>
        </p:txBody>
      </p:sp>
      <p:sp>
        <p:nvSpPr>
          <p:cNvPr id="24" name="TextBox 25">
            <a:extLst>
              <a:ext uri="{FF2B5EF4-FFF2-40B4-BE49-F238E27FC236}">
                <a16:creationId xmlns:a16="http://schemas.microsoft.com/office/drawing/2014/main" id="{8C648AD3-DACA-BEFD-8E2A-561E16D2166D}"/>
              </a:ext>
            </a:extLst>
          </p:cNvPr>
          <p:cNvSpPr txBox="1"/>
          <p:nvPr/>
        </p:nvSpPr>
        <p:spPr>
          <a:xfrm>
            <a:off x="4555401" y="2482781"/>
            <a:ext cx="3305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000" dirty="0"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≈</a:t>
            </a:r>
          </a:p>
        </p:txBody>
      </p:sp>
      <p:sp>
        <p:nvSpPr>
          <p:cNvPr id="25" name="TextBox 26">
            <a:extLst>
              <a:ext uri="{FF2B5EF4-FFF2-40B4-BE49-F238E27FC236}">
                <a16:creationId xmlns:a16="http://schemas.microsoft.com/office/drawing/2014/main" id="{47CA81E2-BDF6-B007-F4BA-6BB0D547F76B}"/>
              </a:ext>
            </a:extLst>
          </p:cNvPr>
          <p:cNvSpPr txBox="1"/>
          <p:nvPr/>
        </p:nvSpPr>
        <p:spPr>
          <a:xfrm>
            <a:off x="6495509" y="2472706"/>
            <a:ext cx="3305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000" dirty="0"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≈</a:t>
            </a:r>
          </a:p>
        </p:txBody>
      </p:sp>
      <p:sp>
        <p:nvSpPr>
          <p:cNvPr id="26" name="TextBox 27">
            <a:extLst>
              <a:ext uri="{FF2B5EF4-FFF2-40B4-BE49-F238E27FC236}">
                <a16:creationId xmlns:a16="http://schemas.microsoft.com/office/drawing/2014/main" id="{E9F52446-F673-B888-01A1-E0529BF29302}"/>
              </a:ext>
            </a:extLst>
          </p:cNvPr>
          <p:cNvSpPr txBox="1"/>
          <p:nvPr/>
        </p:nvSpPr>
        <p:spPr>
          <a:xfrm>
            <a:off x="403287" y="1881854"/>
            <a:ext cx="1114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hu-HU" sz="1400" b="1" dirty="0"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Inductive</a:t>
            </a:r>
          </a:p>
          <a:p>
            <a:r>
              <a:rPr lang="hu-HU" sz="1400" b="1" dirty="0"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definitions</a:t>
            </a:r>
          </a:p>
        </p:txBody>
      </p:sp>
      <p:sp>
        <p:nvSpPr>
          <p:cNvPr id="27" name="TextBox 28">
            <a:extLst>
              <a:ext uri="{FF2B5EF4-FFF2-40B4-BE49-F238E27FC236}">
                <a16:creationId xmlns:a16="http://schemas.microsoft.com/office/drawing/2014/main" id="{05B9D96A-3F4D-DBE7-C6E1-65BFACD15946}"/>
              </a:ext>
            </a:extLst>
          </p:cNvPr>
          <p:cNvSpPr txBox="1"/>
          <p:nvPr/>
        </p:nvSpPr>
        <p:spPr>
          <a:xfrm>
            <a:off x="384051" y="2949760"/>
            <a:ext cx="11528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hu-HU" sz="1400" b="1" dirty="0"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Function</a:t>
            </a:r>
          </a:p>
          <a:p>
            <a:pPr algn="ctr"/>
            <a:r>
              <a:rPr lang="hu-HU" sz="1400" b="1" dirty="0"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definitions</a:t>
            </a:r>
          </a:p>
        </p:txBody>
      </p:sp>
      <p:cxnSp>
        <p:nvCxnSpPr>
          <p:cNvPr id="28" name="Straight Arrow Connector 30">
            <a:extLst>
              <a:ext uri="{FF2B5EF4-FFF2-40B4-BE49-F238E27FC236}">
                <a16:creationId xmlns:a16="http://schemas.microsoft.com/office/drawing/2014/main" id="{A49781C1-0C45-03B0-CD70-E53DBFF145F0}"/>
              </a:ext>
            </a:extLst>
          </p:cNvPr>
          <p:cNvCxnSpPr>
            <a:cxnSpLocks/>
            <a:stCxn id="16" idx="3"/>
            <a:endCxn id="17" idx="1"/>
          </p:cNvCxnSpPr>
          <p:nvPr/>
        </p:nvCxnSpPr>
        <p:spPr>
          <a:xfrm>
            <a:off x="3500904" y="2200910"/>
            <a:ext cx="563547" cy="0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31">
            <a:extLst>
              <a:ext uri="{FF2B5EF4-FFF2-40B4-BE49-F238E27FC236}">
                <a16:creationId xmlns:a16="http://schemas.microsoft.com/office/drawing/2014/main" id="{4E9DEC02-DC06-FFEC-1AD2-426762872F28}"/>
              </a:ext>
            </a:extLst>
          </p:cNvPr>
          <p:cNvCxnSpPr>
            <a:stCxn id="17" idx="3"/>
          </p:cNvCxnSpPr>
          <p:nvPr/>
        </p:nvCxnSpPr>
        <p:spPr>
          <a:xfrm>
            <a:off x="5441011" y="2200910"/>
            <a:ext cx="563548" cy="0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34">
            <a:extLst>
              <a:ext uri="{FF2B5EF4-FFF2-40B4-BE49-F238E27FC236}">
                <a16:creationId xmlns:a16="http://schemas.microsoft.com/office/drawing/2014/main" id="{94A2B04F-ADD0-5319-E98A-A9772907F262}"/>
              </a:ext>
            </a:extLst>
          </p:cNvPr>
          <p:cNvCxnSpPr>
            <a:cxnSpLocks/>
            <a:stCxn id="19" idx="3"/>
            <a:endCxn id="20" idx="1"/>
          </p:cNvCxnSpPr>
          <p:nvPr/>
        </p:nvCxnSpPr>
        <p:spPr>
          <a:xfrm>
            <a:off x="3500905" y="3322842"/>
            <a:ext cx="563546" cy="0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7">
            <a:extLst>
              <a:ext uri="{FF2B5EF4-FFF2-40B4-BE49-F238E27FC236}">
                <a16:creationId xmlns:a16="http://schemas.microsoft.com/office/drawing/2014/main" id="{82ADCE25-D68A-957E-0CE2-E26488920BBC}"/>
              </a:ext>
            </a:extLst>
          </p:cNvPr>
          <p:cNvCxnSpPr>
            <a:stCxn id="20" idx="3"/>
            <a:endCxn id="21" idx="1"/>
          </p:cNvCxnSpPr>
          <p:nvPr/>
        </p:nvCxnSpPr>
        <p:spPr>
          <a:xfrm>
            <a:off x="5441011" y="3322842"/>
            <a:ext cx="563548" cy="0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40">
            <a:extLst>
              <a:ext uri="{FF2B5EF4-FFF2-40B4-BE49-F238E27FC236}">
                <a16:creationId xmlns:a16="http://schemas.microsoft.com/office/drawing/2014/main" id="{5D924092-4C08-6317-A7FE-18F223F9083B}"/>
              </a:ext>
            </a:extLst>
          </p:cNvPr>
          <p:cNvCxnSpPr>
            <a:stCxn id="21" idx="2"/>
            <a:endCxn id="22" idx="0"/>
          </p:cNvCxnSpPr>
          <p:nvPr/>
        </p:nvCxnSpPr>
        <p:spPr>
          <a:xfrm>
            <a:off x="6692839" y="3599342"/>
            <a:ext cx="0" cy="397426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43">
            <a:extLst>
              <a:ext uri="{FF2B5EF4-FFF2-40B4-BE49-F238E27FC236}">
                <a16:creationId xmlns:a16="http://schemas.microsoft.com/office/drawing/2014/main" id="{624A11D0-491B-A67C-DD8C-09F3FE402925}"/>
              </a:ext>
            </a:extLst>
          </p:cNvPr>
          <p:cNvCxnSpPr>
            <a:stCxn id="13" idx="6"/>
            <a:endCxn id="15" idx="1"/>
          </p:cNvCxnSpPr>
          <p:nvPr/>
        </p:nvCxnSpPr>
        <p:spPr>
          <a:xfrm>
            <a:off x="3774120" y="5449165"/>
            <a:ext cx="404853" cy="6685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46">
            <a:extLst>
              <a:ext uri="{FF2B5EF4-FFF2-40B4-BE49-F238E27FC236}">
                <a16:creationId xmlns:a16="http://schemas.microsoft.com/office/drawing/2014/main" id="{E36FCAC6-5A92-05AD-62F4-7DB5DD9A973A}"/>
              </a:ext>
            </a:extLst>
          </p:cNvPr>
          <p:cNvCxnSpPr>
            <a:stCxn id="15" idx="3"/>
            <a:endCxn id="14" idx="2"/>
          </p:cNvCxnSpPr>
          <p:nvPr/>
        </p:nvCxnSpPr>
        <p:spPr>
          <a:xfrm flipV="1">
            <a:off x="5487331" y="5449164"/>
            <a:ext cx="404853" cy="6686"/>
          </a:xfrm>
          <a:prstGeom prst="straightConnector1">
            <a:avLst/>
          </a:prstGeom>
          <a:ln w="19050">
            <a:prstDash val="sysDash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51">
            <a:extLst>
              <a:ext uri="{FF2B5EF4-FFF2-40B4-BE49-F238E27FC236}">
                <a16:creationId xmlns:a16="http://schemas.microsoft.com/office/drawing/2014/main" id="{272DABED-CA55-9F45-682A-769808BFB3AD}"/>
              </a:ext>
            </a:extLst>
          </p:cNvPr>
          <p:cNvCxnSpPr>
            <a:cxnSpLocks/>
            <a:stCxn id="14" idx="6"/>
            <a:endCxn id="11" idx="1"/>
          </p:cNvCxnSpPr>
          <p:nvPr/>
        </p:nvCxnSpPr>
        <p:spPr>
          <a:xfrm flipV="1">
            <a:off x="7673401" y="5449163"/>
            <a:ext cx="880846" cy="1"/>
          </a:xfrm>
          <a:prstGeom prst="straightConnector1">
            <a:avLst/>
          </a:prstGeom>
          <a:ln w="19050">
            <a:prstDash val="sysDash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54">
            <a:extLst>
              <a:ext uri="{FF2B5EF4-FFF2-40B4-BE49-F238E27FC236}">
                <a16:creationId xmlns:a16="http://schemas.microsoft.com/office/drawing/2014/main" id="{387D23CF-1C70-475E-4246-5F75414132B9}"/>
              </a:ext>
            </a:extLst>
          </p:cNvPr>
          <p:cNvCxnSpPr>
            <a:stCxn id="22" idx="3"/>
          </p:cNvCxnSpPr>
          <p:nvPr/>
        </p:nvCxnSpPr>
        <p:spPr>
          <a:xfrm>
            <a:off x="7381119" y="4273268"/>
            <a:ext cx="1165074" cy="9565"/>
          </a:xfrm>
          <a:prstGeom prst="straightConnector1">
            <a:avLst/>
          </a:prstGeom>
          <a:ln w="19050">
            <a:prstDash val="sysDash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58">
            <a:extLst>
              <a:ext uri="{FF2B5EF4-FFF2-40B4-BE49-F238E27FC236}">
                <a16:creationId xmlns:a16="http://schemas.microsoft.com/office/drawing/2014/main" id="{37CFD893-AD03-F8F8-13B0-2847EDFF61D8}"/>
              </a:ext>
            </a:extLst>
          </p:cNvPr>
          <p:cNvCxnSpPr>
            <a:stCxn id="8" idx="3"/>
          </p:cNvCxnSpPr>
          <p:nvPr/>
        </p:nvCxnSpPr>
        <p:spPr>
          <a:xfrm flipV="1">
            <a:off x="9680084" y="2815489"/>
            <a:ext cx="547443" cy="6970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61">
            <a:extLst>
              <a:ext uri="{FF2B5EF4-FFF2-40B4-BE49-F238E27FC236}">
                <a16:creationId xmlns:a16="http://schemas.microsoft.com/office/drawing/2014/main" id="{12EC1CAF-C795-D1CD-408F-433DEA2147ED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9663980" y="4058502"/>
            <a:ext cx="563547" cy="0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TextBox 67">
            <a:extLst>
              <a:ext uri="{FF2B5EF4-FFF2-40B4-BE49-F238E27FC236}">
                <a16:creationId xmlns:a16="http://schemas.microsoft.com/office/drawing/2014/main" id="{5B8C2063-A89F-BA87-62D4-DBCB04C88AAF}"/>
              </a:ext>
            </a:extLst>
          </p:cNvPr>
          <p:cNvSpPr txBox="1"/>
          <p:nvPr/>
        </p:nvSpPr>
        <p:spPr>
          <a:xfrm>
            <a:off x="227356" y="6089173"/>
            <a:ext cx="11272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1400" dirty="0"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Languages:</a:t>
            </a:r>
          </a:p>
        </p:txBody>
      </p:sp>
      <p:sp>
        <p:nvSpPr>
          <p:cNvPr id="41" name="TextBox 68">
            <a:extLst>
              <a:ext uri="{FF2B5EF4-FFF2-40B4-BE49-F238E27FC236}">
                <a16:creationId xmlns:a16="http://schemas.microsoft.com/office/drawing/2014/main" id="{3E94880B-7BD4-F76A-ABD5-A712BA2C1BFE}"/>
              </a:ext>
            </a:extLst>
          </p:cNvPr>
          <p:cNvSpPr txBox="1"/>
          <p:nvPr/>
        </p:nvSpPr>
        <p:spPr>
          <a:xfrm>
            <a:off x="1447755" y="6089173"/>
            <a:ext cx="599844" cy="307777"/>
          </a:xfrm>
          <a:prstGeom prst="rect">
            <a:avLst/>
          </a:prstGeom>
          <a:solidFill>
            <a:srgbClr val="FFF8DC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hu-HU" sz="1400" dirty="0"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Rocq</a:t>
            </a:r>
          </a:p>
        </p:txBody>
      </p:sp>
      <p:sp>
        <p:nvSpPr>
          <p:cNvPr id="42" name="TextBox 69">
            <a:extLst>
              <a:ext uri="{FF2B5EF4-FFF2-40B4-BE49-F238E27FC236}">
                <a16:creationId xmlns:a16="http://schemas.microsoft.com/office/drawing/2014/main" id="{11921190-E41F-CB65-07E5-1B59EA7267B7}"/>
              </a:ext>
            </a:extLst>
          </p:cNvPr>
          <p:cNvSpPr txBox="1"/>
          <p:nvPr/>
        </p:nvSpPr>
        <p:spPr>
          <a:xfrm>
            <a:off x="2219724" y="6089173"/>
            <a:ext cx="710451" cy="307777"/>
          </a:xfrm>
          <a:prstGeom prst="rect">
            <a:avLst/>
          </a:prstGeom>
          <a:solidFill>
            <a:srgbClr val="A90533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hu-HU" sz="1400" dirty="0">
                <a:solidFill>
                  <a:schemeClr val="bg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Erlang</a:t>
            </a:r>
          </a:p>
        </p:txBody>
      </p:sp>
      <p:sp>
        <p:nvSpPr>
          <p:cNvPr id="43" name="TextBox 70">
            <a:extLst>
              <a:ext uri="{FF2B5EF4-FFF2-40B4-BE49-F238E27FC236}">
                <a16:creationId xmlns:a16="http://schemas.microsoft.com/office/drawing/2014/main" id="{28A056C6-CD2C-7468-1666-070ED7B6BF23}"/>
              </a:ext>
            </a:extLst>
          </p:cNvPr>
          <p:cNvSpPr txBox="1"/>
          <p:nvPr/>
        </p:nvSpPr>
        <p:spPr>
          <a:xfrm>
            <a:off x="3141029" y="6089173"/>
            <a:ext cx="783804" cy="307777"/>
          </a:xfrm>
          <a:prstGeom prst="rect">
            <a:avLst/>
          </a:prstGeom>
          <a:solidFill>
            <a:srgbClr val="5E5086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hu-HU" sz="1400" dirty="0">
                <a:solidFill>
                  <a:schemeClr val="bg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Haskell</a:t>
            </a:r>
          </a:p>
        </p:txBody>
      </p:sp>
      <p:cxnSp>
        <p:nvCxnSpPr>
          <p:cNvPr id="50" name="Összekötő: szögletes 49">
            <a:extLst>
              <a:ext uri="{FF2B5EF4-FFF2-40B4-BE49-F238E27FC236}">
                <a16:creationId xmlns:a16="http://schemas.microsoft.com/office/drawing/2014/main" id="{4AE14472-8D12-DFE7-D9C6-80242FCE6D0E}"/>
              </a:ext>
            </a:extLst>
          </p:cNvPr>
          <p:cNvCxnSpPr>
            <a:stCxn id="11" idx="3"/>
            <a:endCxn id="12" idx="2"/>
          </p:cNvCxnSpPr>
          <p:nvPr/>
        </p:nvCxnSpPr>
        <p:spPr>
          <a:xfrm flipV="1">
            <a:off x="9680084" y="4509477"/>
            <a:ext cx="1158449" cy="939686"/>
          </a:xfrm>
          <a:prstGeom prst="bentConnector2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6" name="Picture 10">
            <a:extLst>
              <a:ext uri="{FF2B5EF4-FFF2-40B4-BE49-F238E27FC236}">
                <a16:creationId xmlns:a16="http://schemas.microsoft.com/office/drawing/2014/main" id="{3987771D-22A9-30E8-C503-A5368329AB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9308" y="310541"/>
            <a:ext cx="1430893" cy="609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4949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9" grpId="0" animBg="1"/>
      <p:bldP spid="20" grpId="0" animBg="1"/>
      <p:bldP spid="21" grpId="0" animBg="1"/>
      <p:bldP spid="22" grpId="0" animBg="1"/>
      <p:bldP spid="23" grpId="0"/>
      <p:bldP spid="24" grpId="0"/>
      <p:bldP spid="25" grpId="0"/>
      <p:bldP spid="27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47D7EA-CCCC-B176-95B8-E9CB9E604C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zövegdoboz 2">
            <a:extLst>
              <a:ext uri="{FF2B5EF4-FFF2-40B4-BE49-F238E27FC236}">
                <a16:creationId xmlns:a16="http://schemas.microsoft.com/office/drawing/2014/main" id="{B5FC7A7A-1B6C-3EBF-CFF8-C8E91B865D65}"/>
              </a:ext>
            </a:extLst>
          </p:cNvPr>
          <p:cNvSpPr txBox="1"/>
          <p:nvPr/>
        </p:nvSpPr>
        <p:spPr>
          <a:xfrm>
            <a:off x="838200" y="399495"/>
            <a:ext cx="10515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600" noProof="0" dirty="0">
                <a:solidFill>
                  <a:srgbClr val="01285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Performance </a:t>
            </a:r>
            <a:r>
              <a:rPr lang="hu-HU" sz="3600" noProof="0" dirty="0" err="1">
                <a:solidFill>
                  <a:srgbClr val="01285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issues</a:t>
            </a:r>
            <a:endParaRPr lang="en-GB" sz="3600" noProof="0" dirty="0">
              <a:solidFill>
                <a:srgbClr val="01285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6" name="Egyenes összekötő 5">
            <a:extLst>
              <a:ext uri="{FF2B5EF4-FFF2-40B4-BE49-F238E27FC236}">
                <a16:creationId xmlns:a16="http://schemas.microsoft.com/office/drawing/2014/main" id="{3FFD7A39-C148-5730-AC69-E9CEDE7666F4}"/>
              </a:ext>
            </a:extLst>
          </p:cNvPr>
          <p:cNvCxnSpPr/>
          <p:nvPr/>
        </p:nvCxnSpPr>
        <p:spPr>
          <a:xfrm>
            <a:off x="838200" y="1145220"/>
            <a:ext cx="10676138" cy="0"/>
          </a:xfrm>
          <a:prstGeom prst="line">
            <a:avLst/>
          </a:prstGeom>
          <a:ln>
            <a:solidFill>
              <a:srgbClr val="0128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4" name="Content Placeholder 10">
            <a:extLst>
              <a:ext uri="{FF2B5EF4-FFF2-40B4-BE49-F238E27FC236}">
                <a16:creationId xmlns:a16="http://schemas.microsoft.com/office/drawing/2014/main" id="{C84E257A-D5AA-2001-62B3-11BC8C183B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5869" y="1432145"/>
            <a:ext cx="9720262" cy="1465903"/>
          </a:xfrm>
          <a:prstGeom prst="rect">
            <a:avLst/>
          </a:prstGeom>
        </p:spPr>
      </p:pic>
      <p:sp>
        <p:nvSpPr>
          <p:cNvPr id="2" name="Téglalap 1">
            <a:extLst>
              <a:ext uri="{FF2B5EF4-FFF2-40B4-BE49-F238E27FC236}">
                <a16:creationId xmlns:a16="http://schemas.microsoft.com/office/drawing/2014/main" id="{F7FDEB42-773E-9F01-8E6D-571532ECD72E}"/>
              </a:ext>
            </a:extLst>
          </p:cNvPr>
          <p:cNvSpPr/>
          <p:nvPr/>
        </p:nvSpPr>
        <p:spPr>
          <a:xfrm>
            <a:off x="2487424" y="2186886"/>
            <a:ext cx="8363882" cy="6943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90864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D51E64-F755-ED33-E8C8-A92D6D192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zövegdoboz 2">
            <a:extLst>
              <a:ext uri="{FF2B5EF4-FFF2-40B4-BE49-F238E27FC236}">
                <a16:creationId xmlns:a16="http://schemas.microsoft.com/office/drawing/2014/main" id="{A4F67DB3-E58F-45AE-FC35-E0A9A923328D}"/>
              </a:ext>
            </a:extLst>
          </p:cNvPr>
          <p:cNvSpPr txBox="1"/>
          <p:nvPr/>
        </p:nvSpPr>
        <p:spPr>
          <a:xfrm>
            <a:off x="838200" y="399495"/>
            <a:ext cx="10515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600" noProof="0" dirty="0">
                <a:solidFill>
                  <a:srgbClr val="01285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Performance </a:t>
            </a:r>
            <a:r>
              <a:rPr lang="hu-HU" sz="3600" noProof="0" dirty="0" err="1">
                <a:solidFill>
                  <a:srgbClr val="01285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issues</a:t>
            </a:r>
            <a:endParaRPr lang="en-GB" sz="3600" noProof="0" dirty="0">
              <a:solidFill>
                <a:srgbClr val="01285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6" name="Egyenes összekötő 5">
            <a:extLst>
              <a:ext uri="{FF2B5EF4-FFF2-40B4-BE49-F238E27FC236}">
                <a16:creationId xmlns:a16="http://schemas.microsoft.com/office/drawing/2014/main" id="{627FDFFC-1042-FF4E-DA57-CDB11EB518F8}"/>
              </a:ext>
            </a:extLst>
          </p:cNvPr>
          <p:cNvCxnSpPr/>
          <p:nvPr/>
        </p:nvCxnSpPr>
        <p:spPr>
          <a:xfrm>
            <a:off x="838200" y="1145220"/>
            <a:ext cx="10676138" cy="0"/>
          </a:xfrm>
          <a:prstGeom prst="line">
            <a:avLst/>
          </a:prstGeom>
          <a:ln>
            <a:solidFill>
              <a:srgbClr val="0128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4" name="Content Placeholder 10">
            <a:extLst>
              <a:ext uri="{FF2B5EF4-FFF2-40B4-BE49-F238E27FC236}">
                <a16:creationId xmlns:a16="http://schemas.microsoft.com/office/drawing/2014/main" id="{5449A88E-E305-FF57-EABB-7AAB60074C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5869" y="1432145"/>
            <a:ext cx="9720262" cy="1465903"/>
          </a:xfrm>
          <a:prstGeom prst="rect">
            <a:avLst/>
          </a:prstGeom>
        </p:spPr>
      </p:pic>
      <p:sp>
        <p:nvSpPr>
          <p:cNvPr id="2" name="Téglalap 1">
            <a:extLst>
              <a:ext uri="{FF2B5EF4-FFF2-40B4-BE49-F238E27FC236}">
                <a16:creationId xmlns:a16="http://schemas.microsoft.com/office/drawing/2014/main" id="{4B091A5B-FC57-CE48-E016-69CE83028A9F}"/>
              </a:ext>
            </a:extLst>
          </p:cNvPr>
          <p:cNvSpPr/>
          <p:nvPr/>
        </p:nvSpPr>
        <p:spPr>
          <a:xfrm>
            <a:off x="2487424" y="2385112"/>
            <a:ext cx="8363882" cy="4961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E2469F3D-1BC0-2DC4-60EB-FDF76322AEE6}"/>
              </a:ext>
            </a:extLst>
          </p:cNvPr>
          <p:cNvSpPr txBox="1"/>
          <p:nvPr/>
        </p:nvSpPr>
        <p:spPr>
          <a:xfrm>
            <a:off x="838200" y="3349962"/>
            <a:ext cx="569739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2800" dirty="0" err="1">
                <a:solidFill>
                  <a:srgbClr val="012851"/>
                </a:solidFill>
                <a:latin typeface="Ubuntu" panose="020B0504030602030204" pitchFamily="34" charset="0"/>
              </a:rPr>
              <a:t>Strictly</a:t>
            </a:r>
            <a:r>
              <a:rPr lang="hu-HU" sz="2800" dirty="0">
                <a:solidFill>
                  <a:srgbClr val="012851"/>
                </a:solidFill>
                <a:latin typeface="Ubuntu" panose="020B0504030602030204" pitchFamily="34" charset="0"/>
              </a:rPr>
              <a:t> </a:t>
            </a:r>
            <a:r>
              <a:rPr lang="hu-HU" sz="2800" dirty="0" err="1">
                <a:solidFill>
                  <a:srgbClr val="012851"/>
                </a:solidFill>
                <a:latin typeface="Ubuntu" panose="020B0504030602030204" pitchFamily="34" charset="0"/>
              </a:rPr>
              <a:t>evaluating</a:t>
            </a:r>
            <a:r>
              <a:rPr lang="hu-HU" sz="2800" dirty="0">
                <a:solidFill>
                  <a:srgbClr val="012851"/>
                </a:solidFill>
                <a:latin typeface="Ubuntu" panose="020B0504030602030204" pitchFamily="34" charset="0"/>
              </a:rPr>
              <a:t> </a:t>
            </a:r>
            <a:r>
              <a:rPr lang="hu-HU" sz="2800" dirty="0" err="1">
                <a:solidFill>
                  <a:srgbClr val="012851"/>
                </a:solidFill>
                <a:latin typeface="Ubuntu" panose="020B0504030602030204" pitchFamily="34" charset="0"/>
              </a:rPr>
              <a:t>substitutions</a:t>
            </a:r>
            <a:endParaRPr lang="hu-HU" sz="2800" dirty="0">
              <a:solidFill>
                <a:srgbClr val="012851"/>
              </a:solidFill>
              <a:latin typeface="Ubuntu" panose="020B0504030602030204" pitchFamily="34" charset="0"/>
            </a:endParaRPr>
          </a:p>
          <a:p>
            <a:endParaRPr lang="hu-HU" sz="2800" dirty="0">
              <a:solidFill>
                <a:srgbClr val="012851"/>
              </a:solidFill>
              <a:latin typeface="Ubuntu" panose="020B05040306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6157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1C6DAB-7D45-9C6F-725C-5248C2B39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zövegdoboz 2">
            <a:extLst>
              <a:ext uri="{FF2B5EF4-FFF2-40B4-BE49-F238E27FC236}">
                <a16:creationId xmlns:a16="http://schemas.microsoft.com/office/drawing/2014/main" id="{ACDA6FCB-F3FE-796E-2458-176C2B5D3BB7}"/>
              </a:ext>
            </a:extLst>
          </p:cNvPr>
          <p:cNvSpPr txBox="1"/>
          <p:nvPr/>
        </p:nvSpPr>
        <p:spPr>
          <a:xfrm>
            <a:off x="838200" y="399495"/>
            <a:ext cx="10515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600" noProof="0" dirty="0">
                <a:solidFill>
                  <a:srgbClr val="01285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Performance </a:t>
            </a:r>
            <a:r>
              <a:rPr lang="hu-HU" sz="3600" noProof="0" dirty="0" err="1">
                <a:solidFill>
                  <a:srgbClr val="01285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issues</a:t>
            </a:r>
            <a:endParaRPr lang="en-GB" sz="3600" noProof="0" dirty="0">
              <a:solidFill>
                <a:srgbClr val="01285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6" name="Egyenes összekötő 5">
            <a:extLst>
              <a:ext uri="{FF2B5EF4-FFF2-40B4-BE49-F238E27FC236}">
                <a16:creationId xmlns:a16="http://schemas.microsoft.com/office/drawing/2014/main" id="{92A0F6BB-4AA7-D8E5-BF54-73CCB79DEDAD}"/>
              </a:ext>
            </a:extLst>
          </p:cNvPr>
          <p:cNvCxnSpPr/>
          <p:nvPr/>
        </p:nvCxnSpPr>
        <p:spPr>
          <a:xfrm>
            <a:off x="838200" y="1145220"/>
            <a:ext cx="10676138" cy="0"/>
          </a:xfrm>
          <a:prstGeom prst="line">
            <a:avLst/>
          </a:prstGeom>
          <a:ln>
            <a:solidFill>
              <a:srgbClr val="0128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4" name="Content Placeholder 10">
            <a:extLst>
              <a:ext uri="{FF2B5EF4-FFF2-40B4-BE49-F238E27FC236}">
                <a16:creationId xmlns:a16="http://schemas.microsoft.com/office/drawing/2014/main" id="{C906D5B8-A633-8E01-2CF4-C48D77F0A0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5869" y="1432145"/>
            <a:ext cx="9720262" cy="1465903"/>
          </a:xfrm>
          <a:prstGeom prst="rect">
            <a:avLst/>
          </a:prstGeom>
        </p:spPr>
      </p:pic>
      <p:sp>
        <p:nvSpPr>
          <p:cNvPr id="2" name="Téglalap 1">
            <a:extLst>
              <a:ext uri="{FF2B5EF4-FFF2-40B4-BE49-F238E27FC236}">
                <a16:creationId xmlns:a16="http://schemas.microsoft.com/office/drawing/2014/main" id="{F8DCEEB3-45FD-6E07-4656-29BB4C74C79A}"/>
              </a:ext>
            </a:extLst>
          </p:cNvPr>
          <p:cNvSpPr/>
          <p:nvPr/>
        </p:nvSpPr>
        <p:spPr>
          <a:xfrm>
            <a:off x="2487424" y="2596129"/>
            <a:ext cx="8363882" cy="2851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EFE13BC2-A194-0D7A-D3D6-1AA79D28BB69}"/>
              </a:ext>
            </a:extLst>
          </p:cNvPr>
          <p:cNvSpPr txBox="1"/>
          <p:nvPr/>
        </p:nvSpPr>
        <p:spPr>
          <a:xfrm>
            <a:off x="838200" y="3349962"/>
            <a:ext cx="5697394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2800" dirty="0" err="1">
                <a:solidFill>
                  <a:srgbClr val="012851"/>
                </a:solidFill>
                <a:latin typeface="Ubuntu" panose="020B0504030602030204" pitchFamily="34" charset="0"/>
              </a:rPr>
              <a:t>Strictly</a:t>
            </a:r>
            <a:r>
              <a:rPr lang="hu-HU" sz="2800" dirty="0">
                <a:solidFill>
                  <a:srgbClr val="012851"/>
                </a:solidFill>
                <a:latin typeface="Ubuntu" panose="020B0504030602030204" pitchFamily="34" charset="0"/>
              </a:rPr>
              <a:t> </a:t>
            </a:r>
            <a:r>
              <a:rPr lang="hu-HU" sz="2800" dirty="0" err="1">
                <a:solidFill>
                  <a:srgbClr val="012851"/>
                </a:solidFill>
                <a:latin typeface="Ubuntu" panose="020B0504030602030204" pitchFamily="34" charset="0"/>
              </a:rPr>
              <a:t>evaluating</a:t>
            </a:r>
            <a:r>
              <a:rPr lang="hu-HU" sz="2800" dirty="0">
                <a:solidFill>
                  <a:srgbClr val="012851"/>
                </a:solidFill>
                <a:latin typeface="Ubuntu" panose="020B0504030602030204" pitchFamily="34" charset="0"/>
              </a:rPr>
              <a:t> </a:t>
            </a:r>
            <a:r>
              <a:rPr lang="hu-HU" sz="2800" dirty="0" err="1">
                <a:solidFill>
                  <a:srgbClr val="012851"/>
                </a:solidFill>
                <a:latin typeface="Ubuntu" panose="020B0504030602030204" pitchFamily="34" charset="0"/>
              </a:rPr>
              <a:t>substitutions</a:t>
            </a:r>
            <a:endParaRPr lang="hu-HU" sz="2800" dirty="0">
              <a:solidFill>
                <a:srgbClr val="012851"/>
              </a:solidFill>
              <a:latin typeface="Ubuntu" panose="020B0504030602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2800" dirty="0" err="1">
                <a:solidFill>
                  <a:srgbClr val="012851"/>
                </a:solidFill>
                <a:latin typeface="Ubuntu" panose="020B0504030602030204" pitchFamily="34" charset="0"/>
              </a:rPr>
              <a:t>Using</a:t>
            </a:r>
            <a:r>
              <a:rPr lang="hu-HU" sz="2800" dirty="0">
                <a:solidFill>
                  <a:srgbClr val="012851"/>
                </a:solidFill>
                <a:latin typeface="Ubuntu" panose="020B0504030602030204" pitchFamily="34" charset="0"/>
              </a:rPr>
              <a:t> </a:t>
            </a:r>
            <a:r>
              <a:rPr lang="hu-HU" sz="2800" dirty="0" err="1">
                <a:solidFill>
                  <a:srgbClr val="012851"/>
                </a:solidFill>
                <a:latin typeface="Ubuntu" panose="020B0504030602030204" pitchFamily="34" charset="0"/>
              </a:rPr>
              <a:t>strict</a:t>
            </a:r>
            <a:r>
              <a:rPr lang="hu-HU" sz="2800" dirty="0">
                <a:solidFill>
                  <a:srgbClr val="012851"/>
                </a:solidFill>
                <a:latin typeface="Ubuntu" panose="020B0504030602030204" pitchFamily="34" charset="0"/>
              </a:rPr>
              <a:t> </a:t>
            </a:r>
            <a:r>
              <a:rPr lang="hu-HU" sz="2800" dirty="0" err="1">
                <a:solidFill>
                  <a:srgbClr val="012851"/>
                </a:solidFill>
                <a:latin typeface="Ubuntu" panose="020B0504030602030204" pitchFamily="34" charset="0"/>
              </a:rPr>
              <a:t>data</a:t>
            </a:r>
            <a:r>
              <a:rPr lang="hu-HU" sz="2800" dirty="0">
                <a:solidFill>
                  <a:srgbClr val="012851"/>
                </a:solidFill>
                <a:latin typeface="Ubuntu" panose="020B0504030602030204" pitchFamily="34" charset="0"/>
              </a:rPr>
              <a:t> </a:t>
            </a:r>
            <a:r>
              <a:rPr lang="hu-HU" sz="2800" dirty="0" err="1">
                <a:solidFill>
                  <a:srgbClr val="012851"/>
                </a:solidFill>
                <a:latin typeface="Ubuntu" panose="020B0504030602030204" pitchFamily="34" charset="0"/>
              </a:rPr>
              <a:t>structures</a:t>
            </a:r>
            <a:endParaRPr lang="hu-HU" sz="2800" dirty="0">
              <a:solidFill>
                <a:srgbClr val="012851"/>
              </a:solidFill>
              <a:latin typeface="Ubuntu" panose="020B0504030602030204" pitchFamily="34" charset="0"/>
            </a:endParaRPr>
          </a:p>
          <a:p>
            <a:endParaRPr lang="hu-HU" sz="2800" dirty="0">
              <a:solidFill>
                <a:srgbClr val="012851"/>
              </a:solidFill>
              <a:latin typeface="Ubuntu" panose="020B05040306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8522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D22912-0F16-90CF-7AD2-AE0FA35D33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zövegdoboz 2">
            <a:extLst>
              <a:ext uri="{FF2B5EF4-FFF2-40B4-BE49-F238E27FC236}">
                <a16:creationId xmlns:a16="http://schemas.microsoft.com/office/drawing/2014/main" id="{C9EB8A56-6AFA-30D4-3BCE-0999A9F9E426}"/>
              </a:ext>
            </a:extLst>
          </p:cNvPr>
          <p:cNvSpPr txBox="1"/>
          <p:nvPr/>
        </p:nvSpPr>
        <p:spPr>
          <a:xfrm>
            <a:off x="838200" y="399495"/>
            <a:ext cx="10515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600" noProof="0" dirty="0">
                <a:solidFill>
                  <a:srgbClr val="01285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Performance </a:t>
            </a:r>
            <a:r>
              <a:rPr lang="hu-HU" sz="3600" noProof="0" dirty="0" err="1">
                <a:solidFill>
                  <a:srgbClr val="01285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issues</a:t>
            </a:r>
            <a:endParaRPr lang="en-GB" sz="3600" noProof="0" dirty="0">
              <a:solidFill>
                <a:srgbClr val="01285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6" name="Egyenes összekötő 5">
            <a:extLst>
              <a:ext uri="{FF2B5EF4-FFF2-40B4-BE49-F238E27FC236}">
                <a16:creationId xmlns:a16="http://schemas.microsoft.com/office/drawing/2014/main" id="{608F4D80-4357-11E3-A16A-7EF1099F7A64}"/>
              </a:ext>
            </a:extLst>
          </p:cNvPr>
          <p:cNvCxnSpPr/>
          <p:nvPr/>
        </p:nvCxnSpPr>
        <p:spPr>
          <a:xfrm>
            <a:off x="838200" y="1145220"/>
            <a:ext cx="10676138" cy="0"/>
          </a:xfrm>
          <a:prstGeom prst="line">
            <a:avLst/>
          </a:prstGeom>
          <a:ln>
            <a:solidFill>
              <a:srgbClr val="0128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4" name="Content Placeholder 10">
            <a:extLst>
              <a:ext uri="{FF2B5EF4-FFF2-40B4-BE49-F238E27FC236}">
                <a16:creationId xmlns:a16="http://schemas.microsoft.com/office/drawing/2014/main" id="{E4AB488F-FAEC-9BC2-40E8-755A167D4B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5869" y="1432145"/>
            <a:ext cx="9720262" cy="1465903"/>
          </a:xfrm>
          <a:prstGeom prst="rect">
            <a:avLst/>
          </a:prstGeom>
        </p:spPr>
      </p:pic>
      <p:sp>
        <p:nvSpPr>
          <p:cNvPr id="8" name="Szövegdoboz 7">
            <a:extLst>
              <a:ext uri="{FF2B5EF4-FFF2-40B4-BE49-F238E27FC236}">
                <a16:creationId xmlns:a16="http://schemas.microsoft.com/office/drawing/2014/main" id="{D670386C-E422-E211-DFE7-3F9A07EFFE56}"/>
              </a:ext>
            </a:extLst>
          </p:cNvPr>
          <p:cNvSpPr txBox="1"/>
          <p:nvPr/>
        </p:nvSpPr>
        <p:spPr>
          <a:xfrm>
            <a:off x="838200" y="3349962"/>
            <a:ext cx="5697394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2800" dirty="0" err="1">
                <a:solidFill>
                  <a:srgbClr val="012851"/>
                </a:solidFill>
                <a:latin typeface="Ubuntu" panose="020B0504030602030204" pitchFamily="34" charset="0"/>
              </a:rPr>
              <a:t>Strictly</a:t>
            </a:r>
            <a:r>
              <a:rPr lang="hu-HU" sz="2800" dirty="0">
                <a:solidFill>
                  <a:srgbClr val="012851"/>
                </a:solidFill>
                <a:latin typeface="Ubuntu" panose="020B0504030602030204" pitchFamily="34" charset="0"/>
              </a:rPr>
              <a:t> </a:t>
            </a:r>
            <a:r>
              <a:rPr lang="hu-HU" sz="2800" dirty="0" err="1">
                <a:solidFill>
                  <a:srgbClr val="012851"/>
                </a:solidFill>
                <a:latin typeface="Ubuntu" panose="020B0504030602030204" pitchFamily="34" charset="0"/>
              </a:rPr>
              <a:t>evaluating</a:t>
            </a:r>
            <a:r>
              <a:rPr lang="hu-HU" sz="2800" dirty="0">
                <a:solidFill>
                  <a:srgbClr val="012851"/>
                </a:solidFill>
                <a:latin typeface="Ubuntu" panose="020B0504030602030204" pitchFamily="34" charset="0"/>
              </a:rPr>
              <a:t> </a:t>
            </a:r>
            <a:r>
              <a:rPr lang="hu-HU" sz="2800" dirty="0" err="1">
                <a:solidFill>
                  <a:srgbClr val="012851"/>
                </a:solidFill>
                <a:latin typeface="Ubuntu" panose="020B0504030602030204" pitchFamily="34" charset="0"/>
              </a:rPr>
              <a:t>substitutions</a:t>
            </a:r>
            <a:endParaRPr lang="hu-HU" sz="2800" dirty="0">
              <a:solidFill>
                <a:srgbClr val="012851"/>
              </a:solidFill>
              <a:latin typeface="Ubuntu" panose="020B0504030602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2800" dirty="0" err="1">
                <a:solidFill>
                  <a:srgbClr val="012851"/>
                </a:solidFill>
                <a:latin typeface="Ubuntu" panose="020B0504030602030204" pitchFamily="34" charset="0"/>
              </a:rPr>
              <a:t>Using</a:t>
            </a:r>
            <a:r>
              <a:rPr lang="hu-HU" sz="2800" dirty="0">
                <a:solidFill>
                  <a:srgbClr val="012851"/>
                </a:solidFill>
                <a:latin typeface="Ubuntu" panose="020B0504030602030204" pitchFamily="34" charset="0"/>
              </a:rPr>
              <a:t> </a:t>
            </a:r>
            <a:r>
              <a:rPr lang="hu-HU" sz="2800" dirty="0" err="1">
                <a:solidFill>
                  <a:srgbClr val="012851"/>
                </a:solidFill>
                <a:latin typeface="Ubuntu" panose="020B0504030602030204" pitchFamily="34" charset="0"/>
              </a:rPr>
              <a:t>strict</a:t>
            </a:r>
            <a:r>
              <a:rPr lang="hu-HU" sz="2800" dirty="0">
                <a:solidFill>
                  <a:srgbClr val="012851"/>
                </a:solidFill>
                <a:latin typeface="Ubuntu" panose="020B0504030602030204" pitchFamily="34" charset="0"/>
              </a:rPr>
              <a:t> </a:t>
            </a:r>
            <a:r>
              <a:rPr lang="hu-HU" sz="2800" dirty="0" err="1">
                <a:solidFill>
                  <a:srgbClr val="012851"/>
                </a:solidFill>
                <a:latin typeface="Ubuntu" panose="020B0504030602030204" pitchFamily="34" charset="0"/>
              </a:rPr>
              <a:t>data</a:t>
            </a:r>
            <a:r>
              <a:rPr lang="hu-HU" sz="2800" dirty="0">
                <a:solidFill>
                  <a:srgbClr val="012851"/>
                </a:solidFill>
                <a:latin typeface="Ubuntu" panose="020B0504030602030204" pitchFamily="34" charset="0"/>
              </a:rPr>
              <a:t> </a:t>
            </a:r>
            <a:r>
              <a:rPr lang="hu-HU" sz="2800" dirty="0" err="1">
                <a:solidFill>
                  <a:srgbClr val="012851"/>
                </a:solidFill>
                <a:latin typeface="Ubuntu" panose="020B0504030602030204" pitchFamily="34" charset="0"/>
              </a:rPr>
              <a:t>structures</a:t>
            </a:r>
            <a:endParaRPr lang="hu-HU" sz="2800" dirty="0">
              <a:solidFill>
                <a:srgbClr val="012851"/>
              </a:solidFill>
              <a:latin typeface="Ubuntu" panose="020B0504030602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2800" dirty="0" err="1">
                <a:solidFill>
                  <a:srgbClr val="012851"/>
                </a:solidFill>
                <a:latin typeface="Ubuntu" panose="020B0504030602030204" pitchFamily="34" charset="0"/>
              </a:rPr>
              <a:t>Simplifying</a:t>
            </a:r>
            <a:r>
              <a:rPr lang="hu-HU" sz="2800" dirty="0">
                <a:solidFill>
                  <a:srgbClr val="012851"/>
                </a:solidFill>
                <a:latin typeface="Ubuntu" panose="020B0504030602030204" pitchFamily="34" charset="0"/>
              </a:rPr>
              <a:t> </a:t>
            </a:r>
            <a:r>
              <a:rPr lang="hu-HU" sz="2800" dirty="0" err="1">
                <a:solidFill>
                  <a:srgbClr val="012851"/>
                </a:solidFill>
                <a:latin typeface="Ubuntu" panose="020B0504030602030204" pitchFamily="34" charset="0"/>
              </a:rPr>
              <a:t>substitution</a:t>
            </a:r>
            <a:endParaRPr lang="hu-HU" sz="2800" dirty="0">
              <a:solidFill>
                <a:srgbClr val="012851"/>
              </a:solidFill>
              <a:latin typeface="Ubuntu" panose="020B0504030602030204" pitchFamily="34" charset="0"/>
            </a:endParaRPr>
          </a:p>
          <a:p>
            <a:endParaRPr lang="hu-HU" sz="2800" dirty="0">
              <a:solidFill>
                <a:srgbClr val="012851"/>
              </a:solidFill>
              <a:latin typeface="Ubuntu" panose="020B05040306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8348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ECCCFC-2B8A-C083-64A4-521E2B4CF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zövegdoboz 2">
            <a:extLst>
              <a:ext uri="{FF2B5EF4-FFF2-40B4-BE49-F238E27FC236}">
                <a16:creationId xmlns:a16="http://schemas.microsoft.com/office/drawing/2014/main" id="{A438D784-FE44-7FCD-C756-D7A6C46EE43B}"/>
              </a:ext>
            </a:extLst>
          </p:cNvPr>
          <p:cNvSpPr txBox="1"/>
          <p:nvPr/>
        </p:nvSpPr>
        <p:spPr>
          <a:xfrm>
            <a:off x="838200" y="399495"/>
            <a:ext cx="10515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600" noProof="0" dirty="0">
                <a:solidFill>
                  <a:srgbClr val="01285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Performance </a:t>
            </a:r>
            <a:r>
              <a:rPr lang="hu-HU" sz="3600" noProof="0" dirty="0" err="1">
                <a:solidFill>
                  <a:srgbClr val="01285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issues</a:t>
            </a:r>
            <a:endParaRPr lang="en-GB" sz="3600" noProof="0" dirty="0">
              <a:solidFill>
                <a:srgbClr val="01285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6" name="Egyenes összekötő 5">
            <a:extLst>
              <a:ext uri="{FF2B5EF4-FFF2-40B4-BE49-F238E27FC236}">
                <a16:creationId xmlns:a16="http://schemas.microsoft.com/office/drawing/2014/main" id="{6CEEF22E-DCE0-43F4-B507-4DF9C17FB64D}"/>
              </a:ext>
            </a:extLst>
          </p:cNvPr>
          <p:cNvCxnSpPr/>
          <p:nvPr/>
        </p:nvCxnSpPr>
        <p:spPr>
          <a:xfrm>
            <a:off x="838200" y="1145220"/>
            <a:ext cx="10676138" cy="0"/>
          </a:xfrm>
          <a:prstGeom prst="line">
            <a:avLst/>
          </a:prstGeom>
          <a:ln>
            <a:solidFill>
              <a:srgbClr val="0128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4" name="Content Placeholder 10">
            <a:extLst>
              <a:ext uri="{FF2B5EF4-FFF2-40B4-BE49-F238E27FC236}">
                <a16:creationId xmlns:a16="http://schemas.microsoft.com/office/drawing/2014/main" id="{6B9DD65F-7C0B-79B9-E9AD-F40EDE9D17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5869" y="1432145"/>
            <a:ext cx="9720262" cy="1465903"/>
          </a:xfrm>
          <a:prstGeom prst="rect">
            <a:avLst/>
          </a:prstGeom>
        </p:spPr>
      </p:pic>
      <p:sp>
        <p:nvSpPr>
          <p:cNvPr id="8" name="Szövegdoboz 7">
            <a:extLst>
              <a:ext uri="{FF2B5EF4-FFF2-40B4-BE49-F238E27FC236}">
                <a16:creationId xmlns:a16="http://schemas.microsoft.com/office/drawing/2014/main" id="{6F28AF96-E0DE-2753-00BF-CDD1E606BC31}"/>
              </a:ext>
            </a:extLst>
          </p:cNvPr>
          <p:cNvSpPr txBox="1"/>
          <p:nvPr/>
        </p:nvSpPr>
        <p:spPr>
          <a:xfrm>
            <a:off x="838200" y="3349962"/>
            <a:ext cx="7723589" cy="31085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2800" dirty="0" err="1">
                <a:solidFill>
                  <a:srgbClr val="012851"/>
                </a:solidFill>
                <a:latin typeface="Ubuntu" panose="020B0504030602030204" pitchFamily="34" charset="0"/>
              </a:rPr>
              <a:t>Strictly</a:t>
            </a:r>
            <a:r>
              <a:rPr lang="hu-HU" sz="2800" dirty="0">
                <a:solidFill>
                  <a:srgbClr val="012851"/>
                </a:solidFill>
                <a:latin typeface="Ubuntu" panose="020B0504030602030204" pitchFamily="34" charset="0"/>
              </a:rPr>
              <a:t> </a:t>
            </a:r>
            <a:r>
              <a:rPr lang="hu-HU" sz="2800" dirty="0" err="1">
                <a:solidFill>
                  <a:srgbClr val="012851"/>
                </a:solidFill>
                <a:latin typeface="Ubuntu" panose="020B0504030602030204" pitchFamily="34" charset="0"/>
              </a:rPr>
              <a:t>evaluating</a:t>
            </a:r>
            <a:r>
              <a:rPr lang="hu-HU" sz="2800" dirty="0">
                <a:solidFill>
                  <a:srgbClr val="012851"/>
                </a:solidFill>
                <a:latin typeface="Ubuntu" panose="020B0504030602030204" pitchFamily="34" charset="0"/>
              </a:rPr>
              <a:t> </a:t>
            </a:r>
            <a:r>
              <a:rPr lang="hu-HU" sz="2800" dirty="0" err="1">
                <a:solidFill>
                  <a:srgbClr val="012851"/>
                </a:solidFill>
                <a:latin typeface="Ubuntu" panose="020B0504030602030204" pitchFamily="34" charset="0"/>
              </a:rPr>
              <a:t>substitutions</a:t>
            </a:r>
            <a:endParaRPr lang="hu-HU" sz="2800" dirty="0">
              <a:solidFill>
                <a:srgbClr val="012851"/>
              </a:solidFill>
              <a:latin typeface="Ubuntu" panose="020B0504030602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2800" dirty="0" err="1">
                <a:solidFill>
                  <a:srgbClr val="012851"/>
                </a:solidFill>
                <a:latin typeface="Ubuntu" panose="020B0504030602030204" pitchFamily="34" charset="0"/>
              </a:rPr>
              <a:t>Using</a:t>
            </a:r>
            <a:r>
              <a:rPr lang="hu-HU" sz="2800" dirty="0">
                <a:solidFill>
                  <a:srgbClr val="012851"/>
                </a:solidFill>
                <a:latin typeface="Ubuntu" panose="020B0504030602030204" pitchFamily="34" charset="0"/>
              </a:rPr>
              <a:t> </a:t>
            </a:r>
            <a:r>
              <a:rPr lang="hu-HU" sz="2800" dirty="0" err="1">
                <a:solidFill>
                  <a:srgbClr val="012851"/>
                </a:solidFill>
                <a:latin typeface="Ubuntu" panose="020B0504030602030204" pitchFamily="34" charset="0"/>
              </a:rPr>
              <a:t>strict</a:t>
            </a:r>
            <a:r>
              <a:rPr lang="hu-HU" sz="2800" dirty="0">
                <a:solidFill>
                  <a:srgbClr val="012851"/>
                </a:solidFill>
                <a:latin typeface="Ubuntu" panose="020B0504030602030204" pitchFamily="34" charset="0"/>
              </a:rPr>
              <a:t> </a:t>
            </a:r>
            <a:r>
              <a:rPr lang="hu-HU" sz="2800" dirty="0" err="1">
                <a:solidFill>
                  <a:srgbClr val="012851"/>
                </a:solidFill>
                <a:latin typeface="Ubuntu" panose="020B0504030602030204" pitchFamily="34" charset="0"/>
              </a:rPr>
              <a:t>data</a:t>
            </a:r>
            <a:r>
              <a:rPr lang="hu-HU" sz="2800" dirty="0">
                <a:solidFill>
                  <a:srgbClr val="012851"/>
                </a:solidFill>
                <a:latin typeface="Ubuntu" panose="020B0504030602030204" pitchFamily="34" charset="0"/>
              </a:rPr>
              <a:t> </a:t>
            </a:r>
            <a:r>
              <a:rPr lang="hu-HU" sz="2800" dirty="0" err="1">
                <a:solidFill>
                  <a:srgbClr val="012851"/>
                </a:solidFill>
                <a:latin typeface="Ubuntu" panose="020B0504030602030204" pitchFamily="34" charset="0"/>
              </a:rPr>
              <a:t>structures</a:t>
            </a:r>
            <a:endParaRPr lang="hu-HU" sz="2800" dirty="0">
              <a:solidFill>
                <a:srgbClr val="012851"/>
              </a:solidFill>
              <a:latin typeface="Ubuntu" panose="020B0504030602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2800" dirty="0" err="1">
                <a:solidFill>
                  <a:srgbClr val="012851"/>
                </a:solidFill>
                <a:latin typeface="Ubuntu" panose="020B0504030602030204" pitchFamily="34" charset="0"/>
              </a:rPr>
              <a:t>Simplifying</a:t>
            </a:r>
            <a:r>
              <a:rPr lang="hu-HU" sz="2800" dirty="0">
                <a:solidFill>
                  <a:srgbClr val="012851"/>
                </a:solidFill>
                <a:latin typeface="Ubuntu" panose="020B0504030602030204" pitchFamily="34" charset="0"/>
              </a:rPr>
              <a:t> </a:t>
            </a:r>
            <a:r>
              <a:rPr lang="hu-HU" sz="2800" dirty="0" err="1">
                <a:solidFill>
                  <a:srgbClr val="012851"/>
                </a:solidFill>
                <a:latin typeface="Ubuntu" panose="020B0504030602030204" pitchFamily="34" charset="0"/>
              </a:rPr>
              <a:t>substitution</a:t>
            </a:r>
            <a:endParaRPr lang="hu-HU" sz="2800" dirty="0">
              <a:solidFill>
                <a:srgbClr val="012851"/>
              </a:solidFill>
              <a:latin typeface="Ubuntu" panose="020B0504030602030204" pitchFamily="34" charset="0"/>
            </a:endParaRPr>
          </a:p>
          <a:p>
            <a:endParaRPr lang="hu-HU" sz="2800" dirty="0">
              <a:solidFill>
                <a:srgbClr val="012851"/>
              </a:solidFill>
              <a:latin typeface="Ubuntu" panose="020B0504030602030204" pitchFamily="34" charset="0"/>
            </a:endParaRPr>
          </a:p>
          <a:p>
            <a:r>
              <a:rPr lang="hu-HU" sz="2800" dirty="0" err="1">
                <a:solidFill>
                  <a:srgbClr val="012851"/>
                </a:solidFill>
                <a:latin typeface="Ubuntu" panose="020B0504030602030204" pitchFamily="34" charset="0"/>
              </a:rPr>
              <a:t>Further</a:t>
            </a:r>
            <a:r>
              <a:rPr lang="hu-HU" sz="2800" dirty="0">
                <a:solidFill>
                  <a:srgbClr val="012851"/>
                </a:solidFill>
                <a:latin typeface="Ubuntu" panose="020B0504030602030204" pitchFamily="34" charset="0"/>
              </a:rPr>
              <a:t> </a:t>
            </a:r>
            <a:r>
              <a:rPr lang="hu-HU" sz="2800" dirty="0" err="1">
                <a:solidFill>
                  <a:srgbClr val="012851"/>
                </a:solidFill>
                <a:latin typeface="Ubuntu" panose="020B0504030602030204" pitchFamily="34" charset="0"/>
              </a:rPr>
              <a:t>possible</a:t>
            </a:r>
            <a:r>
              <a:rPr lang="hu-HU" sz="2800" dirty="0">
                <a:solidFill>
                  <a:srgbClr val="012851"/>
                </a:solidFill>
                <a:latin typeface="Ubuntu" panose="020B0504030602030204" pitchFamily="34" charset="0"/>
              </a:rPr>
              <a:t> </a:t>
            </a:r>
            <a:r>
              <a:rPr lang="hu-HU" sz="2800" dirty="0" err="1">
                <a:solidFill>
                  <a:srgbClr val="012851"/>
                </a:solidFill>
                <a:latin typeface="Ubuntu" panose="020B0504030602030204" pitchFamily="34" charset="0"/>
              </a:rPr>
              <a:t>improvements</a:t>
            </a:r>
            <a:r>
              <a:rPr lang="hu-HU" sz="2800" dirty="0">
                <a:solidFill>
                  <a:srgbClr val="012851"/>
                </a:solidFill>
                <a:latin typeface="Ubuntu" panose="020B0504030602030204" pitchFamily="34" charset="0"/>
              </a:rPr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2800" dirty="0" err="1">
                <a:solidFill>
                  <a:srgbClr val="012851"/>
                </a:solidFill>
                <a:latin typeface="Ubuntu" panose="020B0504030602030204" pitchFamily="34" charset="0"/>
              </a:rPr>
              <a:t>Using</a:t>
            </a:r>
            <a:r>
              <a:rPr lang="hu-HU" sz="2800" dirty="0">
                <a:solidFill>
                  <a:srgbClr val="012851"/>
                </a:solidFill>
                <a:latin typeface="Ubuntu" panose="020B0504030602030204" pitchFamily="34" charset="0"/>
              </a:rPr>
              <a:t> </a:t>
            </a:r>
            <a:r>
              <a:rPr lang="hu-HU" sz="2800" dirty="0" err="1">
                <a:solidFill>
                  <a:srgbClr val="012851"/>
                </a:solidFill>
                <a:latin typeface="Ubuntu" panose="020B0504030602030204" pitchFamily="34" charset="0"/>
              </a:rPr>
              <a:t>environments</a:t>
            </a:r>
            <a:r>
              <a:rPr lang="hu-HU" sz="2800" dirty="0">
                <a:solidFill>
                  <a:srgbClr val="012851"/>
                </a:solidFill>
                <a:latin typeface="Ubuntu" panose="020B0504030602030204" pitchFamily="34" charset="0"/>
              </a:rPr>
              <a:t> </a:t>
            </a:r>
            <a:r>
              <a:rPr lang="hu-HU" sz="2800" dirty="0" err="1">
                <a:solidFill>
                  <a:srgbClr val="012851"/>
                </a:solidFill>
                <a:latin typeface="Ubuntu" panose="020B0504030602030204" pitchFamily="34" charset="0"/>
              </a:rPr>
              <a:t>instead</a:t>
            </a:r>
            <a:r>
              <a:rPr lang="hu-HU" sz="2800" dirty="0">
                <a:solidFill>
                  <a:srgbClr val="012851"/>
                </a:solidFill>
                <a:latin typeface="Ubuntu" panose="020B0504030602030204" pitchFamily="34" charset="0"/>
              </a:rPr>
              <a:t> of </a:t>
            </a:r>
            <a:r>
              <a:rPr lang="hu-HU" sz="2800" dirty="0" err="1">
                <a:solidFill>
                  <a:srgbClr val="012851"/>
                </a:solidFill>
                <a:latin typeface="Ubuntu" panose="020B0504030602030204" pitchFamily="34" charset="0"/>
              </a:rPr>
              <a:t>substitutions</a:t>
            </a:r>
            <a:endParaRPr lang="hu-HU" sz="2800" dirty="0">
              <a:solidFill>
                <a:srgbClr val="012851"/>
              </a:solidFill>
              <a:latin typeface="Ubuntu" panose="020B0504030602030204" pitchFamily="34" charset="0"/>
            </a:endParaRPr>
          </a:p>
          <a:p>
            <a:endParaRPr lang="hu-HU" sz="2800" dirty="0">
              <a:solidFill>
                <a:srgbClr val="012851"/>
              </a:solidFill>
              <a:latin typeface="Ubuntu" panose="020B05040306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54272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AB1141-2850-D0B0-E219-7F03B5118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zövegdoboz 2">
            <a:extLst>
              <a:ext uri="{FF2B5EF4-FFF2-40B4-BE49-F238E27FC236}">
                <a16:creationId xmlns:a16="http://schemas.microsoft.com/office/drawing/2014/main" id="{2DC22DAA-085B-382F-5B9F-C6EBA99F20D5}"/>
              </a:ext>
            </a:extLst>
          </p:cNvPr>
          <p:cNvSpPr txBox="1"/>
          <p:nvPr/>
        </p:nvSpPr>
        <p:spPr>
          <a:xfrm>
            <a:off x="838200" y="399495"/>
            <a:ext cx="10515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600" noProof="0" dirty="0">
                <a:solidFill>
                  <a:srgbClr val="01285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 </a:t>
            </a:r>
            <a:r>
              <a:rPr lang="hu-HU" sz="3600" noProof="0" dirty="0" err="1">
                <a:solidFill>
                  <a:srgbClr val="01285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verified</a:t>
            </a:r>
            <a:r>
              <a:rPr lang="hu-HU" sz="3600" dirty="0">
                <a:solidFill>
                  <a:srgbClr val="01285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hu-HU" sz="3600" dirty="0" err="1">
                <a:solidFill>
                  <a:srgbClr val="01285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optimising</a:t>
            </a:r>
            <a:r>
              <a:rPr lang="hu-HU" sz="3600" noProof="0" dirty="0">
                <a:solidFill>
                  <a:srgbClr val="01285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hu-HU" sz="3600" noProof="0" dirty="0" err="1">
                <a:solidFill>
                  <a:srgbClr val="01285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compiler</a:t>
            </a:r>
            <a:r>
              <a:rPr lang="hu-HU" sz="3600" noProof="0" dirty="0">
                <a:solidFill>
                  <a:srgbClr val="01285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hu-HU" sz="3600" noProof="0" dirty="0" err="1">
                <a:solidFill>
                  <a:srgbClr val="01285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for</a:t>
            </a:r>
            <a:r>
              <a:rPr lang="hu-HU" sz="3600" noProof="0" dirty="0">
                <a:solidFill>
                  <a:srgbClr val="01285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hu-HU" sz="3600" noProof="0" dirty="0" err="1">
                <a:solidFill>
                  <a:srgbClr val="01285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Erlang</a:t>
            </a:r>
            <a:endParaRPr lang="en-GB" sz="3600" noProof="0" dirty="0">
              <a:solidFill>
                <a:srgbClr val="012851"/>
              </a:solidFill>
              <a:latin typeface="Ubuntu" panose="020B050403060203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6" name="Egyenes összekötő 5">
            <a:extLst>
              <a:ext uri="{FF2B5EF4-FFF2-40B4-BE49-F238E27FC236}">
                <a16:creationId xmlns:a16="http://schemas.microsoft.com/office/drawing/2014/main" id="{9B880140-BC79-FAED-9BB7-DDB8B2F7B849}"/>
              </a:ext>
            </a:extLst>
          </p:cNvPr>
          <p:cNvCxnSpPr/>
          <p:nvPr/>
        </p:nvCxnSpPr>
        <p:spPr>
          <a:xfrm>
            <a:off x="838200" y="1145220"/>
            <a:ext cx="10676138" cy="0"/>
          </a:xfrm>
          <a:prstGeom prst="line">
            <a:avLst/>
          </a:prstGeom>
          <a:ln>
            <a:solidFill>
              <a:srgbClr val="0128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zövegdoboz 7">
            <a:extLst>
              <a:ext uri="{FF2B5EF4-FFF2-40B4-BE49-F238E27FC236}">
                <a16:creationId xmlns:a16="http://schemas.microsoft.com/office/drawing/2014/main" id="{A95E0224-73C7-1F71-E826-E579830DC47E}"/>
              </a:ext>
            </a:extLst>
          </p:cNvPr>
          <p:cNvSpPr txBox="1"/>
          <p:nvPr/>
        </p:nvSpPr>
        <p:spPr>
          <a:xfrm>
            <a:off x="838200" y="5317576"/>
            <a:ext cx="1011847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800" dirty="0">
                <a:solidFill>
                  <a:srgbClr val="012851"/>
                </a:solidFill>
                <a:latin typeface="Ubuntu" panose="020B0504030602030204" pitchFamily="34" charset="0"/>
              </a:rPr>
              <a:t>☂️ NKKP STARTING</a:t>
            </a:r>
          </a:p>
          <a:p>
            <a:r>
              <a:rPr lang="hu-HU" sz="2800" dirty="0">
                <a:solidFill>
                  <a:srgbClr val="012851"/>
                </a:solidFill>
                <a:latin typeface="Ubuntu" panose="020B0504030602030204" pitchFamily="34" charset="0"/>
              </a:rPr>
              <a:t>👥 D. </a:t>
            </a:r>
            <a:r>
              <a:rPr lang="hu-HU" sz="2800" dirty="0" err="1">
                <a:solidFill>
                  <a:srgbClr val="012851"/>
                </a:solidFill>
                <a:latin typeface="Ubuntu" panose="020B0504030602030204" pitchFamily="34" charset="0"/>
              </a:rPr>
              <a:t>Horpácsi</a:t>
            </a:r>
            <a:r>
              <a:rPr lang="hu-HU" sz="2800" dirty="0">
                <a:solidFill>
                  <a:srgbClr val="012851"/>
                </a:solidFill>
                <a:latin typeface="Ubuntu" panose="020B0504030602030204" pitchFamily="34" charset="0"/>
              </a:rPr>
              <a:t>, P. Bereczky, D. Lukács, G. Turán, S. Thompson</a:t>
            </a:r>
          </a:p>
        </p:txBody>
      </p:sp>
      <p:sp>
        <p:nvSpPr>
          <p:cNvPr id="23" name="Téglalap: lekerekített 22">
            <a:extLst>
              <a:ext uri="{FF2B5EF4-FFF2-40B4-BE49-F238E27FC236}">
                <a16:creationId xmlns:a16="http://schemas.microsoft.com/office/drawing/2014/main" id="{DAE4A4DB-CCF9-B219-6641-AE7D29CDF050}"/>
              </a:ext>
            </a:extLst>
          </p:cNvPr>
          <p:cNvSpPr>
            <a:spLocks noChangeAspect="1"/>
          </p:cNvSpPr>
          <p:nvPr/>
        </p:nvSpPr>
        <p:spPr>
          <a:xfrm>
            <a:off x="1185672" y="1513873"/>
            <a:ext cx="1520952" cy="1150955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noProof="0" dirty="0">
                <a:solidFill>
                  <a:schemeClr val="accent4">
                    <a:lumMod val="40000"/>
                    <a:lumOff val="60000"/>
                  </a:schemeClr>
                </a:solidFill>
                <a:latin typeface="Ubuntu" panose="020B0504030602030204" pitchFamily="34" charset="0"/>
              </a:rPr>
              <a:t>Erlang source code</a:t>
            </a:r>
          </a:p>
        </p:txBody>
      </p:sp>
      <p:sp>
        <p:nvSpPr>
          <p:cNvPr id="25" name="Téglalap: lekerekített 24">
            <a:extLst>
              <a:ext uri="{FF2B5EF4-FFF2-40B4-BE49-F238E27FC236}">
                <a16:creationId xmlns:a16="http://schemas.microsoft.com/office/drawing/2014/main" id="{34275E49-49E1-7FF0-80C3-152C7E630850}"/>
              </a:ext>
            </a:extLst>
          </p:cNvPr>
          <p:cNvSpPr>
            <a:spLocks noChangeAspect="1"/>
          </p:cNvSpPr>
          <p:nvPr/>
        </p:nvSpPr>
        <p:spPr>
          <a:xfrm>
            <a:off x="3904488" y="1513873"/>
            <a:ext cx="1520953" cy="1142049"/>
          </a:xfrm>
          <a:prstGeom prst="round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noProof="0" dirty="0">
                <a:solidFill>
                  <a:srgbClr val="012851"/>
                </a:solidFill>
                <a:latin typeface="Ubuntu" panose="020B0504030602030204" pitchFamily="34" charset="0"/>
              </a:rPr>
              <a:t>Core Erlang</a:t>
            </a:r>
          </a:p>
        </p:txBody>
      </p:sp>
      <p:cxnSp>
        <p:nvCxnSpPr>
          <p:cNvPr id="26" name="Egyenes összekötő nyíllal 25">
            <a:extLst>
              <a:ext uri="{FF2B5EF4-FFF2-40B4-BE49-F238E27FC236}">
                <a16:creationId xmlns:a16="http://schemas.microsoft.com/office/drawing/2014/main" id="{FEFFA0B2-C8E2-29A0-5299-626D10744ECA}"/>
              </a:ext>
            </a:extLst>
          </p:cNvPr>
          <p:cNvCxnSpPr>
            <a:cxnSpLocks noChangeAspect="1"/>
            <a:stCxn id="23" idx="3"/>
            <a:endCxn id="25" idx="1"/>
          </p:cNvCxnSpPr>
          <p:nvPr/>
        </p:nvCxnSpPr>
        <p:spPr>
          <a:xfrm flipV="1">
            <a:off x="2706624" y="2084898"/>
            <a:ext cx="1197864" cy="4453"/>
          </a:xfrm>
          <a:prstGeom prst="straightConnector1">
            <a:avLst/>
          </a:prstGeom>
          <a:ln w="19050" cap="flat" cmpd="sng" algn="ctr">
            <a:solidFill>
              <a:schemeClr val="tx2">
                <a:lumMod val="25000"/>
                <a:lumOff val="75000"/>
              </a:schemeClr>
            </a:solidFill>
            <a:prstDash val="sysDash"/>
            <a:round/>
            <a:headEnd type="none" w="med" len="med"/>
            <a:tailEnd type="triangle" w="lg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9" name="Téglalap: lekerekített 28">
            <a:extLst>
              <a:ext uri="{FF2B5EF4-FFF2-40B4-BE49-F238E27FC236}">
                <a16:creationId xmlns:a16="http://schemas.microsoft.com/office/drawing/2014/main" id="{662170B4-B34A-A78D-14DB-39C317509836}"/>
              </a:ext>
            </a:extLst>
          </p:cNvPr>
          <p:cNvSpPr>
            <a:spLocks noChangeAspect="1"/>
          </p:cNvSpPr>
          <p:nvPr/>
        </p:nvSpPr>
        <p:spPr>
          <a:xfrm>
            <a:off x="6460394" y="1513872"/>
            <a:ext cx="1520952" cy="1142049"/>
          </a:xfrm>
          <a:prstGeom prst="round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2000" noProof="0" dirty="0" err="1">
                <a:solidFill>
                  <a:srgbClr val="012851"/>
                </a:solidFill>
                <a:latin typeface="Ubuntu" panose="020B0504030602030204" pitchFamily="34" charset="0"/>
              </a:rPr>
              <a:t>Erlang</a:t>
            </a:r>
            <a:r>
              <a:rPr lang="hu-HU" sz="2000" noProof="0" dirty="0">
                <a:solidFill>
                  <a:srgbClr val="012851"/>
                </a:solidFill>
                <a:latin typeface="Ubuntu" panose="020B0504030602030204" pitchFamily="34" charset="0"/>
              </a:rPr>
              <a:t> SSA</a:t>
            </a:r>
            <a:endParaRPr lang="en-GB" sz="2000" noProof="0" dirty="0">
              <a:solidFill>
                <a:srgbClr val="012851"/>
              </a:solidFill>
              <a:latin typeface="Ubuntu" panose="020B0504030602030204" pitchFamily="34" charset="0"/>
            </a:endParaRPr>
          </a:p>
        </p:txBody>
      </p:sp>
      <p:cxnSp>
        <p:nvCxnSpPr>
          <p:cNvPr id="30" name="Egyenes összekötő nyíllal 29">
            <a:extLst>
              <a:ext uri="{FF2B5EF4-FFF2-40B4-BE49-F238E27FC236}">
                <a16:creationId xmlns:a16="http://schemas.microsoft.com/office/drawing/2014/main" id="{4E5A062A-EF6A-EF16-D7BC-51A88A19D5BD}"/>
              </a:ext>
            </a:extLst>
          </p:cNvPr>
          <p:cNvCxnSpPr>
            <a:cxnSpLocks noChangeAspect="1"/>
            <a:stCxn id="25" idx="3"/>
            <a:endCxn id="29" idx="1"/>
          </p:cNvCxnSpPr>
          <p:nvPr/>
        </p:nvCxnSpPr>
        <p:spPr>
          <a:xfrm flipV="1">
            <a:off x="5425441" y="2084897"/>
            <a:ext cx="1034953" cy="1"/>
          </a:xfrm>
          <a:prstGeom prst="straightConnector1">
            <a:avLst/>
          </a:prstGeom>
          <a:ln w="19050" cap="flat" cmpd="sng" algn="ctr">
            <a:solidFill>
              <a:srgbClr val="385D8A"/>
            </a:solidFill>
            <a:prstDash val="solid"/>
            <a:round/>
            <a:headEnd type="none" w="med" len="med"/>
            <a:tailEnd type="triangle" w="lg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6" name="Téglalap: lekerekített 35">
            <a:extLst>
              <a:ext uri="{FF2B5EF4-FFF2-40B4-BE49-F238E27FC236}">
                <a16:creationId xmlns:a16="http://schemas.microsoft.com/office/drawing/2014/main" id="{EAEB60DC-66EC-FC4B-1A7F-14D7BC3FA5A9}"/>
              </a:ext>
            </a:extLst>
          </p:cNvPr>
          <p:cNvSpPr>
            <a:spLocks noChangeAspect="1"/>
          </p:cNvSpPr>
          <p:nvPr/>
        </p:nvSpPr>
        <p:spPr>
          <a:xfrm>
            <a:off x="9016299" y="1513871"/>
            <a:ext cx="1520952" cy="1142049"/>
          </a:xfrm>
          <a:prstGeom prst="round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2000" noProof="0" dirty="0">
                <a:solidFill>
                  <a:srgbClr val="012851"/>
                </a:solidFill>
                <a:latin typeface="Ubuntu" panose="020B0504030602030204" pitchFamily="34" charset="0"/>
              </a:rPr>
              <a:t>BEAM </a:t>
            </a:r>
            <a:r>
              <a:rPr lang="hu-HU" sz="2000" noProof="0" dirty="0" err="1">
                <a:solidFill>
                  <a:srgbClr val="012851"/>
                </a:solidFill>
                <a:latin typeface="Ubuntu" panose="020B0504030602030204" pitchFamily="34" charset="0"/>
              </a:rPr>
              <a:t>bytecode</a:t>
            </a:r>
            <a:endParaRPr lang="en-GB" sz="2000" noProof="0" dirty="0">
              <a:solidFill>
                <a:srgbClr val="012851"/>
              </a:solidFill>
              <a:latin typeface="Ubuntu" panose="020B0504030602030204" pitchFamily="34" charset="0"/>
            </a:endParaRPr>
          </a:p>
        </p:txBody>
      </p:sp>
      <p:cxnSp>
        <p:nvCxnSpPr>
          <p:cNvPr id="37" name="Egyenes összekötő nyíllal 36">
            <a:extLst>
              <a:ext uri="{FF2B5EF4-FFF2-40B4-BE49-F238E27FC236}">
                <a16:creationId xmlns:a16="http://schemas.microsoft.com/office/drawing/2014/main" id="{13519222-E60B-44D3-B147-84AA6CD37651}"/>
              </a:ext>
            </a:extLst>
          </p:cNvPr>
          <p:cNvCxnSpPr>
            <a:cxnSpLocks noChangeAspect="1"/>
            <a:stCxn id="29" idx="3"/>
            <a:endCxn id="36" idx="1"/>
          </p:cNvCxnSpPr>
          <p:nvPr/>
        </p:nvCxnSpPr>
        <p:spPr>
          <a:xfrm flipV="1">
            <a:off x="7981346" y="2084896"/>
            <a:ext cx="1034953" cy="1"/>
          </a:xfrm>
          <a:prstGeom prst="straightConnector1">
            <a:avLst/>
          </a:prstGeom>
          <a:ln w="19050" cap="flat" cmpd="sng" algn="ctr">
            <a:solidFill>
              <a:srgbClr val="385D8A"/>
            </a:solidFill>
            <a:prstDash val="solid"/>
            <a:round/>
            <a:headEnd type="none" w="med" len="med"/>
            <a:tailEnd type="triangle" w="lg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9" name="Szövegdoboz 48">
            <a:extLst>
              <a:ext uri="{FF2B5EF4-FFF2-40B4-BE49-F238E27FC236}">
                <a16:creationId xmlns:a16="http://schemas.microsoft.com/office/drawing/2014/main" id="{BE884139-043D-7DCD-EEAF-2289F2EA2987}"/>
              </a:ext>
            </a:extLst>
          </p:cNvPr>
          <p:cNvSpPr txBox="1"/>
          <p:nvPr/>
        </p:nvSpPr>
        <p:spPr>
          <a:xfrm>
            <a:off x="5445025" y="1715563"/>
            <a:ext cx="1011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i="1" dirty="0" err="1">
                <a:latin typeface="Ubuntu" panose="020B0504030602030204" pitchFamily="34" charset="0"/>
              </a:rPr>
              <a:t>compile</a:t>
            </a:r>
            <a:endParaRPr lang="en-GB" i="1" dirty="0">
              <a:latin typeface="Ubuntu" panose="020B0504030602030204" pitchFamily="34" charset="0"/>
            </a:endParaRPr>
          </a:p>
        </p:txBody>
      </p:sp>
      <p:sp>
        <p:nvSpPr>
          <p:cNvPr id="51" name="Szövegdoboz 50">
            <a:extLst>
              <a:ext uri="{FF2B5EF4-FFF2-40B4-BE49-F238E27FC236}">
                <a16:creationId xmlns:a16="http://schemas.microsoft.com/office/drawing/2014/main" id="{53BCEE8E-DBF8-1237-37A7-0C9EE99F4906}"/>
              </a:ext>
            </a:extLst>
          </p:cNvPr>
          <p:cNvSpPr txBox="1"/>
          <p:nvPr/>
        </p:nvSpPr>
        <p:spPr>
          <a:xfrm>
            <a:off x="7977792" y="1715563"/>
            <a:ext cx="1011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i="1" dirty="0" err="1">
                <a:latin typeface="Ubuntu" panose="020B0504030602030204" pitchFamily="34" charset="0"/>
              </a:rPr>
              <a:t>compile</a:t>
            </a:r>
            <a:endParaRPr lang="en-GB" i="1" dirty="0">
              <a:latin typeface="Ubuntu" panose="020B0504030602030204" pitchFamily="34" charset="0"/>
            </a:endParaRPr>
          </a:p>
        </p:txBody>
      </p:sp>
      <p:sp>
        <p:nvSpPr>
          <p:cNvPr id="71" name="Ív 70">
            <a:extLst>
              <a:ext uri="{FF2B5EF4-FFF2-40B4-BE49-F238E27FC236}">
                <a16:creationId xmlns:a16="http://schemas.microsoft.com/office/drawing/2014/main" id="{D01732DE-75AE-9778-85C5-CB5533DFBACB}"/>
              </a:ext>
            </a:extLst>
          </p:cNvPr>
          <p:cNvSpPr/>
          <p:nvPr/>
        </p:nvSpPr>
        <p:spPr>
          <a:xfrm>
            <a:off x="4436364" y="2655920"/>
            <a:ext cx="457200" cy="457200"/>
          </a:xfrm>
          <a:prstGeom prst="arc">
            <a:avLst>
              <a:gd name="adj1" fmla="val 16979677"/>
              <a:gd name="adj2" fmla="val 15130867"/>
            </a:avLst>
          </a:prstGeom>
          <a:ln w="22225">
            <a:solidFill>
              <a:srgbClr val="385D8A"/>
            </a:solidFill>
            <a:headEnd type="triangl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3" name="Ív 72">
            <a:extLst>
              <a:ext uri="{FF2B5EF4-FFF2-40B4-BE49-F238E27FC236}">
                <a16:creationId xmlns:a16="http://schemas.microsoft.com/office/drawing/2014/main" id="{94383542-4C9A-B479-2CF3-35177228538E}"/>
              </a:ext>
            </a:extLst>
          </p:cNvPr>
          <p:cNvSpPr/>
          <p:nvPr/>
        </p:nvSpPr>
        <p:spPr>
          <a:xfrm>
            <a:off x="6992270" y="2655920"/>
            <a:ext cx="457200" cy="457200"/>
          </a:xfrm>
          <a:prstGeom prst="arc">
            <a:avLst>
              <a:gd name="adj1" fmla="val 16979677"/>
              <a:gd name="adj2" fmla="val 15130867"/>
            </a:avLst>
          </a:prstGeom>
          <a:ln w="22225">
            <a:solidFill>
              <a:srgbClr val="385D8A"/>
            </a:solidFill>
            <a:headEnd type="triangl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5" name="Ív 74">
            <a:extLst>
              <a:ext uri="{FF2B5EF4-FFF2-40B4-BE49-F238E27FC236}">
                <a16:creationId xmlns:a16="http://schemas.microsoft.com/office/drawing/2014/main" id="{92CC4376-C63C-D154-16A6-BA9817B812B1}"/>
              </a:ext>
            </a:extLst>
          </p:cNvPr>
          <p:cNvSpPr/>
          <p:nvPr/>
        </p:nvSpPr>
        <p:spPr>
          <a:xfrm>
            <a:off x="9548175" y="2652967"/>
            <a:ext cx="457200" cy="457200"/>
          </a:xfrm>
          <a:prstGeom prst="arc">
            <a:avLst>
              <a:gd name="adj1" fmla="val 16979677"/>
              <a:gd name="adj2" fmla="val 15130867"/>
            </a:avLst>
          </a:prstGeom>
          <a:ln w="22225">
            <a:solidFill>
              <a:srgbClr val="385D8A"/>
            </a:solidFill>
            <a:headEnd type="triangl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7" name="Szövegdoboz 76">
            <a:extLst>
              <a:ext uri="{FF2B5EF4-FFF2-40B4-BE49-F238E27FC236}">
                <a16:creationId xmlns:a16="http://schemas.microsoft.com/office/drawing/2014/main" id="{6A51FD10-3397-7547-4C78-5B0509F69857}"/>
              </a:ext>
            </a:extLst>
          </p:cNvPr>
          <p:cNvSpPr txBox="1"/>
          <p:nvPr/>
        </p:nvSpPr>
        <p:spPr>
          <a:xfrm>
            <a:off x="4117378" y="3122028"/>
            <a:ext cx="1050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i="1" dirty="0" err="1">
                <a:latin typeface="Ubuntu" panose="020B0504030602030204" pitchFamily="34" charset="0"/>
              </a:rPr>
              <a:t>optimise</a:t>
            </a:r>
            <a:endParaRPr lang="en-GB" i="1" dirty="0">
              <a:latin typeface="Ubuntu" panose="020B0504030602030204" pitchFamily="34" charset="0"/>
            </a:endParaRPr>
          </a:p>
        </p:txBody>
      </p:sp>
      <p:sp>
        <p:nvSpPr>
          <p:cNvPr id="79" name="Szövegdoboz 78">
            <a:extLst>
              <a:ext uri="{FF2B5EF4-FFF2-40B4-BE49-F238E27FC236}">
                <a16:creationId xmlns:a16="http://schemas.microsoft.com/office/drawing/2014/main" id="{D0E92437-FFBC-334A-789E-224B578D8BAB}"/>
              </a:ext>
            </a:extLst>
          </p:cNvPr>
          <p:cNvSpPr txBox="1"/>
          <p:nvPr/>
        </p:nvSpPr>
        <p:spPr>
          <a:xfrm>
            <a:off x="6673284" y="3113120"/>
            <a:ext cx="1050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i="1" dirty="0" err="1">
                <a:latin typeface="Ubuntu" panose="020B0504030602030204" pitchFamily="34" charset="0"/>
              </a:rPr>
              <a:t>optimise</a:t>
            </a:r>
            <a:endParaRPr lang="en-GB" i="1" dirty="0">
              <a:latin typeface="Ubuntu" panose="020B0504030602030204" pitchFamily="34" charset="0"/>
            </a:endParaRPr>
          </a:p>
        </p:txBody>
      </p:sp>
      <p:sp>
        <p:nvSpPr>
          <p:cNvPr id="81" name="Szövegdoboz 80">
            <a:extLst>
              <a:ext uri="{FF2B5EF4-FFF2-40B4-BE49-F238E27FC236}">
                <a16:creationId xmlns:a16="http://schemas.microsoft.com/office/drawing/2014/main" id="{DFD87F06-5635-99F5-6C32-157FBE5D315F}"/>
              </a:ext>
            </a:extLst>
          </p:cNvPr>
          <p:cNvSpPr txBox="1"/>
          <p:nvPr/>
        </p:nvSpPr>
        <p:spPr>
          <a:xfrm>
            <a:off x="9229190" y="3122028"/>
            <a:ext cx="1050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i="1" dirty="0" err="1">
                <a:latin typeface="Ubuntu" panose="020B0504030602030204" pitchFamily="34" charset="0"/>
              </a:rPr>
              <a:t>optimise</a:t>
            </a:r>
            <a:endParaRPr lang="en-GB" i="1" dirty="0">
              <a:latin typeface="Ubuntu" panose="020B050403060203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2" name="Szövegdoboz 81">
                <a:extLst>
                  <a:ext uri="{FF2B5EF4-FFF2-40B4-BE49-F238E27FC236}">
                    <a16:creationId xmlns:a16="http://schemas.microsoft.com/office/drawing/2014/main" id="{D26D9355-E7B4-D9B0-9167-519B8AFBBB6B}"/>
                  </a:ext>
                </a:extLst>
              </p:cNvPr>
              <p:cNvSpPr txBox="1"/>
              <p:nvPr/>
            </p:nvSpPr>
            <p:spPr>
              <a:xfrm>
                <a:off x="3125251" y="3881003"/>
                <a:ext cx="5941498" cy="984885"/>
              </a:xfrm>
              <a:prstGeom prst="rect">
                <a:avLst/>
              </a:prstGeom>
              <a:noFill/>
              <a:ln w="19050">
                <a:solidFill>
                  <a:srgbClr val="012851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r>
                        <a:rPr lang="en-GB" sz="3200" i="1" smtClean="0">
                          <a:solidFill>
                            <a:srgbClr val="01285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n-GB" sz="3200" i="1" smtClean="0">
                          <a:solidFill>
                            <a:srgbClr val="01285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</m:t>
                      </m:r>
                      <m:r>
                        <a:rPr lang="en-GB" sz="3200" i="1" smtClean="0">
                          <a:solidFill>
                            <a:srgbClr val="01285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GB" sz="3200" i="1" smtClean="0">
                          <a:solidFill>
                            <a:srgbClr val="01285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𝐷</m:t>
                      </m:r>
                      <m:r>
                        <a:rPr lang="en-GB" sz="3200" i="1" smtClean="0">
                          <a:solidFill>
                            <a:srgbClr val="01285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:</m:t>
                      </m:r>
                      <m:r>
                        <a:rPr lang="en-GB" sz="3200" i="1" smtClean="0">
                          <a:solidFill>
                            <a:srgbClr val="01285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𝑐𝑜𝑚𝑝𝑖𝑙𝑒</m:t>
                      </m:r>
                      <m:d>
                        <m:dPr>
                          <m:ctrlPr>
                            <a:rPr lang="en-GB" sz="3200" i="1" smtClean="0">
                              <a:solidFill>
                                <a:srgbClr val="01285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200" i="1" smtClean="0">
                              <a:solidFill>
                                <a:srgbClr val="01285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  <m:r>
                        <a:rPr lang="en-GB" sz="3200" i="1" smtClean="0">
                          <a:solidFill>
                            <a:srgbClr val="01285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GB" sz="3200" i="1" smtClean="0">
                          <a:solidFill>
                            <a:srgbClr val="01285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𝐷</m:t>
                      </m:r>
                      <m:r>
                        <a:rPr lang="en-GB" sz="3200" i="1" smtClean="0">
                          <a:solidFill>
                            <a:srgbClr val="01285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GB" sz="3200" i="1" smtClean="0">
                          <a:solidFill>
                            <a:srgbClr val="01285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</m:t>
                      </m:r>
                      <m:r>
                        <a:rPr lang="en-GB" sz="3200" i="1" smtClean="0">
                          <a:solidFill>
                            <a:srgbClr val="01285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GB" sz="3200" i="1" smtClean="0">
                          <a:solidFill>
                            <a:srgbClr val="01285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hu-HU" sz="3200" b="0" dirty="0">
                  <a:solidFill>
                    <a:srgbClr val="012851"/>
                  </a:solidFill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GB" sz="3200" i="1">
                          <a:solidFill>
                            <a:srgbClr val="01285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n-GB" sz="3200" i="1">
                          <a:solidFill>
                            <a:srgbClr val="01285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</m:t>
                      </m:r>
                      <m:r>
                        <a:rPr lang="en-GB" sz="3200" i="1">
                          <a:solidFill>
                            <a:srgbClr val="01285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GB" sz="3200" i="1">
                          <a:solidFill>
                            <a:srgbClr val="01285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𝐷</m:t>
                      </m:r>
                      <m:r>
                        <a:rPr lang="en-GB" sz="3200" i="1">
                          <a:solidFill>
                            <a:srgbClr val="01285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:</m:t>
                      </m:r>
                      <m:r>
                        <a:rPr lang="hu-HU" sz="3200" b="0" i="1" smtClean="0">
                          <a:solidFill>
                            <a:srgbClr val="01285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𝑜𝑝𝑡𝑖𝑚𝑖𝑠𝑒</m:t>
                      </m:r>
                      <m:d>
                        <m:dPr>
                          <m:ctrlPr>
                            <a:rPr lang="en-GB" sz="3200" i="1">
                              <a:solidFill>
                                <a:srgbClr val="01285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200" i="1">
                              <a:solidFill>
                                <a:srgbClr val="01285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  <m:r>
                        <a:rPr lang="en-GB" sz="3200" i="1">
                          <a:solidFill>
                            <a:srgbClr val="01285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GB" sz="3200" i="1">
                          <a:solidFill>
                            <a:srgbClr val="01285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𝐷</m:t>
                      </m:r>
                      <m:r>
                        <a:rPr lang="en-GB" sz="3200" i="1">
                          <a:solidFill>
                            <a:srgbClr val="01285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GB" sz="3200" i="1">
                          <a:solidFill>
                            <a:srgbClr val="01285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</m:t>
                      </m:r>
                      <m:r>
                        <a:rPr lang="en-GB" sz="3200" i="1">
                          <a:solidFill>
                            <a:srgbClr val="01285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GB" sz="3200" i="1">
                          <a:solidFill>
                            <a:srgbClr val="01285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hu-HU" sz="3200" dirty="0">
                  <a:solidFill>
                    <a:srgbClr val="012851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82" name="Szövegdoboz 81">
                <a:extLst>
                  <a:ext uri="{FF2B5EF4-FFF2-40B4-BE49-F238E27FC236}">
                    <a16:creationId xmlns:a16="http://schemas.microsoft.com/office/drawing/2014/main" id="{D26D9355-E7B4-D9B0-9167-519B8AFBBB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5251" y="3881003"/>
                <a:ext cx="5941498" cy="98488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19050">
                <a:solidFill>
                  <a:srgbClr val="01285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498098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  <p:bldP spid="23" grpId="0" animBg="1"/>
      <p:bldP spid="25" grpId="0" animBg="1"/>
      <p:bldP spid="29" grpId="0" animBg="1"/>
      <p:bldP spid="36" grpId="0" animBg="1"/>
      <p:bldP spid="49" grpId="0"/>
      <p:bldP spid="51" grpId="0"/>
      <p:bldP spid="71" grpId="0" animBg="1"/>
      <p:bldP spid="73" grpId="0" animBg="1"/>
      <p:bldP spid="75" grpId="0" animBg="1"/>
      <p:bldP spid="77" grpId="0"/>
      <p:bldP spid="79" grpId="0"/>
      <p:bldP spid="81" grpId="0"/>
      <p:bldP spid="82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15FEFC9-5623-729F-2C29-D8FBE27798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zövegdoboz 2">
            <a:extLst>
              <a:ext uri="{FF2B5EF4-FFF2-40B4-BE49-F238E27FC236}">
                <a16:creationId xmlns:a16="http://schemas.microsoft.com/office/drawing/2014/main" id="{998DC318-955A-851D-B9CD-31CB4B7BAE18}"/>
              </a:ext>
            </a:extLst>
          </p:cNvPr>
          <p:cNvSpPr txBox="1"/>
          <p:nvPr/>
        </p:nvSpPr>
        <p:spPr>
          <a:xfrm>
            <a:off x="838200" y="399495"/>
            <a:ext cx="10515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600" noProof="0" dirty="0" err="1">
                <a:solidFill>
                  <a:srgbClr val="01285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Current</a:t>
            </a:r>
            <a:r>
              <a:rPr lang="hu-HU" sz="3600" noProof="0" dirty="0">
                <a:solidFill>
                  <a:srgbClr val="01285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hu-HU" sz="3600" noProof="0" dirty="0" err="1">
                <a:solidFill>
                  <a:srgbClr val="01285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work</a:t>
            </a:r>
            <a:r>
              <a:rPr lang="hu-HU" sz="3600" noProof="0" dirty="0">
                <a:solidFill>
                  <a:srgbClr val="01285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a </a:t>
            </a:r>
            <a:r>
              <a:rPr lang="hu-HU" sz="3600" noProof="0" dirty="0" err="1">
                <a:solidFill>
                  <a:srgbClr val="01285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verified</a:t>
            </a:r>
            <a:r>
              <a:rPr lang="hu-HU" sz="3600" noProof="0" dirty="0">
                <a:solidFill>
                  <a:srgbClr val="01285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hu-HU" sz="3600" noProof="0" dirty="0" err="1">
                <a:solidFill>
                  <a:srgbClr val="01285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compiler</a:t>
            </a:r>
            <a:r>
              <a:rPr lang="hu-HU" sz="3600" noProof="0" dirty="0">
                <a:solidFill>
                  <a:srgbClr val="01285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hu-HU" sz="3600" noProof="0" dirty="0" err="1">
                <a:solidFill>
                  <a:srgbClr val="01285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for</a:t>
            </a:r>
            <a:r>
              <a:rPr lang="hu-HU" sz="3600" noProof="0" dirty="0">
                <a:solidFill>
                  <a:srgbClr val="01285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hu-HU" sz="3600" noProof="0" dirty="0" err="1">
                <a:solidFill>
                  <a:srgbClr val="01285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Erlang</a:t>
            </a:r>
            <a:endParaRPr lang="en-GB" sz="3600" noProof="0" dirty="0">
              <a:solidFill>
                <a:srgbClr val="012851"/>
              </a:solidFill>
              <a:latin typeface="Ubuntu" panose="020B050403060203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6" name="Egyenes összekötő 5">
            <a:extLst>
              <a:ext uri="{FF2B5EF4-FFF2-40B4-BE49-F238E27FC236}">
                <a16:creationId xmlns:a16="http://schemas.microsoft.com/office/drawing/2014/main" id="{4C491D7E-B50D-FBC1-5E8E-515B7A82A50F}"/>
              </a:ext>
            </a:extLst>
          </p:cNvPr>
          <p:cNvCxnSpPr/>
          <p:nvPr/>
        </p:nvCxnSpPr>
        <p:spPr>
          <a:xfrm>
            <a:off x="838200" y="1145220"/>
            <a:ext cx="10676138" cy="0"/>
          </a:xfrm>
          <a:prstGeom prst="line">
            <a:avLst/>
          </a:prstGeom>
          <a:ln>
            <a:solidFill>
              <a:srgbClr val="0128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zövegdoboz 7">
            <a:extLst>
              <a:ext uri="{FF2B5EF4-FFF2-40B4-BE49-F238E27FC236}">
                <a16:creationId xmlns:a16="http://schemas.microsoft.com/office/drawing/2014/main" id="{4C02C75F-485D-F503-B934-82B18DDA82C4}"/>
              </a:ext>
            </a:extLst>
          </p:cNvPr>
          <p:cNvSpPr txBox="1"/>
          <p:nvPr/>
        </p:nvSpPr>
        <p:spPr>
          <a:xfrm>
            <a:off x="838200" y="5317576"/>
            <a:ext cx="1011847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800" dirty="0">
                <a:solidFill>
                  <a:srgbClr val="012851"/>
                </a:solidFill>
                <a:latin typeface="Ubuntu" panose="020B0504030602030204" pitchFamily="34" charset="0"/>
              </a:rPr>
              <a:t>☂️ NKKP STARTING</a:t>
            </a:r>
          </a:p>
          <a:p>
            <a:r>
              <a:rPr lang="hu-HU" sz="2800" dirty="0">
                <a:solidFill>
                  <a:srgbClr val="012851"/>
                </a:solidFill>
                <a:latin typeface="Ubuntu" panose="020B0504030602030204" pitchFamily="34" charset="0"/>
              </a:rPr>
              <a:t>👥 D. </a:t>
            </a:r>
            <a:r>
              <a:rPr lang="hu-HU" sz="2800" dirty="0" err="1">
                <a:solidFill>
                  <a:srgbClr val="012851"/>
                </a:solidFill>
                <a:latin typeface="Ubuntu" panose="020B0504030602030204" pitchFamily="34" charset="0"/>
              </a:rPr>
              <a:t>Horpácsi</a:t>
            </a:r>
            <a:r>
              <a:rPr lang="hu-HU" sz="2800" dirty="0">
                <a:solidFill>
                  <a:srgbClr val="012851"/>
                </a:solidFill>
                <a:latin typeface="Ubuntu" panose="020B0504030602030204" pitchFamily="34" charset="0"/>
              </a:rPr>
              <a:t>, P. Bereczky, D. Lukács, G. Turán, S. Thompson</a:t>
            </a:r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A665EA0E-58EC-79CE-A358-96599E8694E6}"/>
              </a:ext>
            </a:extLst>
          </p:cNvPr>
          <p:cNvSpPr txBox="1"/>
          <p:nvPr/>
        </p:nvSpPr>
        <p:spPr>
          <a:xfrm>
            <a:off x="222504" y="2724026"/>
            <a:ext cx="2718816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1400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fact(N) when N == 0 -&gt; 1;</a:t>
            </a:r>
          </a:p>
          <a:p>
            <a:r>
              <a:rPr lang="en-GB" sz="1400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fact(N) -&gt; N * fact(N - 1).</a:t>
            </a:r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06F03728-E238-5F5D-1C94-73A37A5A7F0D}"/>
              </a:ext>
            </a:extLst>
          </p:cNvPr>
          <p:cNvSpPr txBox="1"/>
          <p:nvPr/>
        </p:nvSpPr>
        <p:spPr>
          <a:xfrm>
            <a:off x="3268538" y="2077695"/>
            <a:ext cx="4149090" cy="181588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1400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'fact'/1 = fun (_0) -&gt;</a:t>
            </a:r>
            <a:endParaRPr lang="hu-HU" sz="1400" dirty="0">
              <a:latin typeface="CMU Typewriter Text" panose="02000609000000000000" pitchFamily="50" charset="0"/>
              <a:ea typeface="CMU Typewriter Text" panose="02000609000000000000" pitchFamily="50" charset="0"/>
              <a:cs typeface="CMU Typewriter Text" panose="02000609000000000000" pitchFamily="50" charset="0"/>
            </a:endParaRPr>
          </a:p>
          <a:p>
            <a:r>
              <a:rPr lang="hu-HU" sz="1400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  </a:t>
            </a:r>
            <a:r>
              <a:rPr lang="en-GB" sz="1400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case _0 of</a:t>
            </a:r>
            <a:endParaRPr lang="hu-HU" sz="1400" dirty="0">
              <a:latin typeface="CMU Typewriter Text" panose="02000609000000000000" pitchFamily="50" charset="0"/>
              <a:ea typeface="CMU Typewriter Text" panose="02000609000000000000" pitchFamily="50" charset="0"/>
              <a:cs typeface="CMU Typewriter Text" panose="02000609000000000000" pitchFamily="50" charset="0"/>
            </a:endParaRPr>
          </a:p>
          <a:p>
            <a:r>
              <a:rPr lang="hu-HU" sz="1400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    </a:t>
            </a:r>
            <a:r>
              <a:rPr lang="en-GB" sz="1400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&lt;N&gt; when call 'erlang':'=='(_0,0) -&gt; 1</a:t>
            </a:r>
            <a:endParaRPr lang="hu-HU" sz="1400" dirty="0">
              <a:latin typeface="CMU Typewriter Text" panose="02000609000000000000" pitchFamily="50" charset="0"/>
              <a:ea typeface="CMU Typewriter Text" panose="02000609000000000000" pitchFamily="50" charset="0"/>
              <a:cs typeface="CMU Typewriter Text" panose="02000609000000000000" pitchFamily="50" charset="0"/>
            </a:endParaRPr>
          </a:p>
          <a:p>
            <a:r>
              <a:rPr lang="hu-HU" sz="1400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    </a:t>
            </a:r>
            <a:r>
              <a:rPr lang="en-GB" sz="1400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&lt;N&gt; when 'true’ -&gt;</a:t>
            </a:r>
            <a:endParaRPr lang="hu-HU" sz="1400" dirty="0">
              <a:latin typeface="CMU Typewriter Text" panose="02000609000000000000" pitchFamily="50" charset="0"/>
              <a:ea typeface="CMU Typewriter Text" panose="02000609000000000000" pitchFamily="50" charset="0"/>
              <a:cs typeface="CMU Typewriter Text" panose="02000609000000000000" pitchFamily="50" charset="0"/>
            </a:endParaRPr>
          </a:p>
          <a:p>
            <a:r>
              <a:rPr lang="en-GB" sz="1400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      let &lt;_1&gt; = call 'erlang':'-'(N, 1) </a:t>
            </a:r>
            <a:endParaRPr lang="hu-HU" sz="1400" dirty="0">
              <a:latin typeface="CMU Typewriter Text" panose="02000609000000000000" pitchFamily="50" charset="0"/>
              <a:ea typeface="CMU Typewriter Text" panose="02000609000000000000" pitchFamily="50" charset="0"/>
              <a:cs typeface="CMU Typewriter Text" panose="02000609000000000000" pitchFamily="50" charset="0"/>
            </a:endParaRPr>
          </a:p>
          <a:p>
            <a:r>
              <a:rPr lang="hu-HU" sz="1400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      </a:t>
            </a:r>
            <a:r>
              <a:rPr lang="en-GB" sz="1400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in let &lt;_2&gt; = apply 'fact'/1(_1) </a:t>
            </a:r>
            <a:endParaRPr lang="hu-HU" sz="1400" dirty="0">
              <a:latin typeface="CMU Typewriter Text" panose="02000609000000000000" pitchFamily="50" charset="0"/>
              <a:ea typeface="CMU Typewriter Text" panose="02000609000000000000" pitchFamily="50" charset="0"/>
              <a:cs typeface="CMU Typewriter Text" panose="02000609000000000000" pitchFamily="50" charset="0"/>
            </a:endParaRPr>
          </a:p>
          <a:p>
            <a:r>
              <a:rPr lang="hu-HU" sz="1400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      </a:t>
            </a:r>
            <a:r>
              <a:rPr lang="en-GB" sz="1400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in call 'erlang':'*'(N, _2)</a:t>
            </a:r>
            <a:endParaRPr lang="hu-HU" sz="1400" dirty="0">
              <a:latin typeface="CMU Typewriter Text" panose="02000609000000000000" pitchFamily="50" charset="0"/>
              <a:ea typeface="CMU Typewriter Text" panose="02000609000000000000" pitchFamily="50" charset="0"/>
              <a:cs typeface="CMU Typewriter Text" panose="02000609000000000000" pitchFamily="50" charset="0"/>
            </a:endParaRPr>
          </a:p>
          <a:p>
            <a:r>
              <a:rPr lang="hu-HU" sz="1400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  </a:t>
            </a:r>
            <a:r>
              <a:rPr lang="en-GB" sz="1400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end</a:t>
            </a:r>
          </a:p>
        </p:txBody>
      </p:sp>
      <p:sp>
        <p:nvSpPr>
          <p:cNvPr id="10" name="Szövegdoboz 9">
            <a:extLst>
              <a:ext uri="{FF2B5EF4-FFF2-40B4-BE49-F238E27FC236}">
                <a16:creationId xmlns:a16="http://schemas.microsoft.com/office/drawing/2014/main" id="{FC01787E-6D3A-E882-6861-D75DD13FA7A5}"/>
              </a:ext>
            </a:extLst>
          </p:cNvPr>
          <p:cNvSpPr txBox="1"/>
          <p:nvPr/>
        </p:nvSpPr>
        <p:spPr>
          <a:xfrm>
            <a:off x="7744847" y="1539086"/>
            <a:ext cx="4224649" cy="28931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1400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{function, fact, 1, 2}.</a:t>
            </a:r>
            <a:endParaRPr lang="hu-HU" sz="1400" dirty="0">
              <a:latin typeface="CMU Typewriter Text" panose="02000609000000000000" pitchFamily="50" charset="0"/>
              <a:ea typeface="CMU Typewriter Text" panose="02000609000000000000" pitchFamily="50" charset="0"/>
              <a:cs typeface="CMU Typewriter Text" panose="02000609000000000000" pitchFamily="50" charset="0"/>
            </a:endParaRPr>
          </a:p>
          <a:p>
            <a:r>
              <a:rPr lang="hu-HU" sz="1400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  </a:t>
            </a:r>
            <a:r>
              <a:rPr lang="en-GB" sz="1400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{label,1}.</a:t>
            </a:r>
            <a:endParaRPr lang="hu-HU" sz="1400" dirty="0">
              <a:latin typeface="CMU Typewriter Text" panose="02000609000000000000" pitchFamily="50" charset="0"/>
              <a:ea typeface="CMU Typewriter Text" panose="02000609000000000000" pitchFamily="50" charset="0"/>
              <a:cs typeface="CMU Typewriter Text" panose="02000609000000000000" pitchFamily="50" charset="0"/>
            </a:endParaRPr>
          </a:p>
          <a:p>
            <a:r>
              <a:rPr lang="hu-HU" sz="1400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    </a:t>
            </a:r>
            <a:r>
              <a:rPr lang="en-GB" sz="1400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{line,[{location,"m.erl",4}]}.</a:t>
            </a:r>
            <a:endParaRPr lang="hu-HU" sz="1400" dirty="0">
              <a:latin typeface="CMU Typewriter Text" panose="02000609000000000000" pitchFamily="50" charset="0"/>
              <a:ea typeface="CMU Typewriter Text" panose="02000609000000000000" pitchFamily="50" charset="0"/>
              <a:cs typeface="CMU Typewriter Text" panose="02000609000000000000" pitchFamily="50" charset="0"/>
            </a:endParaRPr>
          </a:p>
          <a:p>
            <a:r>
              <a:rPr lang="hu-HU" sz="1400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    </a:t>
            </a:r>
            <a:r>
              <a:rPr lang="en-GB" sz="1400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{</a:t>
            </a:r>
            <a:r>
              <a:rPr lang="en-GB" sz="1400" dirty="0" err="1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func_info</a:t>
            </a:r>
            <a:r>
              <a:rPr lang="en-GB" sz="1400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,{</a:t>
            </a:r>
            <a:r>
              <a:rPr lang="en-GB" sz="1400" dirty="0" err="1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atom,m</a:t>
            </a:r>
            <a:r>
              <a:rPr lang="en-GB" sz="1400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},{</a:t>
            </a:r>
            <a:r>
              <a:rPr lang="en-GB" sz="1400" dirty="0" err="1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atom,fact</a:t>
            </a:r>
            <a:r>
              <a:rPr lang="en-GB" sz="1400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},1}.</a:t>
            </a:r>
            <a:endParaRPr lang="hu-HU" sz="1400" dirty="0">
              <a:latin typeface="CMU Typewriter Text" panose="02000609000000000000" pitchFamily="50" charset="0"/>
              <a:ea typeface="CMU Typewriter Text" panose="02000609000000000000" pitchFamily="50" charset="0"/>
              <a:cs typeface="CMU Typewriter Text" panose="02000609000000000000" pitchFamily="50" charset="0"/>
            </a:endParaRPr>
          </a:p>
          <a:p>
            <a:r>
              <a:rPr lang="hu-HU" sz="1400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  </a:t>
            </a:r>
            <a:r>
              <a:rPr lang="en-GB" sz="1400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{label,2}.</a:t>
            </a:r>
            <a:endParaRPr lang="hu-HU" sz="1400" dirty="0">
              <a:latin typeface="CMU Typewriter Text" panose="02000609000000000000" pitchFamily="50" charset="0"/>
              <a:ea typeface="CMU Typewriter Text" panose="02000609000000000000" pitchFamily="50" charset="0"/>
              <a:cs typeface="CMU Typewriter Text" panose="02000609000000000000" pitchFamily="50" charset="0"/>
            </a:endParaRPr>
          </a:p>
          <a:p>
            <a:r>
              <a:rPr lang="hu-HU" sz="1400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    </a:t>
            </a:r>
            <a:r>
              <a:rPr lang="en-GB" sz="1400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{</a:t>
            </a:r>
            <a:r>
              <a:rPr lang="en-GB" sz="1400" dirty="0" err="1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test,is_eq</a:t>
            </a:r>
            <a:r>
              <a:rPr lang="en-GB" sz="1400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,{f,3},[{x,0},{integer,0}]}.    </a:t>
            </a:r>
            <a:endParaRPr lang="hu-HU" sz="1400" dirty="0">
              <a:latin typeface="CMU Typewriter Text" panose="02000609000000000000" pitchFamily="50" charset="0"/>
              <a:ea typeface="CMU Typewriter Text" panose="02000609000000000000" pitchFamily="50" charset="0"/>
              <a:cs typeface="CMU Typewriter Text" panose="02000609000000000000" pitchFamily="50" charset="0"/>
            </a:endParaRPr>
          </a:p>
          <a:p>
            <a:r>
              <a:rPr lang="hu-HU" sz="1400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    </a:t>
            </a:r>
            <a:r>
              <a:rPr lang="en-GB" sz="1400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{move,{integer,1},{x,0}}.</a:t>
            </a:r>
            <a:endParaRPr lang="hu-HU" sz="1400" dirty="0">
              <a:latin typeface="CMU Typewriter Text" panose="02000609000000000000" pitchFamily="50" charset="0"/>
              <a:ea typeface="CMU Typewriter Text" panose="02000609000000000000" pitchFamily="50" charset="0"/>
              <a:cs typeface="CMU Typewriter Text" panose="02000609000000000000" pitchFamily="50" charset="0"/>
            </a:endParaRPr>
          </a:p>
          <a:p>
            <a:r>
              <a:rPr lang="hu-HU" sz="1400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    </a:t>
            </a:r>
            <a:r>
              <a:rPr lang="en-GB" sz="1400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return.</a:t>
            </a:r>
            <a:endParaRPr lang="hu-HU" sz="1400" dirty="0">
              <a:latin typeface="CMU Typewriter Text" panose="02000609000000000000" pitchFamily="50" charset="0"/>
              <a:ea typeface="CMU Typewriter Text" panose="02000609000000000000" pitchFamily="50" charset="0"/>
              <a:cs typeface="CMU Typewriter Text" panose="02000609000000000000" pitchFamily="50" charset="0"/>
            </a:endParaRPr>
          </a:p>
          <a:p>
            <a:r>
              <a:rPr lang="hu-HU" sz="1400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  </a:t>
            </a:r>
            <a:r>
              <a:rPr lang="en-GB" sz="1400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{label,3}.</a:t>
            </a:r>
            <a:endParaRPr lang="hu-HU" sz="1400" dirty="0">
              <a:latin typeface="CMU Typewriter Text" panose="02000609000000000000" pitchFamily="50" charset="0"/>
              <a:ea typeface="CMU Typewriter Text" panose="02000609000000000000" pitchFamily="50" charset="0"/>
              <a:cs typeface="CMU Typewriter Text" panose="02000609000000000000" pitchFamily="50" charset="0"/>
            </a:endParaRPr>
          </a:p>
          <a:p>
            <a:r>
              <a:rPr lang="hu-HU" sz="1400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    </a:t>
            </a:r>
            <a:r>
              <a:rPr lang="en-GB" sz="1400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{line,[{location,"m.erl",5}]}.</a:t>
            </a:r>
            <a:endParaRPr lang="hu-HU" sz="1400" dirty="0">
              <a:latin typeface="CMU Typewriter Text" panose="02000609000000000000" pitchFamily="50" charset="0"/>
              <a:ea typeface="CMU Typewriter Text" panose="02000609000000000000" pitchFamily="50" charset="0"/>
              <a:cs typeface="CMU Typewriter Text" panose="02000609000000000000" pitchFamily="50" charset="0"/>
            </a:endParaRPr>
          </a:p>
          <a:p>
            <a:r>
              <a:rPr lang="hu-HU" sz="1400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    </a:t>
            </a:r>
            <a:r>
              <a:rPr lang="en-GB" sz="1400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{</a:t>
            </a:r>
            <a:r>
              <a:rPr lang="en-GB" sz="1400" dirty="0" err="1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gc_bif</a:t>
            </a:r>
            <a:r>
              <a:rPr lang="en-GB" sz="1400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,'-',{f,0},1,[{x,0},</a:t>
            </a:r>
            <a:endParaRPr lang="hu-HU" sz="1400" dirty="0">
              <a:latin typeface="CMU Typewriter Text" panose="02000609000000000000" pitchFamily="50" charset="0"/>
              <a:ea typeface="CMU Typewriter Text" panose="02000609000000000000" pitchFamily="50" charset="0"/>
              <a:cs typeface="CMU Typewriter Text" panose="02000609000000000000" pitchFamily="50" charset="0"/>
            </a:endParaRPr>
          </a:p>
          <a:p>
            <a:r>
              <a:rPr lang="hu-HU" sz="1400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      </a:t>
            </a:r>
            <a:r>
              <a:rPr lang="en-GB" sz="1400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{integer,1}],{x,1}}.</a:t>
            </a:r>
            <a:endParaRPr lang="hu-HU" sz="1400" dirty="0">
              <a:latin typeface="CMU Typewriter Text" panose="02000609000000000000" pitchFamily="50" charset="0"/>
              <a:ea typeface="CMU Typewriter Text" panose="02000609000000000000" pitchFamily="50" charset="0"/>
              <a:cs typeface="CMU Typewriter Text" panose="02000609000000000000" pitchFamily="50" charset="0"/>
            </a:endParaRPr>
          </a:p>
          <a:p>
            <a:r>
              <a:rPr lang="hu-HU" sz="1400" dirty="0">
                <a:latin typeface="CMU Typewriter Text" panose="02000609000000000000" pitchFamily="50" charset="0"/>
                <a:ea typeface="CMU Typewriter Text" panose="02000609000000000000" pitchFamily="50" charset="0"/>
                <a:cs typeface="CMU Typewriter Text" panose="02000609000000000000" pitchFamily="50" charset="0"/>
              </a:rPr>
              <a:t>...</a:t>
            </a:r>
            <a:endParaRPr lang="en-GB" sz="1400" dirty="0">
              <a:latin typeface="CMU Typewriter Text" panose="02000609000000000000" pitchFamily="50" charset="0"/>
              <a:ea typeface="CMU Typewriter Text" panose="02000609000000000000" pitchFamily="50" charset="0"/>
              <a:cs typeface="CMU Typewriter Text" panose="02000609000000000000" pitchFamily="50" charset="0"/>
            </a:endParaRPr>
          </a:p>
        </p:txBody>
      </p:sp>
      <p:cxnSp>
        <p:nvCxnSpPr>
          <p:cNvPr id="12" name="Egyenes összekötő nyíllal 11">
            <a:extLst>
              <a:ext uri="{FF2B5EF4-FFF2-40B4-BE49-F238E27FC236}">
                <a16:creationId xmlns:a16="http://schemas.microsoft.com/office/drawing/2014/main" id="{F92BFB21-7FB1-3F94-111F-F9D4495B8CE8}"/>
              </a:ext>
            </a:extLst>
          </p:cNvPr>
          <p:cNvCxnSpPr>
            <a:stCxn id="4" idx="3"/>
            <a:endCxn id="7" idx="1"/>
          </p:cNvCxnSpPr>
          <p:nvPr/>
        </p:nvCxnSpPr>
        <p:spPr>
          <a:xfrm>
            <a:off x="2941320" y="2985636"/>
            <a:ext cx="32721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Egyenes összekötő nyíllal 12">
            <a:extLst>
              <a:ext uri="{FF2B5EF4-FFF2-40B4-BE49-F238E27FC236}">
                <a16:creationId xmlns:a16="http://schemas.microsoft.com/office/drawing/2014/main" id="{C732F4CF-77DB-D87B-382C-F77FBE3818B4}"/>
              </a:ext>
            </a:extLst>
          </p:cNvPr>
          <p:cNvCxnSpPr>
            <a:cxnSpLocks/>
            <a:stCxn id="7" idx="3"/>
            <a:endCxn id="10" idx="1"/>
          </p:cNvCxnSpPr>
          <p:nvPr/>
        </p:nvCxnSpPr>
        <p:spPr>
          <a:xfrm>
            <a:off x="7417628" y="2985636"/>
            <a:ext cx="32721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Szövegdoboz 19">
            <a:extLst>
              <a:ext uri="{FF2B5EF4-FFF2-40B4-BE49-F238E27FC236}">
                <a16:creationId xmlns:a16="http://schemas.microsoft.com/office/drawing/2014/main" id="{8A40CA6E-9FF1-51AD-E528-0FA5454ED7C4}"/>
              </a:ext>
            </a:extLst>
          </p:cNvPr>
          <p:cNvSpPr txBox="1"/>
          <p:nvPr/>
        </p:nvSpPr>
        <p:spPr>
          <a:xfrm>
            <a:off x="2962044" y="2624562"/>
            <a:ext cx="292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>
                <a:latin typeface="Ubuntu" panose="020B0504030602030204" pitchFamily="34" charset="0"/>
              </a:rPr>
              <a:t>c</a:t>
            </a:r>
            <a:endParaRPr lang="en-GB" dirty="0">
              <a:latin typeface="Ubuntu" panose="020B0504030602030204" pitchFamily="34" charset="0"/>
            </a:endParaRPr>
          </a:p>
        </p:txBody>
      </p:sp>
      <p:sp>
        <p:nvSpPr>
          <p:cNvPr id="22" name="Szövegdoboz 21">
            <a:extLst>
              <a:ext uri="{FF2B5EF4-FFF2-40B4-BE49-F238E27FC236}">
                <a16:creationId xmlns:a16="http://schemas.microsoft.com/office/drawing/2014/main" id="{5472B3C5-3172-E14B-905E-2C9C434A8FBF}"/>
              </a:ext>
            </a:extLst>
          </p:cNvPr>
          <p:cNvSpPr txBox="1"/>
          <p:nvPr/>
        </p:nvSpPr>
        <p:spPr>
          <a:xfrm>
            <a:off x="7452778" y="2616304"/>
            <a:ext cx="292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>
                <a:latin typeface="Ubuntu" panose="020B0504030602030204" pitchFamily="34" charset="0"/>
              </a:rPr>
              <a:t>c</a:t>
            </a:r>
            <a:endParaRPr lang="en-GB" dirty="0">
              <a:latin typeface="Ubuntu" panose="020B05040306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56330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BC0912-3FDC-27AB-7FC2-B53BC03810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zövegdoboz 2">
            <a:extLst>
              <a:ext uri="{FF2B5EF4-FFF2-40B4-BE49-F238E27FC236}">
                <a16:creationId xmlns:a16="http://schemas.microsoft.com/office/drawing/2014/main" id="{151D48FD-11A7-6381-1B04-C379B7AFF3AB}"/>
              </a:ext>
            </a:extLst>
          </p:cNvPr>
          <p:cNvSpPr txBox="1"/>
          <p:nvPr/>
        </p:nvSpPr>
        <p:spPr>
          <a:xfrm>
            <a:off x="838200" y="399495"/>
            <a:ext cx="10515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600" noProof="0" dirty="0" err="1">
                <a:solidFill>
                  <a:srgbClr val="01285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Conclusions</a:t>
            </a:r>
            <a:endParaRPr lang="en-GB" sz="3600" noProof="0" dirty="0">
              <a:solidFill>
                <a:srgbClr val="01285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6" name="Egyenes összekötő 5">
            <a:extLst>
              <a:ext uri="{FF2B5EF4-FFF2-40B4-BE49-F238E27FC236}">
                <a16:creationId xmlns:a16="http://schemas.microsoft.com/office/drawing/2014/main" id="{F2DA33F5-1878-73D9-D216-E67BF4D38542}"/>
              </a:ext>
            </a:extLst>
          </p:cNvPr>
          <p:cNvCxnSpPr/>
          <p:nvPr/>
        </p:nvCxnSpPr>
        <p:spPr>
          <a:xfrm>
            <a:off x="838200" y="1145220"/>
            <a:ext cx="10676138" cy="0"/>
          </a:xfrm>
          <a:prstGeom prst="line">
            <a:avLst/>
          </a:prstGeom>
          <a:ln>
            <a:solidFill>
              <a:srgbClr val="0128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Google Shape;855;p110">
            <a:extLst>
              <a:ext uri="{FF2B5EF4-FFF2-40B4-BE49-F238E27FC236}">
                <a16:creationId xmlns:a16="http://schemas.microsoft.com/office/drawing/2014/main" id="{8297789B-68B6-86A2-C192-786FD2001831}"/>
              </a:ext>
            </a:extLst>
          </p:cNvPr>
          <p:cNvSpPr/>
          <p:nvPr/>
        </p:nvSpPr>
        <p:spPr>
          <a:xfrm>
            <a:off x="1762950" y="1969631"/>
            <a:ext cx="8666100" cy="641700"/>
          </a:xfrm>
          <a:prstGeom prst="roundRect">
            <a:avLst>
              <a:gd name="adj" fmla="val 16667"/>
            </a:avLst>
          </a:prstGeom>
          <a:solidFill>
            <a:srgbClr val="70157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 sz="1800" b="1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We have an open source formal semantics of Core Erlang in a proof assistant</a:t>
            </a:r>
            <a:endParaRPr sz="1800" b="1">
              <a:solidFill>
                <a:schemeClr val="lt1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4" name="Google Shape;856;p110">
            <a:extLst>
              <a:ext uri="{FF2B5EF4-FFF2-40B4-BE49-F238E27FC236}">
                <a16:creationId xmlns:a16="http://schemas.microsoft.com/office/drawing/2014/main" id="{558E540D-B2A1-AFD2-CCE8-ACD1B19F14F2}"/>
              </a:ext>
            </a:extLst>
          </p:cNvPr>
          <p:cNvSpPr/>
          <p:nvPr/>
        </p:nvSpPr>
        <p:spPr>
          <a:xfrm>
            <a:off x="1762950" y="2728531"/>
            <a:ext cx="8666100" cy="641700"/>
          </a:xfrm>
          <a:prstGeom prst="roundRect">
            <a:avLst>
              <a:gd name="adj" fmla="val 16667"/>
            </a:avLst>
          </a:prstGeom>
          <a:solidFill>
            <a:srgbClr val="29325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 sz="1800" b="1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Formal semantics is the infrastructure for trustworthy tools</a:t>
            </a:r>
            <a:endParaRPr sz="1800" b="1">
              <a:solidFill>
                <a:schemeClr val="lt1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10" name="Google Shape;857;p110">
            <a:extLst>
              <a:ext uri="{FF2B5EF4-FFF2-40B4-BE49-F238E27FC236}">
                <a16:creationId xmlns:a16="http://schemas.microsoft.com/office/drawing/2014/main" id="{C8765B79-A56B-5200-5A2E-3454B89CDB50}"/>
              </a:ext>
            </a:extLst>
          </p:cNvPr>
          <p:cNvSpPr/>
          <p:nvPr/>
        </p:nvSpPr>
        <p:spPr>
          <a:xfrm>
            <a:off x="1762950" y="3487438"/>
            <a:ext cx="2792100" cy="641700"/>
          </a:xfrm>
          <a:prstGeom prst="roundRect">
            <a:avLst>
              <a:gd name="adj" fmla="val 16667"/>
            </a:avLst>
          </a:prstGeom>
          <a:solidFill>
            <a:srgbClr val="0042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 sz="1800" b="1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Reference interpreter</a:t>
            </a:r>
            <a:endParaRPr sz="1800" b="1">
              <a:solidFill>
                <a:schemeClr val="lt1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44" name="Google Shape;858;p110">
            <a:extLst>
              <a:ext uri="{FF2B5EF4-FFF2-40B4-BE49-F238E27FC236}">
                <a16:creationId xmlns:a16="http://schemas.microsoft.com/office/drawing/2014/main" id="{74D9B18C-1961-C17E-6DB0-64463C002EBD}"/>
              </a:ext>
            </a:extLst>
          </p:cNvPr>
          <p:cNvSpPr/>
          <p:nvPr/>
        </p:nvSpPr>
        <p:spPr>
          <a:xfrm>
            <a:off x="4699975" y="3487438"/>
            <a:ext cx="2792100" cy="641700"/>
          </a:xfrm>
          <a:prstGeom prst="roundRect">
            <a:avLst>
              <a:gd name="adj" fmla="val 16667"/>
            </a:avLst>
          </a:prstGeom>
          <a:solidFill>
            <a:srgbClr val="0042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 sz="1800" b="1" dirty="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Static analysis</a:t>
            </a:r>
            <a:endParaRPr sz="1800" b="1" dirty="0">
              <a:solidFill>
                <a:schemeClr val="lt1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45" name="Google Shape;859;p110">
            <a:extLst>
              <a:ext uri="{FF2B5EF4-FFF2-40B4-BE49-F238E27FC236}">
                <a16:creationId xmlns:a16="http://schemas.microsoft.com/office/drawing/2014/main" id="{39EA04A5-CB14-1FCC-C87D-0F01C74DF635}"/>
              </a:ext>
            </a:extLst>
          </p:cNvPr>
          <p:cNvSpPr/>
          <p:nvPr/>
        </p:nvSpPr>
        <p:spPr>
          <a:xfrm>
            <a:off x="7637000" y="3487438"/>
            <a:ext cx="2792100" cy="641700"/>
          </a:xfrm>
          <a:prstGeom prst="roundRect">
            <a:avLst>
              <a:gd name="adj" fmla="val 16667"/>
            </a:avLst>
          </a:prstGeom>
          <a:solidFill>
            <a:srgbClr val="0042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 sz="1800" b="1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Equivalence verification</a:t>
            </a:r>
            <a:endParaRPr sz="1800" b="1">
              <a:solidFill>
                <a:schemeClr val="lt1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46" name="Google Shape;860;p110">
            <a:extLst>
              <a:ext uri="{FF2B5EF4-FFF2-40B4-BE49-F238E27FC236}">
                <a16:creationId xmlns:a16="http://schemas.microsoft.com/office/drawing/2014/main" id="{7CED62D1-7D7E-ABF3-0D87-0ACFAA52FBA4}"/>
              </a:ext>
            </a:extLst>
          </p:cNvPr>
          <p:cNvSpPr/>
          <p:nvPr/>
        </p:nvSpPr>
        <p:spPr>
          <a:xfrm>
            <a:off x="1762950" y="4279259"/>
            <a:ext cx="8666100" cy="6417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dash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 sz="1800">
                <a:solidFill>
                  <a:schemeClr val="dk2"/>
                </a:solidFill>
                <a:latin typeface="Ubuntu Light"/>
                <a:ea typeface="Ubuntu Light"/>
                <a:cs typeface="Ubuntu Light"/>
                <a:sym typeface="Ubuntu Light"/>
              </a:rPr>
              <a:t>Further proven-correct refactorings and optimisations</a:t>
            </a:r>
            <a:endParaRPr sz="1800">
              <a:solidFill>
                <a:schemeClr val="dk2"/>
              </a:solidFill>
              <a:latin typeface="Ubuntu Light"/>
              <a:ea typeface="Ubuntu Light"/>
              <a:cs typeface="Ubuntu Light"/>
              <a:sym typeface="Ubuntu Light"/>
            </a:endParaRPr>
          </a:p>
        </p:txBody>
      </p:sp>
      <p:sp>
        <p:nvSpPr>
          <p:cNvPr id="47" name="Google Shape;861;p110">
            <a:extLst>
              <a:ext uri="{FF2B5EF4-FFF2-40B4-BE49-F238E27FC236}">
                <a16:creationId xmlns:a16="http://schemas.microsoft.com/office/drawing/2014/main" id="{7869F45D-592F-5807-8F6D-E31DAAF059FD}"/>
              </a:ext>
            </a:extLst>
          </p:cNvPr>
          <p:cNvSpPr/>
          <p:nvPr/>
        </p:nvSpPr>
        <p:spPr>
          <a:xfrm>
            <a:off x="1762950" y="5071081"/>
            <a:ext cx="8666100" cy="641700"/>
          </a:xfrm>
          <a:prstGeom prst="roundRect">
            <a:avLst>
              <a:gd name="adj" fmla="val 16667"/>
            </a:avLst>
          </a:prstGeom>
          <a:solidFill>
            <a:schemeClr val="accent6">
              <a:lumMod val="50000"/>
            </a:schemeClr>
          </a:solidFill>
          <a:ln w="9525" cap="flat" cmpd="sng">
            <a:solidFill>
              <a:schemeClr val="dk2"/>
            </a:solidFill>
            <a:prstDash val="dash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 sz="1800">
                <a:solidFill>
                  <a:schemeClr val="bg1"/>
                </a:solidFill>
                <a:latin typeface="Ubuntu Light"/>
                <a:ea typeface="Ubuntu Light"/>
                <a:cs typeface="Ubuntu Light"/>
                <a:sym typeface="Ubuntu Light"/>
              </a:rPr>
              <a:t>A verified compiler for Erlang</a:t>
            </a:r>
            <a:endParaRPr sz="1800">
              <a:solidFill>
                <a:schemeClr val="bg1"/>
              </a:solidFill>
              <a:latin typeface="Ubuntu Light"/>
              <a:ea typeface="Ubuntu Light"/>
              <a:cs typeface="Ubuntu Light"/>
              <a:sym typeface="Ubuntu Light"/>
            </a:endParaRPr>
          </a:p>
        </p:txBody>
      </p:sp>
    </p:spTree>
    <p:extLst>
      <p:ext uri="{BB962C8B-B14F-4D97-AF65-F5344CB8AC3E}">
        <p14:creationId xmlns:p14="http://schemas.microsoft.com/office/powerpoint/2010/main" val="327160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3">
            <a:extLst>
              <a:ext uri="{FF2B5EF4-FFF2-40B4-BE49-F238E27FC236}">
                <a16:creationId xmlns:a16="http://schemas.microsoft.com/office/drawing/2014/main" id="{B382CA10-9764-4404-6217-AEF6C82403D1}"/>
              </a:ext>
            </a:extLst>
          </p:cNvPr>
          <p:cNvSpPr txBox="1">
            <a:spLocks/>
          </p:cNvSpPr>
          <p:nvPr/>
        </p:nvSpPr>
        <p:spPr>
          <a:xfrm>
            <a:off x="1430927" y="374217"/>
            <a:ext cx="9144000" cy="8197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noProof="0" dirty="0">
                <a:solidFill>
                  <a:srgbClr val="01285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Thank you for your attention!</a:t>
            </a:r>
          </a:p>
        </p:txBody>
      </p:sp>
      <p:sp>
        <p:nvSpPr>
          <p:cNvPr id="25" name="Szövegdoboz 24">
            <a:extLst>
              <a:ext uri="{FF2B5EF4-FFF2-40B4-BE49-F238E27FC236}">
                <a16:creationId xmlns:a16="http://schemas.microsoft.com/office/drawing/2014/main" id="{4FFD443F-B325-FD0E-65B7-302F96741FA5}"/>
              </a:ext>
            </a:extLst>
          </p:cNvPr>
          <p:cNvSpPr txBox="1"/>
          <p:nvPr/>
        </p:nvSpPr>
        <p:spPr>
          <a:xfrm>
            <a:off x="1523999" y="1327755"/>
            <a:ext cx="91440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noProof="0" dirty="0">
                <a:solidFill>
                  <a:srgbClr val="012851"/>
                </a:solidFill>
              </a:rPr>
              <a:t>Contact</a:t>
            </a:r>
          </a:p>
          <a:p>
            <a:pPr algn="ctr"/>
            <a:r>
              <a:rPr lang="en-GB" sz="2800" i="1" noProof="0" dirty="0">
                <a:solidFill>
                  <a:srgbClr val="012851"/>
                </a:solidFill>
              </a:rPr>
              <a:t>berpeti@inf.elte.hu</a:t>
            </a:r>
            <a:br>
              <a:rPr lang="en-GB" sz="2800" i="1" noProof="0" dirty="0">
                <a:solidFill>
                  <a:srgbClr val="012851"/>
                </a:solidFill>
              </a:rPr>
            </a:br>
            <a:r>
              <a:rPr lang="hu-HU" sz="2800" i="1" noProof="0" dirty="0">
                <a:solidFill>
                  <a:srgbClr val="012851"/>
                </a:solidFill>
              </a:rPr>
              <a:t>harp-project.github.io</a:t>
            </a:r>
            <a:endParaRPr lang="en-GB" sz="2800" i="1" noProof="0" dirty="0">
              <a:solidFill>
                <a:srgbClr val="012851"/>
              </a:solidFill>
            </a:endParaRPr>
          </a:p>
        </p:txBody>
      </p:sp>
      <p:cxnSp>
        <p:nvCxnSpPr>
          <p:cNvPr id="26" name="Egyenes összekötő 25">
            <a:extLst>
              <a:ext uri="{FF2B5EF4-FFF2-40B4-BE49-F238E27FC236}">
                <a16:creationId xmlns:a16="http://schemas.microsoft.com/office/drawing/2014/main" id="{3933D66A-59CB-E3DA-57F0-684A97024A15}"/>
              </a:ext>
            </a:extLst>
          </p:cNvPr>
          <p:cNvCxnSpPr/>
          <p:nvPr/>
        </p:nvCxnSpPr>
        <p:spPr>
          <a:xfrm flipV="1">
            <a:off x="1524000" y="1166163"/>
            <a:ext cx="8957854" cy="62144"/>
          </a:xfrm>
          <a:prstGeom prst="line">
            <a:avLst/>
          </a:prstGeom>
          <a:ln>
            <a:solidFill>
              <a:srgbClr val="0027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Kép 9" descr="A képen szöveg látható&#10;&#10;Automatikusan generált leírás">
            <a:extLst>
              <a:ext uri="{FF2B5EF4-FFF2-40B4-BE49-F238E27FC236}">
                <a16:creationId xmlns:a16="http://schemas.microsoft.com/office/drawing/2014/main" id="{6493D314-F30A-970E-12A3-CE49E57A1C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6767" y="5917382"/>
            <a:ext cx="1036320" cy="772226"/>
          </a:xfrm>
          <a:prstGeom prst="rect">
            <a:avLst/>
          </a:prstGeom>
        </p:spPr>
      </p:pic>
      <p:pic>
        <p:nvPicPr>
          <p:cNvPr id="12" name="Kép 11" descr="A képen szöveg látható&#10;&#10;Automatikusan generált leírás">
            <a:extLst>
              <a:ext uri="{FF2B5EF4-FFF2-40B4-BE49-F238E27FC236}">
                <a16:creationId xmlns:a16="http://schemas.microsoft.com/office/drawing/2014/main" id="{B51CFEDB-AA89-B933-B444-C450D17919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0666" y="5943169"/>
            <a:ext cx="688521" cy="720652"/>
          </a:xfrm>
          <a:prstGeom prst="rect">
            <a:avLst/>
          </a:prstGeom>
        </p:spPr>
      </p:pic>
      <p:pic>
        <p:nvPicPr>
          <p:cNvPr id="14" name="Kép 13" descr="A képen szöveg, Betűtípus, embléma, Grafika látható&#10;&#10;Automatikusan generált leírás">
            <a:extLst>
              <a:ext uri="{FF2B5EF4-FFF2-40B4-BE49-F238E27FC236}">
                <a16:creationId xmlns:a16="http://schemas.microsoft.com/office/drawing/2014/main" id="{61FBFA23-B0E5-685A-E0A5-4333494365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340" y="5943169"/>
            <a:ext cx="1607127" cy="692993"/>
          </a:xfrm>
          <a:prstGeom prst="rect">
            <a:avLst/>
          </a:prstGeom>
        </p:spPr>
      </p:pic>
      <p:pic>
        <p:nvPicPr>
          <p:cNvPr id="18" name="Kép 17">
            <a:extLst>
              <a:ext uri="{FF2B5EF4-FFF2-40B4-BE49-F238E27FC236}">
                <a16:creationId xmlns:a16="http://schemas.microsoft.com/office/drawing/2014/main" id="{D551211D-8224-B78A-9EA6-FF35A17E1D5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7249" y="2957041"/>
            <a:ext cx="2857500" cy="2857500"/>
          </a:xfrm>
          <a:prstGeom prst="rect">
            <a:avLst/>
          </a:prstGeom>
        </p:spPr>
      </p:pic>
      <p:sp>
        <p:nvSpPr>
          <p:cNvPr id="4" name="Szövegdoboz 3">
            <a:extLst>
              <a:ext uri="{FF2B5EF4-FFF2-40B4-BE49-F238E27FC236}">
                <a16:creationId xmlns:a16="http://schemas.microsoft.com/office/drawing/2014/main" id="{9AB3FB80-E8EF-09C4-A2CD-5B8FFC4D9CC9}"/>
              </a:ext>
            </a:extLst>
          </p:cNvPr>
          <p:cNvSpPr txBox="1"/>
          <p:nvPr/>
        </p:nvSpPr>
        <p:spPr>
          <a:xfrm>
            <a:off x="2058913" y="6058832"/>
            <a:ext cx="80741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1200" dirty="0">
                <a:solidFill>
                  <a:srgbClr val="01285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Supported by the New National Excellence Program of the Ministry for Culture and Innovation from the source of the National Research, Development and Innovation Fund</a:t>
            </a:r>
            <a:r>
              <a:rPr lang="hu-HU" sz="1200" dirty="0">
                <a:solidFill>
                  <a:srgbClr val="01285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(</a:t>
            </a:r>
            <a:r>
              <a:rPr lang="en-GB" sz="1200" dirty="0">
                <a:solidFill>
                  <a:srgbClr val="01285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ÚNKP-2</a:t>
            </a:r>
            <a:r>
              <a:rPr lang="hu-HU" sz="1200" dirty="0">
                <a:solidFill>
                  <a:srgbClr val="01285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</a:t>
            </a:r>
            <a:r>
              <a:rPr lang="en-GB" sz="1200" dirty="0">
                <a:solidFill>
                  <a:srgbClr val="01285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-3</a:t>
            </a:r>
            <a:r>
              <a:rPr lang="hu-HU" sz="1200" dirty="0">
                <a:solidFill>
                  <a:srgbClr val="01285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en-GB" sz="1200" dirty="0">
                <a:solidFill>
                  <a:srgbClr val="01285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ÚNKP-22-3</a:t>
            </a:r>
            <a:r>
              <a:rPr lang="hu-HU" sz="1200" dirty="0">
                <a:solidFill>
                  <a:srgbClr val="01285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en-GB" sz="1200" dirty="0">
                <a:solidFill>
                  <a:srgbClr val="01285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ÚNKP-2</a:t>
            </a:r>
            <a:r>
              <a:rPr lang="hu-HU" sz="1200" dirty="0">
                <a:solidFill>
                  <a:srgbClr val="01285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3</a:t>
            </a:r>
            <a:r>
              <a:rPr lang="en-GB" sz="1200" dirty="0">
                <a:solidFill>
                  <a:srgbClr val="01285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-3</a:t>
            </a:r>
            <a:r>
              <a:rPr lang="hu-HU" sz="1200" dirty="0">
                <a:solidFill>
                  <a:srgbClr val="01285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EKÖP-26-4)</a:t>
            </a:r>
            <a:r>
              <a:rPr lang="en-GB" sz="1200" dirty="0">
                <a:solidFill>
                  <a:srgbClr val="01285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30515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412</TotalTime>
  <Words>1553</Words>
  <Application>Microsoft Office PowerPoint</Application>
  <PresentationFormat>Szélesvásznú</PresentationFormat>
  <Paragraphs>343</Paragraphs>
  <Slides>38</Slides>
  <Notes>4</Notes>
  <HiddenSlides>6</HiddenSlides>
  <MMClips>0</MMClips>
  <ScaleCrop>false</ScaleCrop>
  <HeadingPairs>
    <vt:vector size="6" baseType="variant">
      <vt:variant>
        <vt:lpstr>Használt betűtípusok</vt:lpstr>
      </vt:variant>
      <vt:variant>
        <vt:i4>10</vt:i4>
      </vt:variant>
      <vt:variant>
        <vt:lpstr>Téma</vt:lpstr>
      </vt:variant>
      <vt:variant>
        <vt:i4>2</vt:i4>
      </vt:variant>
      <vt:variant>
        <vt:lpstr>Diacímek</vt:lpstr>
      </vt:variant>
      <vt:variant>
        <vt:i4>38</vt:i4>
      </vt:variant>
    </vt:vector>
  </HeadingPairs>
  <TitlesOfParts>
    <vt:vector size="50" baseType="lpstr">
      <vt:lpstr>Aptos</vt:lpstr>
      <vt:lpstr>Aptos Display</vt:lpstr>
      <vt:lpstr>Arial</vt:lpstr>
      <vt:lpstr>Calibri</vt:lpstr>
      <vt:lpstr>Calibri Light</vt:lpstr>
      <vt:lpstr>Cambria Math</vt:lpstr>
      <vt:lpstr>CMU Typewriter Text</vt:lpstr>
      <vt:lpstr>Open Sans</vt:lpstr>
      <vt:lpstr>Ubuntu</vt:lpstr>
      <vt:lpstr>Ubuntu Light</vt:lpstr>
      <vt:lpstr>Office-téma</vt:lpstr>
      <vt:lpstr>1_Office-téma</vt:lpstr>
      <vt:lpstr>A proof assistant-based formalisation of Core Erlang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Péter Bereczky</dc:creator>
  <cp:lastModifiedBy>Bereczky Péter</cp:lastModifiedBy>
  <cp:revision>34</cp:revision>
  <dcterms:created xsi:type="dcterms:W3CDTF">2026-09-14T07:09:12Z</dcterms:created>
  <dcterms:modified xsi:type="dcterms:W3CDTF">2026-09-21T13:02:29Z</dcterms:modified>
</cp:coreProperties>
</file>